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Framing</a:t>
            </a:r>
          </a:p>
          <a:p>
            <a:r>
              <a:rPr b="0" sz="1100">
                <a:latin typeface="Geist"/>
              </a:rPr>
              <a:t>Opening section: the one-slide thesis and the regulate/build/deploy lens.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Three governing systems for AI</a:t>
            </a:r>
          </a:p>
          <a:p>
            <a:r>
              <a:rPr b="0" sz="1100">
                <a:latin typeface="Geist"/>
              </a:rPr>
              <a:t>Three governing systems
What this shows: a one-glance comparison of the three regions' AI 'governing systems'. What to say: the core thesis. The US, Europe, and China are not at different points on one road; they run fundamentally different systems. The US is market-led (light federal rules, deepest private capital, closed frontier labs). Europe is comprehensive-regulatory (one big horizontal law, the AI Act, now softening, plus sovereignty money but little frontier building). China is state-driven (iterative ministry rules, heavy industrial policy, open-weight models, population-scale deployment). Transition: the cleanest lens for the rest of the talk is three verbs.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Regulate, build, deploy</a:t>
            </a:r>
          </a:p>
          <a:p>
            <a:r>
              <a:rPr b="0" sz="1100">
                <a:latin typeface="Geist"/>
              </a:rPr>
              <a:t>What this shows: a 3x3 scorecard, regions across the top, the three verbs down the side. What to say: almost no region does all three well. The US builds the frontier but regulates lightly and late. Europe regulates hardest and first but barely builds (its one real asset is ASML). China is the deployment champion at population scale and a fast-closing builder, governed by iterative state rules. The point to land: 'winning AI' is not one race, it is three, and each region is winning a different one. Transition: let us take them scope by scope, starting with the rules.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What leaders predicted, and what’s different now</a:t>
            </a:r>
          </a:p>
          <a:p>
            <a:r>
              <a:rPr b="0" sz="1100">
                <a:latin typeface="Geist"/>
              </a:rPr>
              <a:t>Predictions vs now
Framing slide that earns the research framing. Three influential thinkers each forecast the AI race. China: Kai-Fu Lee's AI Superpowers (2018), the age of implementation, where execution and data decide the winner, favoring China. US: Eric Schmidt, co-author of The Age of AI and chair of the National Security Commission on AI, framed it as a national-security race the US must win. Europe: Mario Draghi's 2024 competitiveness report, Europe regulates but does not build. What's different now (purple band): the 2025 open-weight surge surprised everyone, a Chinese OPEN model reset the frontier while US labs re-closed. Lee's implementation thesis largely held; the ROI gap shows capability is not yet value. Transition: take the scopes one by one, starting with policy.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Policy &amp; regulation</a:t>
            </a:r>
          </a:p>
          <a:p>
            <a:r>
              <a:rPr b="0" sz="1100">
                <a:latin typeface="Geist"/>
              </a:rPr>
              <a:t>Transition: how each region writes the 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United States: executive whiplash plus a state patchwork</a:t>
            </a:r>
          </a:p>
          <a:p>
            <a:r>
              <a:rPr b="0" sz="1100">
                <a:latin typeface="Geist"/>
              </a:rPr>
              <a:t>US policy
What to say: US federal AI policy reversed on day one of the Trump term. The Biden executive order was rescinded; the July 2025 AI Action Plan is explicitly deregulatory (win the race). With no federal framework, states wrote their own (Colorado, Texas, California, New York), creating a patchwork. The Senate killed a proposed 10-year moratorium on state laws 99 to 1, and a December 2025 executive order now tries to preempt those state laws through the courts. The newest, a June 2026 order, asks labs to voluntarily give the government up to 30 days of pre-release access to NSA-designated frontier models and sets up a Treasury cyber clearinghouse, but bars any mandatory licensing, so even the frontier-safety touch is voluntary and security-framed, not regulatory and not clinical. Net: light federal touch, thickening state rules, unresolved fight over who is in charge. Transition: contrast that with Europe, which did the opposite.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European Union: the AI Act, now softening</a:t>
            </a:r>
          </a:p>
          <a:p>
            <a:r>
              <a:rPr b="0" sz="1100">
                <a:latin typeface="Geist"/>
              </a:rPr>
              <a:t>EU policy
What to say: Europe took the opposite bet, the world's most comprehensive horizontal AI law. It entered force in 2024 and phases in through 2027, with serious penalties (up to 7 percent of global turnover). But in late 2025, under a competitiveness panic crystallized by the Draghi report, Brussels began walking it back, the Digital Omnibus delays the high-risk rules and the AI liability directive was scrapped. The hard truth: only 11 percent of EU firms use AI and almost three-quarters of foundation models are American. Europe is pouring sovereignty money in (InvestAI 200B euros), but it regulates far better than it builds. Transition: China is a third species entirely.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China: vertical rules and alignment to state values</a:t>
            </a:r>
          </a:p>
          <a:p>
            <a:r>
              <a:rPr b="0" sz="1100">
                <a:latin typeface="Geist"/>
              </a:rPr>
              <a:t>China policy
What to say: China governs AI with neither the US's light touch nor the EU's omnibus, but a stack of vertical, fast-iterating ministry rules. Public-facing GenAI must be filed with regulators (748 services by end-2025); since September 2025 all AI content must be labeled, visibly and in metadata. Distinctively, models must align to core socialist values, an alignment-to-the-state regime quite unlike Western safety rules. And China is going on the offensive internationally, proposing its own global AI governance body to court the Global South. Transition: so the three philosophies,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Asia’s regulatory split</a:t>
            </a:r>
          </a:p>
          <a:p>
            <a:r>
              <a:rPr b="0" sz="1100">
                <a:latin typeface="Geist"/>
              </a:rPr>
              <a:t>Asia's regulatory split
What to say: this is the slide that breaks the lazy habit of treating Asia as one bloc. It is five different regimes. China is state-vertical (iterative rules, content labeling, state-values alignment). South Korea just became the second jurisdiction after the EU with a comprehensive AI law, but it is far lighter, fines top out around 21 thousand dollars. Japan went the opposite way, an innovation-first law with literally no penalties. India and Singapore are light-touch, India adapts existing statutes rather than passing a new law, Singapore leans on voluntary frameworks plus its AI Verify testing toolkit. So Asia spans the entire regulatory spectrum, from the most statist to among the most permissive. Transition: but where Asia is genuinely unified and dominant is hardware.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Regulatory philosophy, side by side</a:t>
            </a:r>
          </a:p>
          <a:p>
            <a:r>
              <a:rPr b="0" sz="1100">
                <a:latin typeface="Geist"/>
              </a:rPr>
              <a:t>Regulatory philosophy
What to say: three genuinely different species of regulation, not points on one line. Light-touch (US, UK, Japan, India): innovation first, rules follow harm. Comprehensive (EU and now South Korea): one horizontal risk-tiered law applied up front, the heaviest compliance load. State-vertical (China): iterative sector rules fused with industrial policy and state-values alignment. The purple band makes the point that Asia is not monolithic, Japan and India went light-touch, South Korea went full EU-style. Transition: rules are one thing, but the hard physical fight is over chips.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Geopolitics &amp; compute</a:t>
            </a:r>
          </a:p>
          <a:p>
            <a:r>
              <a:rPr b="0" sz="1100">
                <a:latin typeface="Geist"/>
              </a:rPr>
              <a:t>Transition: the chip war and the physical constraints, compute and energy.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chip war, 2022 to 2026</a:t>
            </a:r>
          </a:p>
          <a:p>
            <a:r>
              <a:rPr b="0" sz="1100">
                <a:latin typeface="Geist"/>
              </a:rPr>
              <a:t>Chip war timeline
How to read it: a left-to-right timeline of US export controls and NVIDIA-China events. What to say: from October 2022 the US progressively tightened controls on advanced chips and tools, closing loopholes (the A800/H800 trick) and adding memory and entities. The January 2025 AI Diffusion Rule created a three-tier country system, then the new administration rescinded it in May 2025. The H20 chip was banned in April 2025, then allowed back in July under an unprecedented deal giving the US government 15 percent of the China revenue. By 2026 H200 sales are case-by-case with a 25 percent tariff, and China responded by banning NVIDIA's workaround card and pushing its own silicon. Transition: that pivot to domestic chips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NVIDIA saga and China’s domestic stack</a:t>
            </a:r>
          </a:p>
          <a:p>
            <a:r>
              <a:rPr b="0" sz="1100">
                <a:latin typeface="Geist"/>
              </a:rPr>
              <a:t>NVIDIA saga + domestic stack
What to say: the left panel is the US-NVIDIA story, an on-again-off-again ban on the China-specific H20, ending in a remarkable arrangement where Washington takes a 15 percent cut of NVIDIA's China sales, and now case-by-case H200 with a 25 percent tariff. The right panel is the consequence: China doubled down on domestic silicon. Huawei's Ascend is roughly 60 percent of an H100 per chip but ganged into competitive systems; nine domestic chips are now the mandated procurement list; Chinese firms shipped 1.65 million AI GPUs in 2025. The export controls accelerated exactly the self-sufficiency they were meant to prevent. Transition: but the binding constraint may not be chips, it is power.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Scale versus constraint: two paths to better models</a:t>
            </a:r>
          </a:p>
          <a:p>
            <a:r>
              <a:rPr b="0" sz="1100">
                <a:latin typeface="Geist"/>
              </a:rPr>
              <a:t>Scale vs constraint
The most interesting technical point, representing both sides. The US answers the race with scale, Stargate, roughly 700 billion in 2026 hyperscaler capex, nuclear deals, frontier models kept closed. China, capped on advanced chips, is pushed toward method innovation: mixture-of-experts, distillation, DeepSeek's ~6-million-dollar run, cheap inference. Europe's leverage is upstream, ASML's EUV monopoly. The provocative read: the export-control ceiling may be backfiring. Fresh evidence, end of May 2026, Huawei's rotating chairman publicly thanked the US for the controls, saying they supercharged China's chip industry, and Huawei pitched a data-throughput scaling law to route around EUV it cannot buy. Treat the architecture claim as unverified (SCMP asks breakthrough or hype), but the posture, China openly framing the controls as counterproductive, is the point. Transition: who owns the hardware.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Compute and energy: the binding constraints</a:t>
            </a:r>
          </a:p>
          <a:p>
            <a:r>
              <a:rPr b="0" sz="1100">
                <a:latin typeface="Geist"/>
              </a:rPr>
              <a:t>Compute &amp; energy
What to say: each region hits a different wall. The US has the chips and the capital (700B dollars of hyperscaler capex in 2026) but is power-constrained, a 16 GW pipeline with only about 5 GW actually under construction, Microsoft has an 80B dollar Azure backlog it cannot power. China is the mirror image: chip-constrained but energy-rich, projected to sit on roughly 400 GW of spare power by 2030 after adding 430 GW of wind and solar in a single year. Europe's constraint is compute and capital, with one irreplaceable asset, ASML. Cheap, abundant energy may be China's real structural edge. Transition: now to the companies actually building models.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Asia owns the AI hardware</a:t>
            </a:r>
          </a:p>
          <a:p>
            <a:r>
              <a:rPr b="0" sz="1100">
                <a:latin typeface="Geist"/>
              </a:rPr>
              <a:t>Asia owns the hardware
What to say: this is Asia's single biggest structural advantage, and it spans the region, not just China. The physical AI supply chain runs through a Taiwan-Korea spine. TSMC in Taiwan fabricates essentially every leading-edge AI chip, and the real bottleneck, its CoWoS advanced packaging, is &gt;60% booked by NVIDIA alone. South Korea owns the memory, SK Hynix has roughly 62% of the HBM that every AI accelerator needs and is NVIDIA's lead supplier. Foxconn, also Taiwan, assembles more than 40% of the world's AI servers. The callout is the irony: Asia makes the hardware the entire world's AI runs on, yet much of Asia rents its models, Singapore on Alibaba's Qwen, Malaysia on DeepSeek. Sovereignty over silicon, dependence on models. Transition: speaking of models, here is Asia beyond China.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Corporate &amp; models</a:t>
            </a:r>
          </a:p>
          <a:p>
            <a:r>
              <a:rPr b="0" sz="1100">
                <a:latin typeface="Geist"/>
              </a:rPr>
              <a:t>Transition: who actually builds the models in each region.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United States: the closed frontier and a capital arms race</a:t>
            </a:r>
          </a:p>
          <a:p>
            <a:r>
              <a:rPr b="0" sz="1100">
                <a:latin typeface="Geist"/>
              </a:rPr>
              <a:t>US corporate
What to say: the US story is scale of capital and a return to closed models. NVIDIA is the most valuable company on earth at over 5 trillion dollars; OpenAI and Anthropic carry near-trillion-dollar valuations (the Anthropic figure is press-reported, flag that). The strategic shift is the callout: the frontier moved back to closed. After Meta's open Llama 4 underwhelmed and DeepSeek used Meta's own open weights to leapfrog, even Meta pivoted toward proprietary models. US labs keep their best models closed. Transition: Europe could not be more different.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Europe: one chokepoint, a thin application layer</a:t>
            </a:r>
          </a:p>
          <a:p>
            <a:r>
              <a:rPr b="0" sz="1100">
                <a:latin typeface="Geist"/>
              </a:rPr>
              <a:t>Europe corporate
What to say: Europe has exactly one piece of irreplaceable leverage in the entire AI stack, and it is hardware, not software, ASML, the Dutch company with a monopoly on the EUV machines every advanced chip requires. Note ASML even became Mistral's largest shareholder. Beyond ASML, Europe has well-funded champions, Mistral, Helsing, ElevenLabs, but they sit mostly at the application layer; the frontier models and the cloud remain American. Europe builds the machine that makes the chips, but not the chips or the models. Transition: China took the opposite path, open weights at scale.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China: the open-weight surge</a:t>
            </a:r>
          </a:p>
          <a:p>
            <a:r>
              <a:rPr b="0" sz="1100">
                <a:latin typeface="Geist"/>
              </a:rPr>
              <a:t>China open-weight
How to read the chart: Chinese open models went from about 1 percent to over 40 percent of usage on a major model router in roughly a year. What to say: the turning point was the DeepSeek moment in January 2025, a frontier-quality model trained for a tiny reported budget that briefly wiped 600 billion dollars off NVIDIA. China then leaned into open weights across the board, Qwen, Ernie, Kimi, GLM, Doubao, with brutal price wars. The strategic payoff: the Global South is increasingly deploying Chinese open models for AI sovereignty, Singapore and Malaysia among them. Open weights are becoming geopolitical infrastructure. Transition: so who actually uses all this?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Asia beyond China</a:t>
            </a:r>
          </a:p>
          <a:p>
            <a:r>
              <a:rPr b="0" sz="1100">
                <a:latin typeface="Geist"/>
              </a:rPr>
              <a:t>What to say: China is Asia's model heavyweight, but it is not the whole story, and I'm framing each by its distinctive role rather than by spend. India is population-scale: a government-anointed sovereign model effort (Sarvam) and the world's most interesting deployment substrate in UPI and Aadhaar. South Korea is the clinical-AI exporter: national-champion models (Naver, LG's open-weight EXAONE) at home, and Lunit and VUNO selling FDA-cleared clinical AI globally. Japan is innovation-first, a no-penalty AI law, Sakana as its most valuable unicorn, and SoftBank, which owns roughly 11 percent of OpenAI. Southeast Asia is the live battleground, and tellingly its flagship model SEA-LION switched from Meta's Llama to Alibaba's Qwen. Transition: now, who actually uses all of this?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Deployment &amp; adoption</a:t>
            </a:r>
          </a:p>
          <a:p>
            <a:r>
              <a:rPr b="0" sz="1100">
                <a:latin typeface="Geist"/>
              </a:rPr>
              <a:t>Transition: from who builds to who uses, and how.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Who actually uses AI</a:t>
            </a:r>
          </a:p>
          <a:p>
            <a:r>
              <a:rPr b="0" sz="1100">
                <a:latin typeface="Geist"/>
              </a:rPr>
              <a:t>Who uses AI
How to read it: enterprise AI use by region. What to say: the US and Greater China are essentially tied on enterprise use (high 50s percent in McKinsey's survey), while the EU lags badly, only about 20 percent of EU enterprises formally use AI per Eurostat. Flag the methodology gap honestly (Eurostat formal vs McKinsey broad survey), but the conclusion holds. On the consumer side, ChatGPT has roughly 900 million weekly users globally, while China runs an entirely separate consumer stack, Doubao and DeepSeek, with no meaningful Western presence. And note the sober counterpoint: 88 percent use AI somewhere, but only a third have actually scaled it. Transition: how AI gets deployed differs as much as how much.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How AI gets deployed</a:t>
            </a:r>
          </a:p>
          <a:p>
            <a:r>
              <a:rPr b="0" sz="1100">
                <a:latin typeface="Geist"/>
              </a:rPr>
              <a:t>What to say: the channel differs by region. China deploys through super-apps and the state, AI agents inside WeChat, agentic commerce, hardware-integrated, centralized. The US deploys through the enterprise-SaaS vendor layer, and notably, buying from a specialized vendor works about twice as often as building in-house. Europe's deployment is gated by its own compliance regime, around 60 percent of EU and UK developers report launch delays tied to the AI Act. Same technology, three very different distribution systems. Transition: but does any of it pay off yet?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capability scoreboard and the ROI gap</a:t>
            </a:r>
          </a:p>
          <a:p>
            <a:r>
              <a:rPr b="0" sz="1100">
                <a:latin typeface="Geist"/>
              </a:rPr>
              <a:t>Scoreboard + ROI gap
What to say: on raw capability the US dominates, roughly 83 percent of global private AI investment, and far more notable models than China or Europe, about 50 to China's 30 in 2025. Crucially, the US also holds the absolute frontier: Claude Opus 4.8, GPT-5.5, and Gemini 3.1 lead the top tier, while China's best, like DeepSeek V4, stays within a few percent on the leaderboards and wins on cost, near-frontier quality at roughly a tenth of the price, but does not lead. China's standout metric is patents, nearly 70 percent of granted AI patents. But the bottom band is the reality check, and the most important slide for a deployed-models audience: MIT found that 95 percent of enterprise generative-AI pilots delivered no measurable financial impact, despite tens of billions spent. Capability and capital are not the same thing as realized value, the gap between what is built and what actually works in production is the real story of 2025. Transition: so where does the money and support come from?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Startups &amp; support</a:t>
            </a:r>
          </a:p>
          <a:p>
            <a:r>
              <a:rPr b="0" sz="1100">
                <a:latin typeface="Geist"/>
              </a:rPr>
              <a:t>Transition: capital, regulatory leniency, government support, and talent.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Capital and leniency</a:t>
            </a:r>
          </a:p>
          <a:p>
            <a:r>
              <a:rPr b="0" sz="1100">
                <a:latin typeface="Geist"/>
              </a:rPr>
              <a:t>Capital &amp; leniency
What to say: two forces shape startups, money and rules. On money, the US is overwhelming, AI startups took 222 billion dollars, two-thirds of all US venture capital. China's private VC actually pulled back sharply, but the state stepped in with guidance funds. Europe's problem is structural, plenty of seed but a late-stage capital gap. On leniency, ranked by how fast you can ship: the US and China are most permissive, the UK is the most pro-innovation of the rules-based regimes, and the EU is the most constraining, its own mandated regulatory sandboxes are now delayed to 2027. Transition: governments are also writing checks.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Government support</a:t>
            </a:r>
          </a:p>
          <a:p>
            <a:r>
              <a:rPr b="0" sz="1100">
                <a:latin typeface="Geist"/>
              </a:rPr>
              <a:t>What to say: the spending models differ. The US barely funds AI directly, the headline 500-billion-dollar Stargate is privately financed; Washington's role is permitting and CHIPS-Act chip money. Europe is the opposite, big public ambition, InvestAI at 200 billion euros and France alone pledging 109 billion, the largest single government commitment anywhere. The UK is making a focused sovereign-compute bet. China runs the most systematic state-capital machine on earth, a guidance-fund system of over 2,000 funds worth roughly 900 billion dollars, plus procurement preferences. Transition: the last input is people.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Talent, immigration, and founder-friendliness</a:t>
            </a:r>
          </a:p>
          <a:p>
            <a:r>
              <a:rPr b="0" sz="1100">
                <a:latin typeface="Geist"/>
              </a:rPr>
              <a:t>Talent &amp; founder-friendliness
What to say: the two regions made opposite moves on talent in the same year. The US raised the drawbridge, a 100,000-dollar fee on each H-1B petition, which matters enormously because around 60 percent of top US AI startups had an immigrant founder. China lowered it, the new K-visa is uncapped with no employer sponsor needed, explicitly targeting the STEM and AI talent the US is now taxing. The purple band is the synthesis: the US still wins on capital and market but talent is getting expensive; China offers state capital and deployment speed but a directed, walled market; the EU offers certainty and subsidy but the heaviest compliance; the UK is the most balanced. Transition: now the health thread.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health thread</a:t>
            </a:r>
          </a:p>
          <a:p>
            <a:r>
              <a:rPr b="0" sz="1100">
                <a:latin typeface="Geist"/>
              </a:rPr>
              <a:t>Transition: the same three governing systems applied to clinical AI, for the precision-health audience.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Clinical AI by region</a:t>
            </a:r>
          </a:p>
          <a:p>
            <a:r>
              <a:rPr b="0" sz="1100">
                <a:latin typeface="Geist"/>
              </a:rPr>
              <a:t>How to read it: left bars are cumulative AI device approvals, FDA versus China's NMPA; the pink box is deployment scale. What to say: the US approves by far the most discrete AI medical devices, around 1,451, but three-quarters are narrow radiology tools, reimbursement lags badly, and there is no clear FDA pathway for generative or LLM clinical AI. Europe regulates the hardest, medical AI is automatically high-risk under the AI Act and stacked on top of the existing device law, a double burden, and its health-data space does not fully arrive until 2029. China approves fewer devices but deploys at a scale neither matches, Ant Group's medical app reaches over 100 million users and 5,000 hospitals; some 261 hospitals ran DeepSeek in the first quarter of 2025. Transition: but where in the clinical stack does each region actually put AI?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Same scale, different layer of the stack</a:t>
            </a:r>
          </a:p>
          <a:p>
            <a:r>
              <a:rPr b="0" sz="1100">
                <a:latin typeface="Geist"/>
              </a:rPr>
              <a:t>Same scale, different layer
Curtis's framing, and the sharpest clinical point in the deck. The US and China have both deployed clinical LLMs at massive scale, but in different parts of the stack. China puts them inside the diagnostic core, diagnostic reasoning and the EHR directly, DeepSeek-R1 across 261 hospitals and Ant's AQ reaching 100 million users. The US puts them around the core, in the administrative and ambient layer, ambient scribes like Abridge and Nuance DAX, medical coding, prior authorization, patient messaging, deliberately staying off the diagnostic decision because there is no FDA pathway for generative diagnosis. Europe is the only place to deploy fully autonomous diagnosis, but pragmatically: Oxipit's ChestLink auto-signs off only the NORMAL chest X-rays, the roughly 15 to 40 percent with no finding, and routes every positive to a radiologist, which clears the easy volume while keeping a human on anything that matters. Same scale, three very different bets on where AI sits in the clinical workflow. Transition: the regulate, build, deploy split, in medicine.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regulate, build, deploy split, in medicine</a:t>
            </a:r>
          </a:p>
          <a:p>
            <a:r>
              <a:rPr b="0" sz="1100">
                <a:latin typeface="Geist"/>
              </a:rPr>
              <a:t>Regulate/build/deploy in medicine
What to say: this is the framing slide from the start of the talk, now applied to medicine, and it holds perfectly. The US approves the most clinical-AI tools but is reimbursement-bottlenecked. Europe regulates the hardest, layering the AI Act on top of medical-device law. China deploys at population scale under state coordination. The deep lesson for a precision-health audience: whether clinical AI reaches patients is decided less by the model and more by the institutional governing system around it, regulation, payment, and coordination. Transition: let me pull it all together.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Synthesis</a:t>
            </a:r>
          </a:p>
          <a:p>
            <a:r>
              <a:rPr b="0" sz="1100">
                <a:latin typeface="Geist"/>
              </a:rPr>
              <a:t>Transition: pull every scope into one table and the takeaways.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Beyond the big three</a:t>
            </a:r>
          </a:p>
          <a:p>
            <a:r>
              <a:rPr b="0" sz="1100">
                <a:latin typeface="Geist"/>
              </a:rPr>
              <a:t>What to say: a quick, honest acknowledgment that the world is bigger than three hubs, without pretending the others are co-equal. The Gulf matters for one thing, capital, UAE's Stargate, Saudi's HUMAIN, and MGX writing up-to-500-billion-dollar checks into US infrastructure, abundant money and compute but thin talent and market. The Global South is the deployment battleground, where US and Chinese open models fight for the next billion users, and where sovereign-language models run on rented, increasingly Chinese, open weights. The bottom line, in the purple band: three hubs build and govern AI; everyone else deploys it, and the fact that they increasingly deploy Chinese open weights is itself a geopolitical result. Transition: the master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master comparison</a:t>
            </a:r>
          </a:p>
          <a:p>
            <a:r>
              <a:rPr b="0" sz="1100">
                <a:latin typeface="Geist"/>
              </a:rPr>
              <a:t>Master comparison
What to say: the whole deck on one slide. Read down any column for a region's profile, or across any row to compare one scope. The US leads on models, capital, and approvals but is power- and increasingly talent-constrained; Europe leads only on regulation and holds one hardware chokepoint; Asia, led by China, leads on deployment, open-weight reach, and owns the hardware spine, constrained mainly by advanced-chip access, which it is engineering around. Transition: the takeaways.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Takeaways and outlook</a:t>
            </a:r>
          </a:p>
          <a:p>
            <a:r>
              <a:rPr b="0" sz="1100">
                <a:latin typeface="Geist"/>
              </a:rPr>
              <a:t>Takeaways &amp; outlook
What to say, the four closers: one, there is no single AI race, the US builds, China deploys, the EU regulates, and calling any one of them the winner depends on which race you mean. Two, the open-versus-closed split is the structural story, China's open weights are becoming global infrastructure. Three, each region's binding constraint is different, and China is engineering around its chip constraint with domestic silicon and cheap energy. Four, for this audience, medicine recapitulates the whole pattern, and the lesson is that the bottleneck on deployed AI is institutional, regulation, payment, coordination, not just model quality. Outlook: watch whether the US power constraint or the China chip constraint binds harder, and whether Europe's softening turns regulation into building. Transition: sources.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References</a:t>
            </a:r>
          </a:p>
          <a:p>
            <a:r>
              <a:rPr b="0" sz="1100">
                <a:latin typeface="Geist"/>
              </a:rPr>
              <a:t>Leave up for questions. Everything is fully cited with URLs in the companion research.md dossier. The strongest single sources: Stanford HAI AI Index for capability/investment, the McKinsey State of AI and MIT NANDA study for adoption and the ROI gap, and BIS/Tom's Hardware for the chip war.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28016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CPH 200C PS3 · REGIONAL AI · 2026</a:t>
            </a:r>
          </a:p>
        </p:txBody>
      </p:sp>
      <p:sp>
        <p:nvSpPr>
          <p:cNvPr id="6" name="TextBox 5"/>
          <p:cNvSpPr txBox="1"/>
          <p:nvPr/>
        </p:nvSpPr>
        <p:spPr>
          <a:xfrm>
            <a:off x="1188720" y="1737360"/>
            <a:ext cx="10058400" cy="1828800"/>
          </a:xfrm>
          <a:prstGeom prst="rect">
            <a:avLst/>
          </a:prstGeom>
          <a:noFill/>
        </p:spPr>
        <p:txBody>
          <a:bodyPr wrap="square" anchor="t" lIns="0" rIns="0" tIns="0" bIns="0">
            <a:spAutoFit/>
          </a:bodyPr>
          <a:lstStyle/>
          <a:p>
            <a:pPr algn="l"/>
            <a:r>
              <a:rPr sz="4800" b="1" i="0">
                <a:solidFill>
                  <a:srgbClr val="FFFFFF"/>
                </a:solidFill>
                <a:latin typeface="Geist Mono"/>
              </a:rPr>
              <a:t>Three Governing Systems for AI</a:t>
            </a:r>
          </a:p>
        </p:txBody>
      </p:sp>
      <p:sp>
        <p:nvSpPr>
          <p:cNvPr id="7" name="TextBox 6"/>
          <p:cNvSpPr txBox="1"/>
          <p:nvPr/>
        </p:nvSpPr>
        <p:spPr>
          <a:xfrm>
            <a:off x="1188720" y="3703320"/>
            <a:ext cx="10058400" cy="640080"/>
          </a:xfrm>
          <a:prstGeom prst="rect">
            <a:avLst/>
          </a:prstGeom>
          <a:noFill/>
        </p:spPr>
        <p:txBody>
          <a:bodyPr wrap="square" anchor="t" lIns="0" rIns="0" tIns="0" bIns="0">
            <a:spAutoFit/>
          </a:bodyPr>
          <a:lstStyle/>
          <a:p>
            <a:pPr algn="l"/>
            <a:r>
              <a:rPr sz="1800" b="0" i="0">
                <a:solidFill>
                  <a:srgbClr val="E5E5EA"/>
                </a:solidFill>
                <a:latin typeface="Geist"/>
              </a:rPr>
              <a:t>How the US, Europe, and Asia deploy AI: policy, funding, technical developments, and landscape by region</a:t>
            </a:r>
          </a:p>
        </p:txBody>
      </p:sp>
      <p:sp>
        <p:nvSpPr>
          <p:cNvPr id="8" name="TextBox 7"/>
          <p:cNvSpPr txBox="1"/>
          <p:nvPr/>
        </p:nvSpPr>
        <p:spPr>
          <a:xfrm>
            <a:off x="1188720" y="4480559"/>
            <a:ext cx="10058400" cy="365760"/>
          </a:xfrm>
          <a:prstGeom prst="rect">
            <a:avLst/>
          </a:prstGeom>
          <a:noFill/>
        </p:spPr>
        <p:txBody>
          <a:bodyPr wrap="square" anchor="t" lIns="0" rIns="0" tIns="0" bIns="0">
            <a:spAutoFit/>
          </a:bodyPr>
          <a:lstStyle/>
          <a:p>
            <a:pPr algn="l"/>
            <a:r>
              <a:rPr sz="2200" b="1">
                <a:solidFill>
                  <a:srgbClr val="FF7F50"/>
                </a:solidFill>
                <a:latin typeface="Geist Mono"/>
              </a:rPr>
              <a:t>Curtis Chambers</a:t>
            </a:r>
            <a:r>
              <a:rPr sz="2200" b="1">
                <a:solidFill>
                  <a:srgbClr val="40E0D0"/>
                </a:solidFill>
                <a:latin typeface="Geist Mono"/>
              </a:rPr>
              <a:t>  ·  Jinchi Wei</a:t>
            </a:r>
          </a:p>
        </p:txBody>
      </p:sp>
      <p:sp>
        <p:nvSpPr>
          <p:cNvPr id="9" name="TextBox 8"/>
          <p:cNvSpPr txBox="1"/>
          <p:nvPr/>
        </p:nvSpPr>
        <p:spPr>
          <a:xfrm>
            <a:off x="1188720" y="4937759"/>
            <a:ext cx="10058400" cy="320040"/>
          </a:xfrm>
          <a:prstGeom prst="rect">
            <a:avLst/>
          </a:prstGeom>
          <a:noFill/>
        </p:spPr>
        <p:txBody>
          <a:bodyPr wrap="square" anchor="t" lIns="0" rIns="0" tIns="0" bIns="0">
            <a:spAutoFit/>
          </a:bodyPr>
          <a:lstStyle/>
          <a:p>
            <a:pPr algn="l"/>
            <a:r>
              <a:rPr sz="1600" b="1" i="0">
                <a:solidFill>
                  <a:srgbClr val="FF1493"/>
                </a:solidFill>
                <a:latin typeface="Geist Mono"/>
              </a:rPr>
              <a:t>CPH 200C · Computational Precision Health</a:t>
            </a:r>
          </a:p>
        </p:txBody>
      </p:sp>
      <p:sp>
        <p:nvSpPr>
          <p:cNvPr id="10" name="Rectangle 9"/>
          <p:cNvSpPr/>
          <p:nvPr/>
        </p:nvSpPr>
        <p:spPr>
          <a:xfrm>
            <a:off x="1188720" y="5440679"/>
            <a:ext cx="3657600" cy="18288"/>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5577840"/>
            <a:ext cx="10058400" cy="274320"/>
          </a:xfrm>
          <a:prstGeom prst="rect">
            <a:avLst/>
          </a:prstGeom>
          <a:noFill/>
        </p:spPr>
        <p:txBody>
          <a:bodyPr wrap="square" anchor="t" lIns="0" rIns="0" tIns="0" bIns="0">
            <a:spAutoFit/>
          </a:bodyPr>
          <a:lstStyle/>
          <a:p>
            <a:pPr algn="l"/>
            <a:r>
              <a:rPr sz="1200" b="0" i="0">
                <a:solidFill>
                  <a:srgbClr val="F0C840"/>
                </a:solidFill>
                <a:latin typeface="Geist Mono"/>
              </a:rPr>
              <a:t>2026-06-04</a:t>
            </a:r>
          </a:p>
        </p:txBody>
      </p:sp>
      <p:pic>
        <p:nvPicPr>
          <p:cNvPr id="12" name="Picture 11" descr="ucsf-logo.png"/>
          <p:cNvPicPr>
            <a:picLocks noChangeAspect="1"/>
          </p:cNvPicPr>
          <p:nvPr/>
        </p:nvPicPr>
        <p:blipFill>
          <a:blip r:embed="rId2"/>
          <a:stretch>
            <a:fillRect/>
          </a:stretch>
        </p:blipFill>
        <p:spPr>
          <a:xfrm>
            <a:off x="9893808" y="5532120"/>
            <a:ext cx="877824" cy="868680"/>
          </a:xfrm>
          <a:prstGeom prst="rect">
            <a:avLst/>
          </a:prstGeom>
        </p:spPr>
      </p:pic>
      <p:pic>
        <p:nvPicPr>
          <p:cNvPr id="13" name="Picture 12" descr="cal-logo.png"/>
          <p:cNvPicPr>
            <a:picLocks noChangeAspect="1"/>
          </p:cNvPicPr>
          <p:nvPr/>
        </p:nvPicPr>
        <p:blipFill>
          <a:blip r:embed="rId3"/>
          <a:stretch>
            <a:fillRect/>
          </a:stretch>
        </p:blipFill>
        <p:spPr>
          <a:xfrm>
            <a:off x="11045952" y="5687568"/>
            <a:ext cx="685800" cy="5486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FRAMING</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a:solidFill>
                  <a:srgbClr val="FF7F50"/>
                </a:solidFill>
                <a:latin typeface="Geist Mono"/>
              </a:rPr>
              <a:t>Curtis Chambers</a:t>
            </a:r>
            <a:r>
              <a:rPr sz="1100" b="1">
                <a:solidFill>
                  <a:srgbClr val="40E0D0"/>
                </a:solidFill>
                <a:latin typeface="Geist Mono"/>
              </a:rPr>
              <a:t>  ·  Jinchi Wei</a:t>
            </a:r>
          </a:p>
        </p:txBody>
      </p:sp>
      <p:sp>
        <p:nvSpPr>
          <p:cNvPr id="9" name="TextBox 8"/>
          <p:cNvSpPr txBox="1"/>
          <p:nvPr/>
        </p:nvSpPr>
        <p:spPr>
          <a:xfrm>
            <a:off x="3886200"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4114800"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CPH 200C · Computational Precision Health</a:t>
            </a:r>
          </a:p>
        </p:txBody>
      </p:sp>
      <p:sp>
        <p:nvSpPr>
          <p:cNvPr id="11" name="TextBox 10"/>
          <p:cNvSpPr txBox="1"/>
          <p:nvPr/>
        </p:nvSpPr>
        <p:spPr>
          <a:xfrm>
            <a:off x="8238744"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8467344"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Three Governing Systems for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Three governing systems for AI</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pic>
        <p:nvPicPr>
          <p:cNvPr id="7" name="Picture 6" descr="governance_models.png"/>
          <p:cNvPicPr>
            <a:picLocks noChangeAspect="1"/>
          </p:cNvPicPr>
          <p:nvPr/>
        </p:nvPicPr>
        <p:blipFill>
          <a:blip r:embed="rId2"/>
          <a:stretch>
            <a:fillRect/>
          </a:stretch>
        </p:blipFill>
        <p:spPr>
          <a:xfrm>
            <a:off x="1452026" y="1051560"/>
            <a:ext cx="9257467" cy="4800599"/>
          </a:xfrm>
          <a:prstGeom prst="rect">
            <a:avLst/>
          </a:prstGeom>
        </p:spPr>
      </p:pic>
      <p:sp>
        <p:nvSpPr>
          <p:cNvPr id="8" name="TextBox 7"/>
          <p:cNvSpPr txBox="1"/>
          <p:nvPr/>
        </p:nvSpPr>
        <p:spPr>
          <a:xfrm>
            <a:off x="457200" y="5934455"/>
            <a:ext cx="11247120" cy="310896"/>
          </a:xfrm>
          <a:prstGeom prst="rect">
            <a:avLst/>
          </a:prstGeom>
          <a:noFill/>
        </p:spPr>
        <p:txBody>
          <a:bodyPr wrap="square" anchor="t" lIns="0" rIns="0" tIns="0" bIns="0">
            <a:spAutoFit/>
          </a:bodyPr>
          <a:lstStyle/>
          <a:p>
            <a:pPr algn="ctr"/>
            <a:r>
              <a:rPr sz="1300" b="0" i="0">
                <a:solidFill>
                  <a:srgbClr val="555560"/>
                </a:solidFill>
                <a:latin typeface="Geist"/>
              </a:rPr>
              <a:t>Same technology, three different games. The rest of the deck is this slide, scope by scope.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Regulate, build, deploy</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2249424" y="1051560"/>
            <a:ext cx="3060192" cy="56692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49424" y="1051560"/>
            <a:ext cx="3060192" cy="566928"/>
          </a:xfrm>
          <a:prstGeom prst="rect">
            <a:avLst/>
          </a:prstGeom>
          <a:noFill/>
        </p:spPr>
        <p:txBody>
          <a:bodyPr wrap="square" anchor="ctr" lIns="0" rIns="0" tIns="0" bIns="0">
            <a:spAutoFit/>
          </a:bodyPr>
          <a:lstStyle/>
          <a:p>
            <a:pPr algn="ctr"/>
            <a:r>
              <a:rPr sz="1350" b="1" i="0">
                <a:solidFill>
                  <a:srgbClr val="14141C"/>
                </a:solidFill>
                <a:latin typeface="Geist Mono"/>
              </a:rPr>
              <a:t>UNITED STATES</a:t>
            </a:r>
          </a:p>
        </p:txBody>
      </p:sp>
      <p:sp>
        <p:nvSpPr>
          <p:cNvPr id="9" name="Rectangle 8"/>
          <p:cNvSpPr/>
          <p:nvPr/>
        </p:nvSpPr>
        <p:spPr>
          <a:xfrm>
            <a:off x="5419344" y="1051560"/>
            <a:ext cx="3060192" cy="566928"/>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19344" y="1051560"/>
            <a:ext cx="3060192" cy="566928"/>
          </a:xfrm>
          <a:prstGeom prst="rect">
            <a:avLst/>
          </a:prstGeom>
          <a:noFill/>
        </p:spPr>
        <p:txBody>
          <a:bodyPr wrap="square" anchor="ctr" lIns="0" rIns="0" tIns="0" bIns="0">
            <a:spAutoFit/>
          </a:bodyPr>
          <a:lstStyle/>
          <a:p>
            <a:pPr algn="ctr"/>
            <a:r>
              <a:rPr sz="1350" b="1" i="0">
                <a:solidFill>
                  <a:srgbClr val="14141C"/>
                </a:solidFill>
                <a:latin typeface="Geist Mono"/>
              </a:rPr>
              <a:t>EUROPE / EU</a:t>
            </a:r>
          </a:p>
        </p:txBody>
      </p:sp>
      <p:sp>
        <p:nvSpPr>
          <p:cNvPr id="11" name="Rectangle 10"/>
          <p:cNvSpPr/>
          <p:nvPr/>
        </p:nvSpPr>
        <p:spPr>
          <a:xfrm>
            <a:off x="8589264" y="1051560"/>
            <a:ext cx="3060192" cy="56692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89264" y="1051560"/>
            <a:ext cx="3060192" cy="566928"/>
          </a:xfrm>
          <a:prstGeom prst="rect">
            <a:avLst/>
          </a:prstGeom>
          <a:noFill/>
        </p:spPr>
        <p:txBody>
          <a:bodyPr wrap="square" anchor="ctr" lIns="0" rIns="0" tIns="0" bIns="0">
            <a:spAutoFit/>
          </a:bodyPr>
          <a:lstStyle/>
          <a:p>
            <a:pPr algn="ctr"/>
            <a:r>
              <a:rPr sz="1350" b="1" i="0">
                <a:solidFill>
                  <a:srgbClr val="FFFFFF"/>
                </a:solidFill>
                <a:latin typeface="Geist Mono"/>
              </a:rPr>
              <a:t>ASIA</a:t>
            </a:r>
          </a:p>
        </p:txBody>
      </p:sp>
      <p:sp>
        <p:nvSpPr>
          <p:cNvPr id="13" name="TextBox 12"/>
          <p:cNvSpPr txBox="1"/>
          <p:nvPr/>
        </p:nvSpPr>
        <p:spPr>
          <a:xfrm>
            <a:off x="457200" y="1764792"/>
            <a:ext cx="1645919" cy="1383791"/>
          </a:xfrm>
          <a:prstGeom prst="rect">
            <a:avLst/>
          </a:prstGeom>
          <a:noFill/>
        </p:spPr>
        <p:txBody>
          <a:bodyPr wrap="square" anchor="ctr" lIns="0" rIns="0" tIns="0" bIns="0">
            <a:spAutoFit/>
          </a:bodyPr>
          <a:lstStyle/>
          <a:p>
            <a:pPr algn="l"/>
            <a:r>
              <a:rPr sz="1400" b="1" i="0">
                <a:solidFill>
                  <a:srgbClr val="14141C"/>
                </a:solidFill>
                <a:latin typeface="Geist Mono"/>
              </a:rPr>
              <a:t>REGULATE</a:t>
            </a:r>
          </a:p>
        </p:txBody>
      </p:sp>
      <p:sp>
        <p:nvSpPr>
          <p:cNvPr id="14" name="Rectangle 13"/>
          <p:cNvSpPr/>
          <p:nvPr/>
        </p:nvSpPr>
        <p:spPr>
          <a:xfrm>
            <a:off x="2249424" y="1764792"/>
            <a:ext cx="3060192" cy="13472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49424" y="1764792"/>
            <a:ext cx="82296" cy="1347215"/>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50591" y="1764792"/>
            <a:ext cx="2804160" cy="1347215"/>
          </a:xfrm>
          <a:prstGeom prst="rect">
            <a:avLst/>
          </a:prstGeom>
          <a:noFill/>
        </p:spPr>
        <p:txBody>
          <a:bodyPr wrap="square" anchor="ctr" lIns="0" rIns="0" tIns="0" bIns="0">
            <a:spAutoFit/>
          </a:bodyPr>
          <a:lstStyle/>
          <a:p>
            <a:pPr algn="l"/>
            <a:r>
              <a:rPr sz="1250" b="0" i="0">
                <a:solidFill>
                  <a:srgbClr val="14141C"/>
                </a:solidFill>
                <a:latin typeface="Geist"/>
              </a:rPr>
              <a:t>Light, late, contested</a:t>
            </a:r>
          </a:p>
        </p:txBody>
      </p:sp>
      <p:sp>
        <p:nvSpPr>
          <p:cNvPr id="17" name="Rectangle 16"/>
          <p:cNvSpPr/>
          <p:nvPr/>
        </p:nvSpPr>
        <p:spPr>
          <a:xfrm>
            <a:off x="5419344" y="1764792"/>
            <a:ext cx="3060192" cy="13472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19344" y="1764792"/>
            <a:ext cx="82296" cy="134721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20512" y="1764792"/>
            <a:ext cx="2804160" cy="1347215"/>
          </a:xfrm>
          <a:prstGeom prst="rect">
            <a:avLst/>
          </a:prstGeom>
          <a:noFill/>
        </p:spPr>
        <p:txBody>
          <a:bodyPr wrap="square" anchor="ctr" lIns="0" rIns="0" tIns="0" bIns="0">
            <a:spAutoFit/>
          </a:bodyPr>
          <a:lstStyle/>
          <a:p>
            <a:pPr algn="l"/>
            <a:r>
              <a:rPr sz="1250" b="0" i="0">
                <a:solidFill>
                  <a:srgbClr val="14141C"/>
                </a:solidFill>
                <a:latin typeface="Geist"/>
              </a:rPr>
              <a:t>Heaviest, first-mover</a:t>
            </a:r>
          </a:p>
        </p:txBody>
      </p:sp>
      <p:sp>
        <p:nvSpPr>
          <p:cNvPr id="20" name="Rectangle 19"/>
          <p:cNvSpPr/>
          <p:nvPr/>
        </p:nvSpPr>
        <p:spPr>
          <a:xfrm>
            <a:off x="8589264" y="1764792"/>
            <a:ext cx="3060192" cy="13472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89264" y="1764792"/>
            <a:ext cx="82296" cy="134721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0432" y="1764792"/>
            <a:ext cx="2804160" cy="1347215"/>
          </a:xfrm>
          <a:prstGeom prst="rect">
            <a:avLst/>
          </a:prstGeom>
          <a:noFill/>
        </p:spPr>
        <p:txBody>
          <a:bodyPr wrap="square" anchor="ctr" lIns="0" rIns="0" tIns="0" bIns="0">
            <a:spAutoFit/>
          </a:bodyPr>
          <a:lstStyle/>
          <a:p>
            <a:pPr algn="l"/>
            <a:r>
              <a:rPr sz="1250" b="0" i="0">
                <a:solidFill>
                  <a:srgbClr val="14141C"/>
                </a:solidFill>
                <a:latin typeface="Geist"/>
              </a:rPr>
              <a:t>State-led to light (varies)</a:t>
            </a:r>
          </a:p>
        </p:txBody>
      </p:sp>
      <p:sp>
        <p:nvSpPr>
          <p:cNvPr id="23" name="TextBox 22"/>
          <p:cNvSpPr txBox="1"/>
          <p:nvPr/>
        </p:nvSpPr>
        <p:spPr>
          <a:xfrm>
            <a:off x="457200" y="3258311"/>
            <a:ext cx="1645919" cy="1383791"/>
          </a:xfrm>
          <a:prstGeom prst="rect">
            <a:avLst/>
          </a:prstGeom>
          <a:noFill/>
        </p:spPr>
        <p:txBody>
          <a:bodyPr wrap="square" anchor="ctr" lIns="0" rIns="0" tIns="0" bIns="0">
            <a:spAutoFit/>
          </a:bodyPr>
          <a:lstStyle/>
          <a:p>
            <a:pPr algn="l"/>
            <a:r>
              <a:rPr sz="1400" b="1" i="0">
                <a:solidFill>
                  <a:srgbClr val="14141C"/>
                </a:solidFill>
                <a:latin typeface="Geist Mono"/>
              </a:rPr>
              <a:t>BUILD</a:t>
            </a:r>
          </a:p>
        </p:txBody>
      </p:sp>
      <p:sp>
        <p:nvSpPr>
          <p:cNvPr id="24" name="Rectangle 23"/>
          <p:cNvSpPr/>
          <p:nvPr/>
        </p:nvSpPr>
        <p:spPr>
          <a:xfrm>
            <a:off x="2249424" y="3258311"/>
            <a:ext cx="3060192" cy="13472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49424" y="3258311"/>
            <a:ext cx="82296" cy="1347215"/>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50591" y="3258311"/>
            <a:ext cx="2804160" cy="1347215"/>
          </a:xfrm>
          <a:prstGeom prst="rect">
            <a:avLst/>
          </a:prstGeom>
          <a:noFill/>
        </p:spPr>
        <p:txBody>
          <a:bodyPr wrap="square" anchor="ctr" lIns="0" rIns="0" tIns="0" bIns="0">
            <a:spAutoFit/>
          </a:bodyPr>
          <a:lstStyle/>
          <a:p>
            <a:pPr algn="l"/>
            <a:r>
              <a:rPr sz="1250" b="0" i="0">
                <a:solidFill>
                  <a:srgbClr val="14141C"/>
                </a:solidFill>
                <a:latin typeface="Geist"/>
              </a:rPr>
              <a:t>Frontier leader</a:t>
            </a:r>
          </a:p>
        </p:txBody>
      </p:sp>
      <p:sp>
        <p:nvSpPr>
          <p:cNvPr id="27" name="Rectangle 26"/>
          <p:cNvSpPr/>
          <p:nvPr/>
        </p:nvSpPr>
        <p:spPr>
          <a:xfrm>
            <a:off x="5419344" y="3258311"/>
            <a:ext cx="3060192" cy="13472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19344" y="3258311"/>
            <a:ext cx="82296" cy="134721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20512" y="3258311"/>
            <a:ext cx="2804160" cy="1347215"/>
          </a:xfrm>
          <a:prstGeom prst="rect">
            <a:avLst/>
          </a:prstGeom>
          <a:noFill/>
        </p:spPr>
        <p:txBody>
          <a:bodyPr wrap="square" anchor="ctr" lIns="0" rIns="0" tIns="0" bIns="0">
            <a:spAutoFit/>
          </a:bodyPr>
          <a:lstStyle/>
          <a:p>
            <a:pPr algn="l"/>
            <a:r>
              <a:rPr sz="1250" b="0" i="0">
                <a:solidFill>
                  <a:srgbClr val="14141C"/>
                </a:solidFill>
                <a:latin typeface="Geist"/>
              </a:rPr>
              <a:t>ASML chokepoint only</a:t>
            </a:r>
          </a:p>
        </p:txBody>
      </p:sp>
      <p:sp>
        <p:nvSpPr>
          <p:cNvPr id="30" name="Rectangle 29"/>
          <p:cNvSpPr/>
          <p:nvPr/>
        </p:nvSpPr>
        <p:spPr>
          <a:xfrm>
            <a:off x="8589264" y="3258311"/>
            <a:ext cx="3060192" cy="13472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589264" y="3258311"/>
            <a:ext cx="82296" cy="134721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90432" y="3258311"/>
            <a:ext cx="2804160" cy="1347215"/>
          </a:xfrm>
          <a:prstGeom prst="rect">
            <a:avLst/>
          </a:prstGeom>
          <a:noFill/>
        </p:spPr>
        <p:txBody>
          <a:bodyPr wrap="square" anchor="ctr" lIns="0" rIns="0" tIns="0" bIns="0">
            <a:spAutoFit/>
          </a:bodyPr>
          <a:lstStyle/>
          <a:p>
            <a:pPr algn="l"/>
            <a:r>
              <a:rPr sz="1250" b="0" i="0">
                <a:solidFill>
                  <a:srgbClr val="14141C"/>
                </a:solidFill>
                <a:latin typeface="Geist"/>
              </a:rPr>
              <a:t>Fast follower + owns hardware</a:t>
            </a:r>
          </a:p>
        </p:txBody>
      </p:sp>
      <p:sp>
        <p:nvSpPr>
          <p:cNvPr id="33" name="TextBox 32"/>
          <p:cNvSpPr txBox="1"/>
          <p:nvPr/>
        </p:nvSpPr>
        <p:spPr>
          <a:xfrm>
            <a:off x="457200" y="4751832"/>
            <a:ext cx="1645919" cy="1383791"/>
          </a:xfrm>
          <a:prstGeom prst="rect">
            <a:avLst/>
          </a:prstGeom>
          <a:noFill/>
        </p:spPr>
        <p:txBody>
          <a:bodyPr wrap="square" anchor="ctr" lIns="0" rIns="0" tIns="0" bIns="0">
            <a:spAutoFit/>
          </a:bodyPr>
          <a:lstStyle/>
          <a:p>
            <a:pPr algn="l"/>
            <a:r>
              <a:rPr sz="1400" b="1" i="0">
                <a:solidFill>
                  <a:srgbClr val="14141C"/>
                </a:solidFill>
                <a:latin typeface="Geist Mono"/>
              </a:rPr>
              <a:t>DEPLOY</a:t>
            </a:r>
          </a:p>
        </p:txBody>
      </p:sp>
      <p:sp>
        <p:nvSpPr>
          <p:cNvPr id="34" name="Rectangle 33"/>
          <p:cNvSpPr/>
          <p:nvPr/>
        </p:nvSpPr>
        <p:spPr>
          <a:xfrm>
            <a:off x="2249424" y="4751832"/>
            <a:ext cx="3060192" cy="13472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249424" y="4751832"/>
            <a:ext cx="82296" cy="1347215"/>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50591" y="4751832"/>
            <a:ext cx="2804160" cy="1347215"/>
          </a:xfrm>
          <a:prstGeom prst="rect">
            <a:avLst/>
          </a:prstGeom>
          <a:noFill/>
        </p:spPr>
        <p:txBody>
          <a:bodyPr wrap="square" anchor="ctr" lIns="0" rIns="0" tIns="0" bIns="0">
            <a:spAutoFit/>
          </a:bodyPr>
          <a:lstStyle/>
          <a:p>
            <a:pPr algn="l"/>
            <a:r>
              <a:rPr sz="1250" b="0" i="0">
                <a:solidFill>
                  <a:srgbClr val="14141C"/>
                </a:solidFill>
                <a:latin typeface="Geist"/>
              </a:rPr>
              <a:t>Enterprise SaaS</a:t>
            </a:r>
          </a:p>
        </p:txBody>
      </p:sp>
      <p:sp>
        <p:nvSpPr>
          <p:cNvPr id="37" name="Rectangle 36"/>
          <p:cNvSpPr/>
          <p:nvPr/>
        </p:nvSpPr>
        <p:spPr>
          <a:xfrm>
            <a:off x="5419344" y="4751832"/>
            <a:ext cx="3060192" cy="13472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19344" y="4751832"/>
            <a:ext cx="82296" cy="134721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20512" y="4751832"/>
            <a:ext cx="2804160" cy="1347215"/>
          </a:xfrm>
          <a:prstGeom prst="rect">
            <a:avLst/>
          </a:prstGeom>
          <a:noFill/>
        </p:spPr>
        <p:txBody>
          <a:bodyPr wrap="square" anchor="ctr" lIns="0" rIns="0" tIns="0" bIns="0">
            <a:spAutoFit/>
          </a:bodyPr>
          <a:lstStyle/>
          <a:p>
            <a:pPr algn="l"/>
            <a:r>
              <a:rPr sz="1250" b="0" i="0">
                <a:solidFill>
                  <a:srgbClr val="14141C"/>
                </a:solidFill>
                <a:latin typeface="Geist"/>
              </a:rPr>
              <a:t>Compliance-gated, slow</a:t>
            </a:r>
          </a:p>
        </p:txBody>
      </p:sp>
      <p:sp>
        <p:nvSpPr>
          <p:cNvPr id="40" name="Rectangle 39"/>
          <p:cNvSpPr/>
          <p:nvPr/>
        </p:nvSpPr>
        <p:spPr>
          <a:xfrm>
            <a:off x="8589264" y="4751832"/>
            <a:ext cx="3060192" cy="13472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89264" y="4751832"/>
            <a:ext cx="82296" cy="134721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90432" y="4751832"/>
            <a:ext cx="2804160" cy="1347215"/>
          </a:xfrm>
          <a:prstGeom prst="rect">
            <a:avLst/>
          </a:prstGeom>
          <a:noFill/>
        </p:spPr>
        <p:txBody>
          <a:bodyPr wrap="square" anchor="ctr" lIns="0" rIns="0" tIns="0" bIns="0">
            <a:spAutoFit/>
          </a:bodyPr>
          <a:lstStyle/>
          <a:p>
            <a:pPr algn="l"/>
            <a:r>
              <a:rPr sz="1250" b="0" i="0">
                <a:solidFill>
                  <a:srgbClr val="14141C"/>
                </a:solidFill>
                <a:latin typeface="Geist"/>
              </a:rPr>
              <a:t>Population scale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What leaders predicted, and what’s different now</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3566160" cy="3794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66160" cy="50292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051560"/>
            <a:ext cx="3346704" cy="502920"/>
          </a:xfrm>
          <a:prstGeom prst="rect">
            <a:avLst/>
          </a:prstGeom>
          <a:noFill/>
        </p:spPr>
        <p:txBody>
          <a:bodyPr wrap="square" anchor="ctr" lIns="0" rIns="0" tIns="0" bIns="0">
            <a:spAutoFit/>
          </a:bodyPr>
          <a:lstStyle/>
          <a:p>
            <a:pPr algn="ctr"/>
            <a:r>
              <a:rPr sz="1250" b="1" i="0">
                <a:solidFill>
                  <a:srgbClr val="FFFFFF"/>
                </a:solidFill>
                <a:latin typeface="Geist Mono"/>
              </a:rPr>
              <a:t>CHINA</a:t>
            </a:r>
          </a:p>
        </p:txBody>
      </p:sp>
      <p:sp>
        <p:nvSpPr>
          <p:cNvPr id="10" name="TextBox 9"/>
          <p:cNvSpPr txBox="1"/>
          <p:nvPr/>
        </p:nvSpPr>
        <p:spPr>
          <a:xfrm>
            <a:off x="676656" y="1709928"/>
            <a:ext cx="3127248" cy="411480"/>
          </a:xfrm>
          <a:prstGeom prst="rect">
            <a:avLst/>
          </a:prstGeom>
          <a:noFill/>
        </p:spPr>
        <p:txBody>
          <a:bodyPr wrap="square" anchor="t" lIns="0" rIns="0" tIns="0" bIns="0">
            <a:spAutoFit/>
          </a:bodyPr>
          <a:lstStyle/>
          <a:p>
            <a:pPr algn="l"/>
            <a:r>
              <a:rPr sz="1600" b="1" i="0">
                <a:solidFill>
                  <a:srgbClr val="14141C"/>
                </a:solidFill>
                <a:latin typeface="Geist Mono"/>
              </a:rPr>
              <a:t>Kai-Fu Lee</a:t>
            </a:r>
          </a:p>
        </p:txBody>
      </p:sp>
      <p:sp>
        <p:nvSpPr>
          <p:cNvPr id="11" name="TextBox 10"/>
          <p:cNvSpPr txBox="1"/>
          <p:nvPr/>
        </p:nvSpPr>
        <p:spPr>
          <a:xfrm>
            <a:off x="676656" y="2130552"/>
            <a:ext cx="3127248" cy="365760"/>
          </a:xfrm>
          <a:prstGeom prst="rect">
            <a:avLst/>
          </a:prstGeom>
          <a:noFill/>
        </p:spPr>
        <p:txBody>
          <a:bodyPr wrap="square" anchor="t" lIns="0" rIns="0" tIns="0" bIns="0">
            <a:spAutoFit/>
          </a:bodyPr>
          <a:lstStyle/>
          <a:p>
            <a:pPr algn="l"/>
            <a:r>
              <a:rPr sz="1150" b="1" i="0">
                <a:solidFill>
                  <a:srgbClr val="FF1493"/>
                </a:solidFill>
                <a:latin typeface="Geist Mono"/>
              </a:rPr>
              <a:t>AI Superpowers (2018)</a:t>
            </a:r>
          </a:p>
        </p:txBody>
      </p:sp>
      <p:sp>
        <p:nvSpPr>
          <p:cNvPr id="12" name="TextBox 11"/>
          <p:cNvSpPr txBox="1"/>
          <p:nvPr/>
        </p:nvSpPr>
        <p:spPr>
          <a:xfrm>
            <a:off x="676656" y="2569464"/>
            <a:ext cx="3127248" cy="2148839"/>
          </a:xfrm>
          <a:prstGeom prst="rect">
            <a:avLst/>
          </a:prstGeom>
          <a:noFill/>
        </p:spPr>
        <p:txBody>
          <a:bodyPr wrap="square" anchor="t" lIns="0" rIns="0" tIns="0" bIns="0">
            <a:spAutoFit/>
          </a:bodyPr>
          <a:lstStyle/>
          <a:p>
            <a:pPr algn="l"/>
            <a:r>
              <a:rPr sz="1250" b="0" i="0">
                <a:solidFill>
                  <a:srgbClr val="14141C"/>
                </a:solidFill>
                <a:latin typeface="Geist"/>
              </a:rPr>
              <a:t>The age of implementation: execution and data, not breakthroughs, decide the race, favoring China.</a:t>
            </a:r>
          </a:p>
        </p:txBody>
      </p:sp>
      <p:sp>
        <p:nvSpPr>
          <p:cNvPr id="13" name="Rectangle 12"/>
          <p:cNvSpPr/>
          <p:nvPr/>
        </p:nvSpPr>
        <p:spPr>
          <a:xfrm>
            <a:off x="4297680" y="1051560"/>
            <a:ext cx="3566160" cy="3794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051560"/>
            <a:ext cx="3566160" cy="50292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1051560"/>
            <a:ext cx="3346704" cy="502920"/>
          </a:xfrm>
          <a:prstGeom prst="rect">
            <a:avLst/>
          </a:prstGeom>
          <a:noFill/>
        </p:spPr>
        <p:txBody>
          <a:bodyPr wrap="square" anchor="ctr" lIns="0" rIns="0" tIns="0" bIns="0">
            <a:spAutoFit/>
          </a:bodyPr>
          <a:lstStyle/>
          <a:p>
            <a:pPr algn="ctr"/>
            <a:r>
              <a:rPr sz="1250" b="1" i="0">
                <a:solidFill>
                  <a:srgbClr val="14141C"/>
                </a:solidFill>
                <a:latin typeface="Geist Mono"/>
              </a:rPr>
              <a:t>UNITED STATES</a:t>
            </a:r>
          </a:p>
        </p:txBody>
      </p:sp>
      <p:sp>
        <p:nvSpPr>
          <p:cNvPr id="16" name="TextBox 15"/>
          <p:cNvSpPr txBox="1"/>
          <p:nvPr/>
        </p:nvSpPr>
        <p:spPr>
          <a:xfrm>
            <a:off x="4517136" y="1709928"/>
            <a:ext cx="3127248" cy="411480"/>
          </a:xfrm>
          <a:prstGeom prst="rect">
            <a:avLst/>
          </a:prstGeom>
          <a:noFill/>
        </p:spPr>
        <p:txBody>
          <a:bodyPr wrap="square" anchor="t" lIns="0" rIns="0" tIns="0" bIns="0">
            <a:spAutoFit/>
          </a:bodyPr>
          <a:lstStyle/>
          <a:p>
            <a:pPr algn="l"/>
            <a:r>
              <a:rPr sz="1600" b="1" i="0">
                <a:solidFill>
                  <a:srgbClr val="14141C"/>
                </a:solidFill>
                <a:latin typeface="Geist Mono"/>
              </a:rPr>
              <a:t>Eric Schmidt et al.</a:t>
            </a:r>
          </a:p>
        </p:txBody>
      </p:sp>
      <p:sp>
        <p:nvSpPr>
          <p:cNvPr id="17" name="TextBox 16"/>
          <p:cNvSpPr txBox="1"/>
          <p:nvPr/>
        </p:nvSpPr>
        <p:spPr>
          <a:xfrm>
            <a:off x="4517136" y="2130552"/>
            <a:ext cx="3127248" cy="365760"/>
          </a:xfrm>
          <a:prstGeom prst="rect">
            <a:avLst/>
          </a:prstGeom>
          <a:noFill/>
        </p:spPr>
        <p:txBody>
          <a:bodyPr wrap="square" anchor="t" lIns="0" rIns="0" tIns="0" bIns="0">
            <a:spAutoFit/>
          </a:bodyPr>
          <a:lstStyle/>
          <a:p>
            <a:pPr algn="l"/>
            <a:r>
              <a:rPr sz="1150" b="1" i="0">
                <a:solidFill>
                  <a:srgbClr val="40E0D0"/>
                </a:solidFill>
                <a:latin typeface="Geist Mono"/>
              </a:rPr>
              <a:t>The Age of AI (2021); NSCAI</a:t>
            </a:r>
          </a:p>
        </p:txBody>
      </p:sp>
      <p:sp>
        <p:nvSpPr>
          <p:cNvPr id="18" name="TextBox 17"/>
          <p:cNvSpPr txBox="1"/>
          <p:nvPr/>
        </p:nvSpPr>
        <p:spPr>
          <a:xfrm>
            <a:off x="4517136" y="2569464"/>
            <a:ext cx="3127248" cy="2148839"/>
          </a:xfrm>
          <a:prstGeom prst="rect">
            <a:avLst/>
          </a:prstGeom>
          <a:noFill/>
        </p:spPr>
        <p:txBody>
          <a:bodyPr wrap="square" anchor="t" lIns="0" rIns="0" tIns="0" bIns="0">
            <a:spAutoFit/>
          </a:bodyPr>
          <a:lstStyle/>
          <a:p>
            <a:pPr algn="l"/>
            <a:r>
              <a:rPr sz="1250" b="0" i="0">
                <a:solidFill>
                  <a:srgbClr val="14141C"/>
                </a:solidFill>
                <a:latin typeface="Geist"/>
              </a:rPr>
              <a:t>AI is a national-security race the US must win; warned of China closing the gap fast.</a:t>
            </a:r>
          </a:p>
        </p:txBody>
      </p:sp>
      <p:sp>
        <p:nvSpPr>
          <p:cNvPr id="19" name="Rectangle 18"/>
          <p:cNvSpPr/>
          <p:nvPr/>
        </p:nvSpPr>
        <p:spPr>
          <a:xfrm>
            <a:off x="8138160" y="1051560"/>
            <a:ext cx="3566160" cy="3794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051560"/>
            <a:ext cx="3566160" cy="50292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1051560"/>
            <a:ext cx="3346704" cy="502920"/>
          </a:xfrm>
          <a:prstGeom prst="rect">
            <a:avLst/>
          </a:prstGeom>
          <a:noFill/>
        </p:spPr>
        <p:txBody>
          <a:bodyPr wrap="square" anchor="ctr" lIns="0" rIns="0" tIns="0" bIns="0">
            <a:spAutoFit/>
          </a:bodyPr>
          <a:lstStyle/>
          <a:p>
            <a:pPr algn="ctr"/>
            <a:r>
              <a:rPr sz="1250" b="1" i="0">
                <a:solidFill>
                  <a:srgbClr val="14141C"/>
                </a:solidFill>
                <a:latin typeface="Geist Mono"/>
              </a:rPr>
              <a:t>EUROPE / EU</a:t>
            </a:r>
          </a:p>
        </p:txBody>
      </p:sp>
      <p:sp>
        <p:nvSpPr>
          <p:cNvPr id="22" name="TextBox 21"/>
          <p:cNvSpPr txBox="1"/>
          <p:nvPr/>
        </p:nvSpPr>
        <p:spPr>
          <a:xfrm>
            <a:off x="8357616" y="1709928"/>
            <a:ext cx="3127248" cy="411480"/>
          </a:xfrm>
          <a:prstGeom prst="rect">
            <a:avLst/>
          </a:prstGeom>
          <a:noFill/>
        </p:spPr>
        <p:txBody>
          <a:bodyPr wrap="square" anchor="t" lIns="0" rIns="0" tIns="0" bIns="0">
            <a:spAutoFit/>
          </a:bodyPr>
          <a:lstStyle/>
          <a:p>
            <a:pPr algn="l"/>
            <a:r>
              <a:rPr sz="1600" b="1" i="0">
                <a:solidFill>
                  <a:srgbClr val="14141C"/>
                </a:solidFill>
                <a:latin typeface="Geist Mono"/>
              </a:rPr>
              <a:t>Mario Draghi</a:t>
            </a:r>
          </a:p>
        </p:txBody>
      </p:sp>
      <p:sp>
        <p:nvSpPr>
          <p:cNvPr id="23" name="TextBox 22"/>
          <p:cNvSpPr txBox="1"/>
          <p:nvPr/>
        </p:nvSpPr>
        <p:spPr>
          <a:xfrm>
            <a:off x="8357616" y="2130552"/>
            <a:ext cx="3127248" cy="365760"/>
          </a:xfrm>
          <a:prstGeom prst="rect">
            <a:avLst/>
          </a:prstGeom>
          <a:noFill/>
        </p:spPr>
        <p:txBody>
          <a:bodyPr wrap="square" anchor="t" lIns="0" rIns="0" tIns="0" bIns="0">
            <a:spAutoFit/>
          </a:bodyPr>
          <a:lstStyle/>
          <a:p>
            <a:pPr algn="l"/>
            <a:r>
              <a:rPr sz="1150" b="1" i="0">
                <a:solidFill>
                  <a:srgbClr val="F0C840"/>
                </a:solidFill>
                <a:latin typeface="Geist Mono"/>
              </a:rPr>
              <a:t>EU Competitiveness Report (2024)</a:t>
            </a:r>
          </a:p>
        </p:txBody>
      </p:sp>
      <p:sp>
        <p:nvSpPr>
          <p:cNvPr id="24" name="TextBox 23"/>
          <p:cNvSpPr txBox="1"/>
          <p:nvPr/>
        </p:nvSpPr>
        <p:spPr>
          <a:xfrm>
            <a:off x="8357616" y="2569464"/>
            <a:ext cx="3127248" cy="2148839"/>
          </a:xfrm>
          <a:prstGeom prst="rect">
            <a:avLst/>
          </a:prstGeom>
          <a:noFill/>
        </p:spPr>
        <p:txBody>
          <a:bodyPr wrap="square" anchor="t" lIns="0" rIns="0" tIns="0" bIns="0">
            <a:spAutoFit/>
          </a:bodyPr>
          <a:lstStyle/>
          <a:p>
            <a:pPr algn="l"/>
            <a:r>
              <a:rPr sz="1250" b="0" i="0">
                <a:solidFill>
                  <a:srgbClr val="14141C"/>
                </a:solidFill>
                <a:latin typeface="Geist"/>
              </a:rPr>
              <a:t>Europe regulates but does not build; structurally behind on compute, capital, and scale.</a:t>
            </a:r>
          </a:p>
        </p:txBody>
      </p:sp>
      <p:sp>
        <p:nvSpPr>
          <p:cNvPr id="25" name="Rectangle 24"/>
          <p:cNvSpPr/>
          <p:nvPr/>
        </p:nvSpPr>
        <p:spPr>
          <a:xfrm>
            <a:off x="457200" y="5120640"/>
            <a:ext cx="11247120" cy="1142999"/>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5266944"/>
            <a:ext cx="10625328" cy="292608"/>
          </a:xfrm>
          <a:prstGeom prst="rect">
            <a:avLst/>
          </a:prstGeom>
          <a:noFill/>
        </p:spPr>
        <p:txBody>
          <a:bodyPr wrap="square" anchor="t" lIns="0" rIns="0" tIns="0" bIns="0">
            <a:spAutoFit/>
          </a:bodyPr>
          <a:lstStyle/>
          <a:p>
            <a:pPr algn="l"/>
            <a:r>
              <a:rPr sz="1200" b="1" i="0">
                <a:solidFill>
                  <a:srgbClr val="FFFFFF"/>
                </a:solidFill>
                <a:latin typeface="Geist Mono"/>
              </a:rPr>
              <a:t>WHAT'S DIFFERENT NOW (2025):</a:t>
            </a:r>
          </a:p>
        </p:txBody>
      </p:sp>
      <p:sp>
        <p:nvSpPr>
          <p:cNvPr id="27" name="TextBox 26"/>
          <p:cNvSpPr txBox="1"/>
          <p:nvPr/>
        </p:nvSpPr>
        <p:spPr>
          <a:xfrm>
            <a:off x="768096" y="5614416"/>
            <a:ext cx="10625328" cy="557783"/>
          </a:xfrm>
          <a:prstGeom prst="rect">
            <a:avLst/>
          </a:prstGeom>
          <a:noFill/>
        </p:spPr>
        <p:txBody>
          <a:bodyPr wrap="square" anchor="t" lIns="0" rIns="0" tIns="0" bIns="0">
            <a:spAutoFit/>
          </a:bodyPr>
          <a:lstStyle/>
          <a:p>
            <a:pPr algn="l"/>
            <a:r>
              <a:rPr sz="1300" b="0" i="0">
                <a:solidFill>
                  <a:srgbClr val="FFFFFF"/>
                </a:solidFill>
                <a:latin typeface="Geist"/>
              </a:rPr>
              <a:t>None predicted a Chinese OPEN model (DeepSeek) would reset the frontier while US labs re-closed. Lee's implementation thesis holds, but the ROI gap shows capability is not yet value.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F1493"/>
                </a:solidFill>
                <a:latin typeface="Geist Mono"/>
              </a:rPr>
              <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POLICY &amp; REGULATION</a:t>
            </a:r>
          </a:p>
        </p:txBody>
      </p:sp>
      <p:sp>
        <p:nvSpPr>
          <p:cNvPr id="7" name="Rectangle 6"/>
          <p:cNvSpPr/>
          <p:nvPr/>
        </p:nvSpPr>
        <p:spPr>
          <a:xfrm>
            <a:off x="777240" y="5120640"/>
            <a:ext cx="1828800" cy="182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a:solidFill>
                  <a:srgbClr val="FF7F50"/>
                </a:solidFill>
                <a:latin typeface="Geist Mono"/>
              </a:rPr>
              <a:t>Curtis Chambers</a:t>
            </a:r>
            <a:r>
              <a:rPr sz="1100" b="1">
                <a:solidFill>
                  <a:srgbClr val="40E0D0"/>
                </a:solidFill>
                <a:latin typeface="Geist Mono"/>
              </a:rPr>
              <a:t>  ·  Jinchi Wei</a:t>
            </a:r>
          </a:p>
        </p:txBody>
      </p:sp>
      <p:sp>
        <p:nvSpPr>
          <p:cNvPr id="9" name="TextBox 8"/>
          <p:cNvSpPr txBox="1"/>
          <p:nvPr/>
        </p:nvSpPr>
        <p:spPr>
          <a:xfrm>
            <a:off x="3886200"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4114800"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CPH 200C · Computational Precision Health</a:t>
            </a:r>
          </a:p>
        </p:txBody>
      </p:sp>
      <p:sp>
        <p:nvSpPr>
          <p:cNvPr id="11" name="TextBox 10"/>
          <p:cNvSpPr txBox="1"/>
          <p:nvPr/>
        </p:nvSpPr>
        <p:spPr>
          <a:xfrm>
            <a:off x="8238744"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8467344"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Three Governing Systems for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600" b="1" i="0">
                <a:solidFill>
                  <a:srgbClr val="14141C"/>
                </a:solidFill>
                <a:latin typeface="Geist Mono"/>
              </a:rPr>
              <a:t>United States: executive whiplash plus a state patchwork</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11247120" cy="8375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109728" cy="83759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051560"/>
            <a:ext cx="3200400" cy="837590"/>
          </a:xfrm>
          <a:prstGeom prst="rect">
            <a:avLst/>
          </a:prstGeom>
          <a:noFill/>
        </p:spPr>
        <p:txBody>
          <a:bodyPr wrap="square" anchor="ctr" lIns="0" rIns="0" tIns="0" bIns="0">
            <a:spAutoFit/>
          </a:bodyPr>
          <a:lstStyle/>
          <a:p>
            <a:pPr algn="l"/>
            <a:r>
              <a:rPr sz="1400" b="1" i="0">
                <a:solidFill>
                  <a:srgbClr val="14141C"/>
                </a:solidFill>
                <a:latin typeface="Geist Mono"/>
              </a:rPr>
              <a:t>Executive whiplash</a:t>
            </a:r>
          </a:p>
        </p:txBody>
      </p:sp>
      <p:sp>
        <p:nvSpPr>
          <p:cNvPr id="10" name="TextBox 9"/>
          <p:cNvSpPr txBox="1"/>
          <p:nvPr/>
        </p:nvSpPr>
        <p:spPr>
          <a:xfrm>
            <a:off x="4114800" y="1161288"/>
            <a:ext cx="7315200" cy="618134"/>
          </a:xfrm>
          <a:prstGeom prst="rect">
            <a:avLst/>
          </a:prstGeom>
          <a:noFill/>
        </p:spPr>
        <p:txBody>
          <a:bodyPr wrap="square" anchor="ctr" lIns="0" rIns="0" tIns="0" bIns="0">
            <a:spAutoFit/>
          </a:bodyPr>
          <a:lstStyle/>
          <a:p>
            <a:pPr algn="l"/>
            <a:r>
              <a:rPr sz="1200" b="0" i="0">
                <a:solidFill>
                  <a:srgbClr val="14141C"/>
                </a:solidFill>
                <a:latin typeface="Geist"/>
              </a:rPr>
              <a:t>Trump rescinded Biden EO 14110 (Jan 2025); the July 2025 AI Action Plan deregulates to win the race; a Dec 2025 EO directs agencies to preempt state laws.</a:t>
            </a:r>
          </a:p>
        </p:txBody>
      </p:sp>
      <p:sp>
        <p:nvSpPr>
          <p:cNvPr id="11" name="Rectangle 10"/>
          <p:cNvSpPr/>
          <p:nvPr/>
        </p:nvSpPr>
        <p:spPr>
          <a:xfrm>
            <a:off x="457200" y="2145182"/>
            <a:ext cx="11247120" cy="8375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145182"/>
            <a:ext cx="109728" cy="83759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145182"/>
            <a:ext cx="3200400" cy="837590"/>
          </a:xfrm>
          <a:prstGeom prst="rect">
            <a:avLst/>
          </a:prstGeom>
          <a:noFill/>
        </p:spPr>
        <p:txBody>
          <a:bodyPr wrap="square" anchor="ctr" lIns="0" rIns="0" tIns="0" bIns="0">
            <a:spAutoFit/>
          </a:bodyPr>
          <a:lstStyle/>
          <a:p>
            <a:pPr algn="l"/>
            <a:r>
              <a:rPr sz="1400" b="1" i="0">
                <a:solidFill>
                  <a:srgbClr val="14141C"/>
                </a:solidFill>
                <a:latin typeface="Geist Mono"/>
              </a:rPr>
              <a:t>State patchwork</a:t>
            </a:r>
          </a:p>
        </p:txBody>
      </p:sp>
      <p:sp>
        <p:nvSpPr>
          <p:cNvPr id="14" name="TextBox 13"/>
          <p:cNvSpPr txBox="1"/>
          <p:nvPr/>
        </p:nvSpPr>
        <p:spPr>
          <a:xfrm>
            <a:off x="4114800" y="2254910"/>
            <a:ext cx="7315200" cy="618134"/>
          </a:xfrm>
          <a:prstGeom prst="rect">
            <a:avLst/>
          </a:prstGeom>
          <a:noFill/>
        </p:spPr>
        <p:txBody>
          <a:bodyPr wrap="square" anchor="ctr" lIns="0" rIns="0" tIns="0" bIns="0">
            <a:spAutoFit/>
          </a:bodyPr>
          <a:lstStyle/>
          <a:p>
            <a:pPr algn="l"/>
            <a:r>
              <a:rPr sz="1200" b="0" i="0">
                <a:solidFill>
                  <a:srgbClr val="14141C"/>
                </a:solidFill>
                <a:latin typeface="Geist"/>
              </a:rPr>
              <a:t>Colorado AI Act, Texas TRAIGA (Jan 2026), California SB 53, New York RAISE Act. A federal moratorium on state AI laws failed in the Senate 99 to 1.</a:t>
            </a:r>
          </a:p>
        </p:txBody>
      </p:sp>
      <p:sp>
        <p:nvSpPr>
          <p:cNvPr id="15" name="Rectangle 14"/>
          <p:cNvSpPr/>
          <p:nvPr/>
        </p:nvSpPr>
        <p:spPr>
          <a:xfrm>
            <a:off x="457200" y="3238804"/>
            <a:ext cx="11247120" cy="8375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238804"/>
            <a:ext cx="109728" cy="83759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238804"/>
            <a:ext cx="3200400" cy="837590"/>
          </a:xfrm>
          <a:prstGeom prst="rect">
            <a:avLst/>
          </a:prstGeom>
          <a:noFill/>
        </p:spPr>
        <p:txBody>
          <a:bodyPr wrap="square" anchor="ctr" lIns="0" rIns="0" tIns="0" bIns="0">
            <a:spAutoFit/>
          </a:bodyPr>
          <a:lstStyle/>
          <a:p>
            <a:pPr algn="l"/>
            <a:r>
              <a:rPr sz="1400" b="1" i="0">
                <a:solidFill>
                  <a:srgbClr val="14141C"/>
                </a:solidFill>
                <a:latin typeface="Geist Mono"/>
              </a:rPr>
              <a:t>Anti-woke procurement</a:t>
            </a:r>
          </a:p>
        </p:txBody>
      </p:sp>
      <p:sp>
        <p:nvSpPr>
          <p:cNvPr id="18" name="TextBox 17"/>
          <p:cNvSpPr txBox="1"/>
          <p:nvPr/>
        </p:nvSpPr>
        <p:spPr>
          <a:xfrm>
            <a:off x="4114800" y="3348532"/>
            <a:ext cx="7315200" cy="618134"/>
          </a:xfrm>
          <a:prstGeom prst="rect">
            <a:avLst/>
          </a:prstGeom>
          <a:noFill/>
        </p:spPr>
        <p:txBody>
          <a:bodyPr wrap="square" anchor="ctr" lIns="0" rIns="0" tIns="0" bIns="0">
            <a:spAutoFit/>
          </a:bodyPr>
          <a:lstStyle/>
          <a:p>
            <a:pPr algn="l"/>
            <a:r>
              <a:rPr sz="1200" b="0" i="0">
                <a:solidFill>
                  <a:srgbClr val="14141C"/>
                </a:solidFill>
                <a:latin typeface="Geist"/>
              </a:rPr>
              <a:t>EO 14319 bars federal purchase of LLMs that fail an ideological-neutrality test.</a:t>
            </a:r>
          </a:p>
        </p:txBody>
      </p:sp>
      <p:sp>
        <p:nvSpPr>
          <p:cNvPr id="19" name="Rectangle 18"/>
          <p:cNvSpPr/>
          <p:nvPr/>
        </p:nvSpPr>
        <p:spPr>
          <a:xfrm>
            <a:off x="457200" y="4332427"/>
            <a:ext cx="11247120" cy="8375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332427"/>
            <a:ext cx="109728" cy="83759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332427"/>
            <a:ext cx="3200400" cy="837590"/>
          </a:xfrm>
          <a:prstGeom prst="rect">
            <a:avLst/>
          </a:prstGeom>
          <a:noFill/>
        </p:spPr>
        <p:txBody>
          <a:bodyPr wrap="square" anchor="ctr" lIns="0" rIns="0" tIns="0" bIns="0">
            <a:spAutoFit/>
          </a:bodyPr>
          <a:lstStyle/>
          <a:p>
            <a:pPr algn="l"/>
            <a:r>
              <a:rPr sz="1400" b="1" i="0">
                <a:solidFill>
                  <a:srgbClr val="14141C"/>
                </a:solidFill>
                <a:latin typeface="Geist Mono"/>
              </a:rPr>
              <a:t>Frontier safety (Jun 2026)</a:t>
            </a:r>
          </a:p>
        </p:txBody>
      </p:sp>
      <p:sp>
        <p:nvSpPr>
          <p:cNvPr id="22" name="TextBox 21"/>
          <p:cNvSpPr txBox="1"/>
          <p:nvPr/>
        </p:nvSpPr>
        <p:spPr>
          <a:xfrm>
            <a:off x="4114800" y="4442155"/>
            <a:ext cx="7315200" cy="618134"/>
          </a:xfrm>
          <a:prstGeom prst="rect">
            <a:avLst/>
          </a:prstGeom>
          <a:noFill/>
        </p:spPr>
        <p:txBody>
          <a:bodyPr wrap="square" anchor="ctr" lIns="0" rIns="0" tIns="0" bIns="0">
            <a:spAutoFit/>
          </a:bodyPr>
          <a:lstStyle/>
          <a:p>
            <a:pPr algn="l"/>
            <a:r>
              <a:rPr sz="1200" b="0" i="0">
                <a:solidFill>
                  <a:srgbClr val="14141C"/>
                </a:solidFill>
                <a:latin typeface="Geist"/>
              </a:rPr>
              <a:t>Voluntary EO: labs grant up to 30-day pre-release access to NSA-designated frontier models + a Treasury cyber clearinghouse. No mandatory licensing, security-framed, not clinical.</a:t>
            </a:r>
          </a:p>
        </p:txBody>
      </p:sp>
      <p:sp>
        <p:nvSpPr>
          <p:cNvPr id="23" name="Rectangle 22"/>
          <p:cNvSpPr/>
          <p:nvPr/>
        </p:nvSpPr>
        <p:spPr>
          <a:xfrm>
            <a:off x="457200" y="5426049"/>
            <a:ext cx="11247120" cy="8375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5426049"/>
            <a:ext cx="109728" cy="83759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5426049"/>
            <a:ext cx="3200400" cy="837590"/>
          </a:xfrm>
          <a:prstGeom prst="rect">
            <a:avLst/>
          </a:prstGeom>
          <a:noFill/>
        </p:spPr>
        <p:txBody>
          <a:bodyPr wrap="square" anchor="ctr" lIns="0" rIns="0" tIns="0" bIns="0">
            <a:spAutoFit/>
          </a:bodyPr>
          <a:lstStyle/>
          <a:p>
            <a:pPr algn="l"/>
            <a:r>
              <a:rPr sz="1400" b="1" i="0">
                <a:solidFill>
                  <a:srgbClr val="14141C"/>
                </a:solidFill>
                <a:latin typeface="Geist Mono"/>
              </a:rPr>
              <a:t>Net effect</a:t>
            </a:r>
          </a:p>
        </p:txBody>
      </p:sp>
      <p:sp>
        <p:nvSpPr>
          <p:cNvPr id="26" name="TextBox 25"/>
          <p:cNvSpPr txBox="1"/>
          <p:nvPr/>
        </p:nvSpPr>
        <p:spPr>
          <a:xfrm>
            <a:off x="4114800" y="5535777"/>
            <a:ext cx="7315200" cy="618134"/>
          </a:xfrm>
          <a:prstGeom prst="rect">
            <a:avLst/>
          </a:prstGeom>
          <a:noFill/>
        </p:spPr>
        <p:txBody>
          <a:bodyPr wrap="square" anchor="ctr" lIns="0" rIns="0" tIns="0" bIns="0">
            <a:spAutoFit/>
          </a:bodyPr>
          <a:lstStyle/>
          <a:p>
            <a:pPr algn="l"/>
            <a:r>
              <a:rPr sz="1200" b="0" i="0">
                <a:solidFill>
                  <a:srgbClr val="14141C"/>
                </a:solidFill>
                <a:latin typeface="Geist"/>
              </a:rPr>
              <a:t>Light federal touch, a thickening state patchwork, and an open fight over who governs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European Union: the AI Act, now softening</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11247120" cy="11109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109728" cy="111099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051560"/>
            <a:ext cx="3200400" cy="1110995"/>
          </a:xfrm>
          <a:prstGeom prst="rect">
            <a:avLst/>
          </a:prstGeom>
          <a:noFill/>
        </p:spPr>
        <p:txBody>
          <a:bodyPr wrap="square" anchor="ctr" lIns="0" rIns="0" tIns="0" bIns="0">
            <a:spAutoFit/>
          </a:bodyPr>
          <a:lstStyle/>
          <a:p>
            <a:pPr algn="l"/>
            <a:r>
              <a:rPr sz="1400" b="1" i="0">
                <a:solidFill>
                  <a:srgbClr val="14141C"/>
                </a:solidFill>
                <a:latin typeface="Geist Mono"/>
              </a:rPr>
              <a:t>The AI Act</a:t>
            </a:r>
          </a:p>
        </p:txBody>
      </p:sp>
      <p:sp>
        <p:nvSpPr>
          <p:cNvPr id="10" name="TextBox 9"/>
          <p:cNvSpPr txBox="1"/>
          <p:nvPr/>
        </p:nvSpPr>
        <p:spPr>
          <a:xfrm>
            <a:off x="4114800" y="1161288"/>
            <a:ext cx="7315200" cy="891539"/>
          </a:xfrm>
          <a:prstGeom prst="rect">
            <a:avLst/>
          </a:prstGeom>
          <a:noFill/>
        </p:spPr>
        <p:txBody>
          <a:bodyPr wrap="square" anchor="ctr" lIns="0" rIns="0" tIns="0" bIns="0">
            <a:spAutoFit/>
          </a:bodyPr>
          <a:lstStyle/>
          <a:p>
            <a:pPr algn="l"/>
            <a:r>
              <a:rPr sz="1200" b="0" i="0">
                <a:solidFill>
                  <a:srgbClr val="14141C"/>
                </a:solidFill>
                <a:latin typeface="Geist"/>
              </a:rPr>
              <a:t>In force Aug 2024, phased: prohibited practices Feb 2025, foundation-model rules Aug 2025, high-risk 2026 to 2027. Penalties up to 35M euros or 7 percent of global turnover.</a:t>
            </a:r>
          </a:p>
        </p:txBody>
      </p:sp>
      <p:sp>
        <p:nvSpPr>
          <p:cNvPr id="11" name="Rectangle 10"/>
          <p:cNvSpPr/>
          <p:nvPr/>
        </p:nvSpPr>
        <p:spPr>
          <a:xfrm>
            <a:off x="457200" y="2418588"/>
            <a:ext cx="11247120" cy="11109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418588"/>
            <a:ext cx="109728" cy="111099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418588"/>
            <a:ext cx="3200400" cy="1110995"/>
          </a:xfrm>
          <a:prstGeom prst="rect">
            <a:avLst/>
          </a:prstGeom>
          <a:noFill/>
        </p:spPr>
        <p:txBody>
          <a:bodyPr wrap="square" anchor="ctr" lIns="0" rIns="0" tIns="0" bIns="0">
            <a:spAutoFit/>
          </a:bodyPr>
          <a:lstStyle/>
          <a:p>
            <a:pPr algn="l"/>
            <a:r>
              <a:rPr sz="1400" b="1" i="0">
                <a:solidFill>
                  <a:srgbClr val="14141C"/>
                </a:solidFill>
                <a:latin typeface="Geist Mono"/>
              </a:rPr>
              <a:t>The softening</a:t>
            </a:r>
          </a:p>
        </p:txBody>
      </p:sp>
      <p:sp>
        <p:nvSpPr>
          <p:cNvPr id="14" name="TextBox 13"/>
          <p:cNvSpPr txBox="1"/>
          <p:nvPr/>
        </p:nvSpPr>
        <p:spPr>
          <a:xfrm>
            <a:off x="4114800" y="2528316"/>
            <a:ext cx="7315200" cy="891539"/>
          </a:xfrm>
          <a:prstGeom prst="rect">
            <a:avLst/>
          </a:prstGeom>
          <a:noFill/>
        </p:spPr>
        <p:txBody>
          <a:bodyPr wrap="square" anchor="ctr" lIns="0" rIns="0" tIns="0" bIns="0">
            <a:spAutoFit/>
          </a:bodyPr>
          <a:lstStyle/>
          <a:p>
            <a:pPr algn="l"/>
            <a:r>
              <a:rPr sz="1200" b="0" i="0">
                <a:solidFill>
                  <a:srgbClr val="14141C"/>
                </a:solidFill>
                <a:latin typeface="Geist"/>
              </a:rPr>
              <a:t>The Nov 2025 Digital Omnibus delays high-risk rules to 2027 and 2028 under competitiveness pressure; the separate AI Liability Directive was scrapped.</a:t>
            </a:r>
          </a:p>
        </p:txBody>
      </p:sp>
      <p:sp>
        <p:nvSpPr>
          <p:cNvPr id="15" name="Rectangle 14"/>
          <p:cNvSpPr/>
          <p:nvPr/>
        </p:nvSpPr>
        <p:spPr>
          <a:xfrm>
            <a:off x="457200" y="3785615"/>
            <a:ext cx="11247120" cy="11109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85615"/>
            <a:ext cx="109728" cy="111099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785615"/>
            <a:ext cx="3200400" cy="1110995"/>
          </a:xfrm>
          <a:prstGeom prst="rect">
            <a:avLst/>
          </a:prstGeom>
          <a:noFill/>
        </p:spPr>
        <p:txBody>
          <a:bodyPr wrap="square" anchor="ctr" lIns="0" rIns="0" tIns="0" bIns="0">
            <a:spAutoFit/>
          </a:bodyPr>
          <a:lstStyle/>
          <a:p>
            <a:pPr algn="l"/>
            <a:r>
              <a:rPr sz="1400" b="1" i="0">
                <a:solidFill>
                  <a:srgbClr val="14141C"/>
                </a:solidFill>
                <a:latin typeface="Geist Mono"/>
              </a:rPr>
              <a:t>Regulates, does not build</a:t>
            </a:r>
          </a:p>
        </p:txBody>
      </p:sp>
      <p:sp>
        <p:nvSpPr>
          <p:cNvPr id="18" name="TextBox 17"/>
          <p:cNvSpPr txBox="1"/>
          <p:nvPr/>
        </p:nvSpPr>
        <p:spPr>
          <a:xfrm>
            <a:off x="4114800" y="3895344"/>
            <a:ext cx="7315200" cy="891539"/>
          </a:xfrm>
          <a:prstGeom prst="rect">
            <a:avLst/>
          </a:prstGeom>
          <a:noFill/>
        </p:spPr>
        <p:txBody>
          <a:bodyPr wrap="square" anchor="ctr" lIns="0" rIns="0" tIns="0" bIns="0">
            <a:spAutoFit/>
          </a:bodyPr>
          <a:lstStyle/>
          <a:p>
            <a:pPr algn="l"/>
            <a:r>
              <a:rPr sz="1200" b="0" i="0">
                <a:solidFill>
                  <a:srgbClr val="14141C"/>
                </a:solidFill>
                <a:latin typeface="Geist"/>
              </a:rPr>
              <a:t>Only 11 percent of EU firms use AI; 73 percent of foundation models are US-origin. Draghi: it is too late to build systemic challengers to US cloud.</a:t>
            </a:r>
          </a:p>
        </p:txBody>
      </p:sp>
      <p:sp>
        <p:nvSpPr>
          <p:cNvPr id="19" name="Rectangle 18"/>
          <p:cNvSpPr/>
          <p:nvPr/>
        </p:nvSpPr>
        <p:spPr>
          <a:xfrm>
            <a:off x="457200" y="5152644"/>
            <a:ext cx="11247120" cy="11109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152644"/>
            <a:ext cx="109728" cy="111099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152644"/>
            <a:ext cx="3200400" cy="1110995"/>
          </a:xfrm>
          <a:prstGeom prst="rect">
            <a:avLst/>
          </a:prstGeom>
          <a:noFill/>
        </p:spPr>
        <p:txBody>
          <a:bodyPr wrap="square" anchor="ctr" lIns="0" rIns="0" tIns="0" bIns="0">
            <a:spAutoFit/>
          </a:bodyPr>
          <a:lstStyle/>
          <a:p>
            <a:pPr algn="l"/>
            <a:r>
              <a:rPr sz="1400" b="1" i="0">
                <a:solidFill>
                  <a:srgbClr val="14141C"/>
                </a:solidFill>
                <a:latin typeface="Geist Mono"/>
              </a:rPr>
              <a:t>Sovereignty money</a:t>
            </a:r>
          </a:p>
        </p:txBody>
      </p:sp>
      <p:sp>
        <p:nvSpPr>
          <p:cNvPr id="22" name="TextBox 21"/>
          <p:cNvSpPr txBox="1"/>
          <p:nvPr/>
        </p:nvSpPr>
        <p:spPr>
          <a:xfrm>
            <a:off x="4114800" y="5262372"/>
            <a:ext cx="7315200" cy="891539"/>
          </a:xfrm>
          <a:prstGeom prst="rect">
            <a:avLst/>
          </a:prstGeom>
          <a:noFill/>
        </p:spPr>
        <p:txBody>
          <a:bodyPr wrap="square" anchor="ctr" lIns="0" rIns="0" tIns="0" bIns="0">
            <a:spAutoFit/>
          </a:bodyPr>
          <a:lstStyle/>
          <a:p>
            <a:pPr algn="l"/>
            <a:r>
              <a:rPr sz="1200" b="0" i="0">
                <a:solidFill>
                  <a:srgbClr val="14141C"/>
                </a:solidFill>
                <a:latin typeface="Geist"/>
              </a:rPr>
              <a:t>InvestAI aims to mobilize 200B euros and build AI gigafactories, but ~90 percent of EU digital infrastructure is foreign-controlled.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China: vertical rules and alignment to state values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11247120" cy="11109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109728" cy="111099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051560"/>
            <a:ext cx="3200400" cy="1110995"/>
          </a:xfrm>
          <a:prstGeom prst="rect">
            <a:avLst/>
          </a:prstGeom>
          <a:noFill/>
        </p:spPr>
        <p:txBody>
          <a:bodyPr wrap="square" anchor="ctr" lIns="0" rIns="0" tIns="0" bIns="0">
            <a:spAutoFit/>
          </a:bodyPr>
          <a:lstStyle/>
          <a:p>
            <a:pPr algn="l"/>
            <a:r>
              <a:rPr sz="1400" b="1" i="0">
                <a:solidFill>
                  <a:srgbClr val="14141C"/>
                </a:solidFill>
                <a:latin typeface="Geist Mono"/>
              </a:rPr>
              <a:t>Vertical, not omnibus</a:t>
            </a:r>
          </a:p>
        </p:txBody>
      </p:sp>
      <p:sp>
        <p:nvSpPr>
          <p:cNvPr id="10" name="TextBox 9"/>
          <p:cNvSpPr txBox="1"/>
          <p:nvPr/>
        </p:nvSpPr>
        <p:spPr>
          <a:xfrm>
            <a:off x="4114800" y="1161288"/>
            <a:ext cx="7315200" cy="891539"/>
          </a:xfrm>
          <a:prstGeom prst="rect">
            <a:avLst/>
          </a:prstGeom>
          <a:noFill/>
        </p:spPr>
        <p:txBody>
          <a:bodyPr wrap="square" anchor="ctr" lIns="0" rIns="0" tIns="0" bIns="0">
            <a:spAutoFit/>
          </a:bodyPr>
          <a:lstStyle/>
          <a:p>
            <a:pPr algn="l"/>
            <a:r>
              <a:rPr sz="1200" b="0" i="0">
                <a:solidFill>
                  <a:srgbClr val="14141C"/>
                </a:solidFill>
                <a:latin typeface="Geist"/>
              </a:rPr>
              <a:t>No single AI law; iterative ministry rules. The 2023 Interim Measures govern public GenAI; 748 services were filed with regulators by Dec 2025.</a:t>
            </a:r>
          </a:p>
        </p:txBody>
      </p:sp>
      <p:sp>
        <p:nvSpPr>
          <p:cNvPr id="11" name="Rectangle 10"/>
          <p:cNvSpPr/>
          <p:nvPr/>
        </p:nvSpPr>
        <p:spPr>
          <a:xfrm>
            <a:off x="457200" y="2418588"/>
            <a:ext cx="11247120" cy="11109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418588"/>
            <a:ext cx="109728" cy="111099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418588"/>
            <a:ext cx="3200400" cy="1110995"/>
          </a:xfrm>
          <a:prstGeom prst="rect">
            <a:avLst/>
          </a:prstGeom>
          <a:noFill/>
        </p:spPr>
        <p:txBody>
          <a:bodyPr wrap="square" anchor="ctr" lIns="0" rIns="0" tIns="0" bIns="0">
            <a:spAutoFit/>
          </a:bodyPr>
          <a:lstStyle/>
          <a:p>
            <a:pPr algn="l"/>
            <a:r>
              <a:rPr sz="1400" b="1" i="0">
                <a:solidFill>
                  <a:srgbClr val="14141C"/>
                </a:solidFill>
                <a:latin typeface="Geist Mono"/>
              </a:rPr>
              <a:t>Mandatory labeling</a:t>
            </a:r>
          </a:p>
        </p:txBody>
      </p:sp>
      <p:sp>
        <p:nvSpPr>
          <p:cNvPr id="14" name="TextBox 13"/>
          <p:cNvSpPr txBox="1"/>
          <p:nvPr/>
        </p:nvSpPr>
        <p:spPr>
          <a:xfrm>
            <a:off x="4114800" y="2528316"/>
            <a:ext cx="7315200" cy="891539"/>
          </a:xfrm>
          <a:prstGeom prst="rect">
            <a:avLst/>
          </a:prstGeom>
          <a:noFill/>
        </p:spPr>
        <p:txBody>
          <a:bodyPr wrap="square" anchor="ctr" lIns="0" rIns="0" tIns="0" bIns="0">
            <a:spAutoFit/>
          </a:bodyPr>
          <a:lstStyle/>
          <a:p>
            <a:pPr algn="l"/>
            <a:r>
              <a:rPr sz="1200" b="0" i="0">
                <a:solidFill>
                  <a:srgbClr val="14141C"/>
                </a:solidFill>
                <a:latin typeface="Geist"/>
              </a:rPr>
              <a:t>Since Sept 1 2025, all AI-generated content must carry explicit and hidden (metadata) labels.</a:t>
            </a:r>
          </a:p>
        </p:txBody>
      </p:sp>
      <p:sp>
        <p:nvSpPr>
          <p:cNvPr id="15" name="Rectangle 14"/>
          <p:cNvSpPr/>
          <p:nvPr/>
        </p:nvSpPr>
        <p:spPr>
          <a:xfrm>
            <a:off x="457200" y="3785615"/>
            <a:ext cx="11247120" cy="11109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85615"/>
            <a:ext cx="109728" cy="111099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785615"/>
            <a:ext cx="3200400" cy="1110995"/>
          </a:xfrm>
          <a:prstGeom prst="rect">
            <a:avLst/>
          </a:prstGeom>
          <a:noFill/>
        </p:spPr>
        <p:txBody>
          <a:bodyPr wrap="square" anchor="ctr" lIns="0" rIns="0" tIns="0" bIns="0">
            <a:spAutoFit/>
          </a:bodyPr>
          <a:lstStyle/>
          <a:p>
            <a:pPr algn="l"/>
            <a:r>
              <a:rPr sz="1400" b="1" i="0">
                <a:solidFill>
                  <a:srgbClr val="14141C"/>
                </a:solidFill>
                <a:latin typeface="Geist Mono"/>
              </a:rPr>
              <a:t>Aligned to state values</a:t>
            </a:r>
          </a:p>
        </p:txBody>
      </p:sp>
      <p:sp>
        <p:nvSpPr>
          <p:cNvPr id="18" name="TextBox 17"/>
          <p:cNvSpPr txBox="1"/>
          <p:nvPr/>
        </p:nvSpPr>
        <p:spPr>
          <a:xfrm>
            <a:off x="4114800" y="3895344"/>
            <a:ext cx="7315200" cy="891539"/>
          </a:xfrm>
          <a:prstGeom prst="rect">
            <a:avLst/>
          </a:prstGeom>
          <a:noFill/>
        </p:spPr>
        <p:txBody>
          <a:bodyPr wrap="square" anchor="ctr" lIns="0" rIns="0" tIns="0" bIns="0">
            <a:spAutoFit/>
          </a:bodyPr>
          <a:lstStyle/>
          <a:p>
            <a:pPr algn="l"/>
            <a:r>
              <a:rPr sz="1200" b="0" i="0">
                <a:solidFill>
                  <a:srgbClr val="14141C"/>
                </a:solidFill>
                <a:latin typeface="Geist"/>
              </a:rPr>
              <a:t>Models must uphold core socialist values; China dropped a comprehensive AI law from its 2025 agenda in favor of pilots and standards.</a:t>
            </a:r>
          </a:p>
        </p:txBody>
      </p:sp>
      <p:sp>
        <p:nvSpPr>
          <p:cNvPr id="19" name="Rectangle 18"/>
          <p:cNvSpPr/>
          <p:nvPr/>
        </p:nvSpPr>
        <p:spPr>
          <a:xfrm>
            <a:off x="457200" y="5152644"/>
            <a:ext cx="11247120" cy="11109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152644"/>
            <a:ext cx="109728" cy="111099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152644"/>
            <a:ext cx="3200400" cy="1110995"/>
          </a:xfrm>
          <a:prstGeom prst="rect">
            <a:avLst/>
          </a:prstGeom>
          <a:noFill/>
        </p:spPr>
        <p:txBody>
          <a:bodyPr wrap="square" anchor="ctr" lIns="0" rIns="0" tIns="0" bIns="0">
            <a:spAutoFit/>
          </a:bodyPr>
          <a:lstStyle/>
          <a:p>
            <a:pPr algn="l"/>
            <a:r>
              <a:rPr sz="1400" b="1" i="0">
                <a:solidFill>
                  <a:srgbClr val="14141C"/>
                </a:solidFill>
                <a:latin typeface="Geist Mono"/>
              </a:rPr>
              <a:t>Governance offensive</a:t>
            </a:r>
          </a:p>
        </p:txBody>
      </p:sp>
      <p:sp>
        <p:nvSpPr>
          <p:cNvPr id="22" name="TextBox 21"/>
          <p:cNvSpPr txBox="1"/>
          <p:nvPr/>
        </p:nvSpPr>
        <p:spPr>
          <a:xfrm>
            <a:off x="4114800" y="5262372"/>
            <a:ext cx="7315200" cy="891539"/>
          </a:xfrm>
          <a:prstGeom prst="rect">
            <a:avLst/>
          </a:prstGeom>
          <a:noFill/>
        </p:spPr>
        <p:txBody>
          <a:bodyPr wrap="square" anchor="ctr" lIns="0" rIns="0" tIns="0" bIns="0">
            <a:spAutoFit/>
          </a:bodyPr>
          <a:lstStyle/>
          <a:p>
            <a:pPr algn="l"/>
            <a:r>
              <a:rPr sz="1200" b="0" i="0">
                <a:solidFill>
                  <a:srgbClr val="14141C"/>
                </a:solidFill>
                <a:latin typeface="Geist"/>
              </a:rPr>
              <a:t>At the 2025 World AI Conference, Beijing proposed a World AI Cooperation Organization, courting the Global South against US go-it-alone policy.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Asia’s regulatory split</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11247120" cy="8961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109728" cy="896111"/>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051560"/>
            <a:ext cx="2011680" cy="896111"/>
          </a:xfrm>
          <a:prstGeom prst="rect">
            <a:avLst/>
          </a:prstGeom>
          <a:noFill/>
        </p:spPr>
        <p:txBody>
          <a:bodyPr wrap="square" anchor="ctr" lIns="0" rIns="0" tIns="0" bIns="0">
            <a:spAutoFit/>
          </a:bodyPr>
          <a:lstStyle/>
          <a:p>
            <a:pPr algn="l"/>
            <a:r>
              <a:rPr sz="1500" b="1" i="0">
                <a:solidFill>
                  <a:srgbClr val="14141C"/>
                </a:solidFill>
                <a:latin typeface="Geist Mono"/>
              </a:rPr>
              <a:t>China</a:t>
            </a:r>
          </a:p>
        </p:txBody>
      </p:sp>
      <p:sp>
        <p:nvSpPr>
          <p:cNvPr id="10" name="TextBox 9"/>
          <p:cNvSpPr txBox="1"/>
          <p:nvPr/>
        </p:nvSpPr>
        <p:spPr>
          <a:xfrm>
            <a:off x="2880360" y="1051560"/>
            <a:ext cx="2286000" cy="896111"/>
          </a:xfrm>
          <a:prstGeom prst="rect">
            <a:avLst/>
          </a:prstGeom>
          <a:noFill/>
        </p:spPr>
        <p:txBody>
          <a:bodyPr wrap="square" anchor="ctr" lIns="0" rIns="0" tIns="0" bIns="0">
            <a:spAutoFit/>
          </a:bodyPr>
          <a:lstStyle/>
          <a:p>
            <a:pPr algn="l"/>
            <a:r>
              <a:rPr sz="1300" b="1" i="0">
                <a:solidFill>
                  <a:srgbClr val="FF1493"/>
                </a:solidFill>
                <a:latin typeface="Geist Mono"/>
              </a:rPr>
              <a:t>State-vertical</a:t>
            </a:r>
          </a:p>
        </p:txBody>
      </p:sp>
      <p:sp>
        <p:nvSpPr>
          <p:cNvPr id="11" name="TextBox 10"/>
          <p:cNvSpPr txBox="1"/>
          <p:nvPr/>
        </p:nvSpPr>
        <p:spPr>
          <a:xfrm>
            <a:off x="5303520" y="1124712"/>
            <a:ext cx="6126480" cy="749807"/>
          </a:xfrm>
          <a:prstGeom prst="rect">
            <a:avLst/>
          </a:prstGeom>
          <a:noFill/>
        </p:spPr>
        <p:txBody>
          <a:bodyPr wrap="square" anchor="ctr" lIns="0" rIns="0" tIns="0" bIns="0">
            <a:spAutoFit/>
          </a:bodyPr>
          <a:lstStyle/>
          <a:p>
            <a:pPr algn="l"/>
            <a:r>
              <a:rPr sz="1200" b="0" i="0">
                <a:solidFill>
                  <a:srgbClr val="14141C"/>
                </a:solidFill>
                <a:latin typeface="Geist"/>
              </a:rPr>
              <a:t>Iterative ministry rules, AI-content labeling, alignment to state values. No omnibus law.</a:t>
            </a:r>
          </a:p>
        </p:txBody>
      </p:sp>
      <p:sp>
        <p:nvSpPr>
          <p:cNvPr id="12" name="Rectangle 11"/>
          <p:cNvSpPr/>
          <p:nvPr/>
        </p:nvSpPr>
        <p:spPr>
          <a:xfrm>
            <a:off x="457200" y="2130552"/>
            <a:ext cx="11247120" cy="8961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130552"/>
            <a:ext cx="109728" cy="896111"/>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30552"/>
            <a:ext cx="2011680" cy="896111"/>
          </a:xfrm>
          <a:prstGeom prst="rect">
            <a:avLst/>
          </a:prstGeom>
          <a:noFill/>
        </p:spPr>
        <p:txBody>
          <a:bodyPr wrap="square" anchor="ctr" lIns="0" rIns="0" tIns="0" bIns="0">
            <a:spAutoFit/>
          </a:bodyPr>
          <a:lstStyle/>
          <a:p>
            <a:pPr algn="l"/>
            <a:r>
              <a:rPr sz="1500" b="1" i="0">
                <a:solidFill>
                  <a:srgbClr val="14141C"/>
                </a:solidFill>
                <a:latin typeface="Geist Mono"/>
              </a:rPr>
              <a:t>South Korea</a:t>
            </a:r>
          </a:p>
        </p:txBody>
      </p:sp>
      <p:sp>
        <p:nvSpPr>
          <p:cNvPr id="15" name="TextBox 14"/>
          <p:cNvSpPr txBox="1"/>
          <p:nvPr/>
        </p:nvSpPr>
        <p:spPr>
          <a:xfrm>
            <a:off x="2880360" y="2130552"/>
            <a:ext cx="2286000" cy="896111"/>
          </a:xfrm>
          <a:prstGeom prst="rect">
            <a:avLst/>
          </a:prstGeom>
          <a:noFill/>
        </p:spPr>
        <p:txBody>
          <a:bodyPr wrap="square" anchor="ctr" lIns="0" rIns="0" tIns="0" bIns="0">
            <a:spAutoFit/>
          </a:bodyPr>
          <a:lstStyle/>
          <a:p>
            <a:pPr algn="l"/>
            <a:r>
              <a:rPr sz="1300" b="1" i="0">
                <a:solidFill>
                  <a:srgbClr val="1E3A8A"/>
                </a:solidFill>
                <a:latin typeface="Geist Mono"/>
              </a:rPr>
              <a:t>Comprehensive</a:t>
            </a:r>
          </a:p>
        </p:txBody>
      </p:sp>
      <p:sp>
        <p:nvSpPr>
          <p:cNvPr id="16" name="TextBox 15"/>
          <p:cNvSpPr txBox="1"/>
          <p:nvPr/>
        </p:nvSpPr>
        <p:spPr>
          <a:xfrm>
            <a:off x="5303520" y="2203704"/>
            <a:ext cx="6126480" cy="749807"/>
          </a:xfrm>
          <a:prstGeom prst="rect">
            <a:avLst/>
          </a:prstGeom>
          <a:noFill/>
        </p:spPr>
        <p:txBody>
          <a:bodyPr wrap="square" anchor="ctr" lIns="0" rIns="0" tIns="0" bIns="0">
            <a:spAutoFit/>
          </a:bodyPr>
          <a:lstStyle/>
          <a:p>
            <a:pPr algn="l"/>
            <a:r>
              <a:rPr sz="1200" b="0" i="0">
                <a:solidFill>
                  <a:srgbClr val="14141C"/>
                </a:solidFill>
                <a:latin typeface="Geist"/>
              </a:rPr>
              <a:t>AI Basic Act (effective Jan 2026), the 2nd after the EU, but far lighter (fines cap ~$21k).</a:t>
            </a:r>
          </a:p>
        </p:txBody>
      </p:sp>
      <p:sp>
        <p:nvSpPr>
          <p:cNvPr id="17" name="Rectangle 16"/>
          <p:cNvSpPr/>
          <p:nvPr/>
        </p:nvSpPr>
        <p:spPr>
          <a:xfrm>
            <a:off x="457200" y="3209544"/>
            <a:ext cx="11247120" cy="8961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209544"/>
            <a:ext cx="109728" cy="896111"/>
          </a:xfrm>
          <a:prstGeom prst="rect">
            <a:avLst/>
          </a:prstGeom>
          <a:solidFill>
            <a:srgbClr val="115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209544"/>
            <a:ext cx="2011680" cy="896111"/>
          </a:xfrm>
          <a:prstGeom prst="rect">
            <a:avLst/>
          </a:prstGeom>
          <a:noFill/>
        </p:spPr>
        <p:txBody>
          <a:bodyPr wrap="square" anchor="ctr" lIns="0" rIns="0" tIns="0" bIns="0">
            <a:spAutoFit/>
          </a:bodyPr>
          <a:lstStyle/>
          <a:p>
            <a:pPr algn="l"/>
            <a:r>
              <a:rPr sz="1500" b="1" i="0">
                <a:solidFill>
                  <a:srgbClr val="14141C"/>
                </a:solidFill>
                <a:latin typeface="Geist Mono"/>
              </a:rPr>
              <a:t>Japan</a:t>
            </a:r>
          </a:p>
        </p:txBody>
      </p:sp>
      <p:sp>
        <p:nvSpPr>
          <p:cNvPr id="20" name="TextBox 19"/>
          <p:cNvSpPr txBox="1"/>
          <p:nvPr/>
        </p:nvSpPr>
        <p:spPr>
          <a:xfrm>
            <a:off x="2880360" y="3209544"/>
            <a:ext cx="2286000" cy="896111"/>
          </a:xfrm>
          <a:prstGeom prst="rect">
            <a:avLst/>
          </a:prstGeom>
          <a:noFill/>
        </p:spPr>
        <p:txBody>
          <a:bodyPr wrap="square" anchor="ctr" lIns="0" rIns="0" tIns="0" bIns="0">
            <a:spAutoFit/>
          </a:bodyPr>
          <a:lstStyle/>
          <a:p>
            <a:pPr algn="l"/>
            <a:r>
              <a:rPr sz="1300" b="1" i="0">
                <a:solidFill>
                  <a:srgbClr val="115E59"/>
                </a:solidFill>
                <a:latin typeface="Geist Mono"/>
              </a:rPr>
              <a:t>Innovation-first</a:t>
            </a:r>
          </a:p>
        </p:txBody>
      </p:sp>
      <p:sp>
        <p:nvSpPr>
          <p:cNvPr id="21" name="TextBox 20"/>
          <p:cNvSpPr txBox="1"/>
          <p:nvPr/>
        </p:nvSpPr>
        <p:spPr>
          <a:xfrm>
            <a:off x="5303520" y="3282696"/>
            <a:ext cx="6126480" cy="749807"/>
          </a:xfrm>
          <a:prstGeom prst="rect">
            <a:avLst/>
          </a:prstGeom>
          <a:noFill/>
        </p:spPr>
        <p:txBody>
          <a:bodyPr wrap="square" anchor="ctr" lIns="0" rIns="0" tIns="0" bIns="0">
            <a:spAutoFit/>
          </a:bodyPr>
          <a:lstStyle/>
          <a:p>
            <a:pPr algn="l"/>
            <a:r>
              <a:rPr sz="1200" b="0" i="0">
                <a:solidFill>
                  <a:srgbClr val="14141C"/>
                </a:solidFill>
                <a:latin typeface="Geist"/>
              </a:rPr>
              <a:t>AI Promotion Act (2025): no penalties, guidance and name-and-shame only.</a:t>
            </a:r>
          </a:p>
        </p:txBody>
      </p:sp>
      <p:sp>
        <p:nvSpPr>
          <p:cNvPr id="22" name="Rectangle 21"/>
          <p:cNvSpPr/>
          <p:nvPr/>
        </p:nvSpPr>
        <p:spPr>
          <a:xfrm>
            <a:off x="457200" y="4288536"/>
            <a:ext cx="11247120" cy="8961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288536"/>
            <a:ext cx="109728" cy="896111"/>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4288536"/>
            <a:ext cx="2011680" cy="896111"/>
          </a:xfrm>
          <a:prstGeom prst="rect">
            <a:avLst/>
          </a:prstGeom>
          <a:noFill/>
        </p:spPr>
        <p:txBody>
          <a:bodyPr wrap="square" anchor="ctr" lIns="0" rIns="0" tIns="0" bIns="0">
            <a:spAutoFit/>
          </a:bodyPr>
          <a:lstStyle/>
          <a:p>
            <a:pPr algn="l"/>
            <a:r>
              <a:rPr sz="1500" b="1" i="0">
                <a:solidFill>
                  <a:srgbClr val="14141C"/>
                </a:solidFill>
                <a:latin typeface="Geist Mono"/>
              </a:rPr>
              <a:t>India</a:t>
            </a:r>
          </a:p>
        </p:txBody>
      </p:sp>
      <p:sp>
        <p:nvSpPr>
          <p:cNvPr id="25" name="TextBox 24"/>
          <p:cNvSpPr txBox="1"/>
          <p:nvPr/>
        </p:nvSpPr>
        <p:spPr>
          <a:xfrm>
            <a:off x="2880360" y="4288536"/>
            <a:ext cx="2286000" cy="896111"/>
          </a:xfrm>
          <a:prstGeom prst="rect">
            <a:avLst/>
          </a:prstGeom>
          <a:noFill/>
        </p:spPr>
        <p:txBody>
          <a:bodyPr wrap="square" anchor="ctr" lIns="0" rIns="0" tIns="0" bIns="0">
            <a:spAutoFit/>
          </a:bodyPr>
          <a:lstStyle/>
          <a:p>
            <a:pPr algn="l"/>
            <a:r>
              <a:rPr sz="1300" b="1" i="0">
                <a:solidFill>
                  <a:srgbClr val="9A3412"/>
                </a:solidFill>
                <a:latin typeface="Geist Mono"/>
              </a:rPr>
              <a:t>Light-touch</a:t>
            </a:r>
          </a:p>
        </p:txBody>
      </p:sp>
      <p:sp>
        <p:nvSpPr>
          <p:cNvPr id="26" name="TextBox 25"/>
          <p:cNvSpPr txBox="1"/>
          <p:nvPr/>
        </p:nvSpPr>
        <p:spPr>
          <a:xfrm>
            <a:off x="5303520" y="4361688"/>
            <a:ext cx="6126480" cy="749807"/>
          </a:xfrm>
          <a:prstGeom prst="rect">
            <a:avLst/>
          </a:prstGeom>
          <a:noFill/>
        </p:spPr>
        <p:txBody>
          <a:bodyPr wrap="square" anchor="ctr" lIns="0" rIns="0" tIns="0" bIns="0">
            <a:spAutoFit/>
          </a:bodyPr>
          <a:lstStyle/>
          <a:p>
            <a:pPr algn="l"/>
            <a:r>
              <a:rPr sz="1200" b="0" i="0">
                <a:solidFill>
                  <a:srgbClr val="14141C"/>
                </a:solidFill>
                <a:latin typeface="Geist"/>
              </a:rPr>
              <a:t>IndiaAI Governance Guidelines (Nov 2025); no standalone AI law, existing statutes adapted.</a:t>
            </a:r>
          </a:p>
        </p:txBody>
      </p:sp>
      <p:sp>
        <p:nvSpPr>
          <p:cNvPr id="27" name="Rectangle 26"/>
          <p:cNvSpPr/>
          <p:nvPr/>
        </p:nvSpPr>
        <p:spPr>
          <a:xfrm>
            <a:off x="457200" y="5367528"/>
            <a:ext cx="11247120" cy="8961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5367528"/>
            <a:ext cx="109728" cy="896111"/>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5367528"/>
            <a:ext cx="2011680" cy="896111"/>
          </a:xfrm>
          <a:prstGeom prst="rect">
            <a:avLst/>
          </a:prstGeom>
          <a:noFill/>
        </p:spPr>
        <p:txBody>
          <a:bodyPr wrap="square" anchor="ctr" lIns="0" rIns="0" tIns="0" bIns="0">
            <a:spAutoFit/>
          </a:bodyPr>
          <a:lstStyle/>
          <a:p>
            <a:pPr algn="l"/>
            <a:r>
              <a:rPr sz="1500" b="1" i="0">
                <a:solidFill>
                  <a:srgbClr val="14141C"/>
                </a:solidFill>
                <a:latin typeface="Geist Mono"/>
              </a:rPr>
              <a:t>Singapore</a:t>
            </a:r>
          </a:p>
        </p:txBody>
      </p:sp>
      <p:sp>
        <p:nvSpPr>
          <p:cNvPr id="30" name="TextBox 29"/>
          <p:cNvSpPr txBox="1"/>
          <p:nvPr/>
        </p:nvSpPr>
        <p:spPr>
          <a:xfrm>
            <a:off x="2880360" y="5367528"/>
            <a:ext cx="2286000" cy="896111"/>
          </a:xfrm>
          <a:prstGeom prst="rect">
            <a:avLst/>
          </a:prstGeom>
          <a:noFill/>
        </p:spPr>
        <p:txBody>
          <a:bodyPr wrap="square" anchor="ctr" lIns="0" rIns="0" tIns="0" bIns="0">
            <a:spAutoFit/>
          </a:bodyPr>
          <a:lstStyle/>
          <a:p>
            <a:pPr algn="l"/>
            <a:r>
              <a:rPr sz="1300" b="1" i="0">
                <a:solidFill>
                  <a:srgbClr val="8A2BE2"/>
                </a:solidFill>
                <a:latin typeface="Geist Mono"/>
              </a:rPr>
              <a:t>Voluntary + tooling</a:t>
            </a:r>
          </a:p>
        </p:txBody>
      </p:sp>
      <p:sp>
        <p:nvSpPr>
          <p:cNvPr id="31" name="TextBox 30"/>
          <p:cNvSpPr txBox="1"/>
          <p:nvPr/>
        </p:nvSpPr>
        <p:spPr>
          <a:xfrm>
            <a:off x="5303520" y="5440680"/>
            <a:ext cx="6126480" cy="749807"/>
          </a:xfrm>
          <a:prstGeom prst="rect">
            <a:avLst/>
          </a:prstGeom>
          <a:noFill/>
        </p:spPr>
        <p:txBody>
          <a:bodyPr wrap="square" anchor="ctr" lIns="0" rIns="0" tIns="0" bIns="0">
            <a:spAutoFit/>
          </a:bodyPr>
          <a:lstStyle/>
          <a:p>
            <a:pPr algn="l"/>
            <a:r>
              <a:rPr sz="1200" b="0" i="0">
                <a:solidFill>
                  <a:srgbClr val="14141C"/>
                </a:solidFill>
                <a:latin typeface="Geist"/>
              </a:rPr>
              <a:t>Model AI Governance Framework + AI Verify, the first government AI-testing toolkit.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Regulatory philosophy, side by side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3566160" cy="4069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66160" cy="5486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051560"/>
            <a:ext cx="3346704" cy="548640"/>
          </a:xfrm>
          <a:prstGeom prst="rect">
            <a:avLst/>
          </a:prstGeom>
          <a:noFill/>
        </p:spPr>
        <p:txBody>
          <a:bodyPr wrap="square" anchor="ctr" lIns="0" rIns="0" tIns="0" bIns="0">
            <a:spAutoFit/>
          </a:bodyPr>
          <a:lstStyle/>
          <a:p>
            <a:pPr algn="ctr"/>
            <a:r>
              <a:rPr sz="1400" b="1" i="0">
                <a:solidFill>
                  <a:srgbClr val="14141C"/>
                </a:solidFill>
                <a:latin typeface="Geist Mono"/>
              </a:rPr>
              <a:t>LIGHT-TOUCH</a:t>
            </a:r>
          </a:p>
        </p:txBody>
      </p:sp>
      <p:sp>
        <p:nvSpPr>
          <p:cNvPr id="10" name="TextBox 9"/>
          <p:cNvSpPr txBox="1"/>
          <p:nvPr/>
        </p:nvSpPr>
        <p:spPr>
          <a:xfrm>
            <a:off x="676656" y="1764792"/>
            <a:ext cx="3127248" cy="457200"/>
          </a:xfrm>
          <a:prstGeom prst="rect">
            <a:avLst/>
          </a:prstGeom>
          <a:noFill/>
        </p:spPr>
        <p:txBody>
          <a:bodyPr wrap="square" anchor="t" lIns="0" rIns="0" tIns="0" bIns="0">
            <a:spAutoFit/>
          </a:bodyPr>
          <a:lstStyle/>
          <a:p>
            <a:pPr algn="l"/>
            <a:r>
              <a:rPr sz="1400" b="1" i="0">
                <a:solidFill>
                  <a:srgbClr val="14141C"/>
                </a:solidFill>
                <a:latin typeface="Geist Mono"/>
              </a:rPr>
              <a:t>US, UK, Japan, India</a:t>
            </a:r>
          </a:p>
        </p:txBody>
      </p:sp>
      <p:sp>
        <p:nvSpPr>
          <p:cNvPr id="11" name="TextBox 10"/>
          <p:cNvSpPr txBox="1"/>
          <p:nvPr/>
        </p:nvSpPr>
        <p:spPr>
          <a:xfrm>
            <a:off x="676656" y="2286000"/>
            <a:ext cx="3127248" cy="2697479"/>
          </a:xfrm>
          <a:prstGeom prst="rect">
            <a:avLst/>
          </a:prstGeom>
          <a:noFill/>
        </p:spPr>
        <p:txBody>
          <a:bodyPr wrap="square" anchor="t" lIns="0" rIns="0" tIns="0" bIns="0">
            <a:spAutoFit/>
          </a:bodyPr>
          <a:lstStyle/>
          <a:p>
            <a:pPr algn="l"/>
            <a:r>
              <a:rPr sz="1250" b="0" i="0">
                <a:solidFill>
                  <a:srgbClr val="14141C"/>
                </a:solidFill>
                <a:latin typeface="Geist"/>
              </a:rPr>
              <a:t>Innovation first. Few or no penalties. Rules follow harm, if at all.</a:t>
            </a:r>
          </a:p>
        </p:txBody>
      </p:sp>
      <p:sp>
        <p:nvSpPr>
          <p:cNvPr id="12" name="Rectangle 11"/>
          <p:cNvSpPr/>
          <p:nvPr/>
        </p:nvSpPr>
        <p:spPr>
          <a:xfrm>
            <a:off x="4297680" y="1051560"/>
            <a:ext cx="3566160" cy="4069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051560"/>
            <a:ext cx="3566160" cy="54864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1051560"/>
            <a:ext cx="3346704" cy="548640"/>
          </a:xfrm>
          <a:prstGeom prst="rect">
            <a:avLst/>
          </a:prstGeom>
          <a:noFill/>
        </p:spPr>
        <p:txBody>
          <a:bodyPr wrap="square" anchor="ctr" lIns="0" rIns="0" tIns="0" bIns="0">
            <a:spAutoFit/>
          </a:bodyPr>
          <a:lstStyle/>
          <a:p>
            <a:pPr algn="ctr"/>
            <a:r>
              <a:rPr sz="1400" b="1" i="0">
                <a:solidFill>
                  <a:srgbClr val="14141C"/>
                </a:solidFill>
                <a:latin typeface="Geist Mono"/>
              </a:rPr>
              <a:t>COMPREHENSIVE</a:t>
            </a:r>
          </a:p>
        </p:txBody>
      </p:sp>
      <p:sp>
        <p:nvSpPr>
          <p:cNvPr id="15" name="TextBox 14"/>
          <p:cNvSpPr txBox="1"/>
          <p:nvPr/>
        </p:nvSpPr>
        <p:spPr>
          <a:xfrm>
            <a:off x="4517136" y="1764792"/>
            <a:ext cx="3127248" cy="457200"/>
          </a:xfrm>
          <a:prstGeom prst="rect">
            <a:avLst/>
          </a:prstGeom>
          <a:noFill/>
        </p:spPr>
        <p:txBody>
          <a:bodyPr wrap="square" anchor="t" lIns="0" rIns="0" tIns="0" bIns="0">
            <a:spAutoFit/>
          </a:bodyPr>
          <a:lstStyle/>
          <a:p>
            <a:pPr algn="l"/>
            <a:r>
              <a:rPr sz="1400" b="1" i="0">
                <a:solidFill>
                  <a:srgbClr val="14141C"/>
                </a:solidFill>
                <a:latin typeface="Geist Mono"/>
              </a:rPr>
              <a:t>EU, South Korea</a:t>
            </a:r>
          </a:p>
        </p:txBody>
      </p:sp>
      <p:sp>
        <p:nvSpPr>
          <p:cNvPr id="16" name="TextBox 15"/>
          <p:cNvSpPr txBox="1"/>
          <p:nvPr/>
        </p:nvSpPr>
        <p:spPr>
          <a:xfrm>
            <a:off x="4517136" y="2286000"/>
            <a:ext cx="3127248" cy="2697479"/>
          </a:xfrm>
          <a:prstGeom prst="rect">
            <a:avLst/>
          </a:prstGeom>
          <a:noFill/>
        </p:spPr>
        <p:txBody>
          <a:bodyPr wrap="square" anchor="t" lIns="0" rIns="0" tIns="0" bIns="0">
            <a:spAutoFit/>
          </a:bodyPr>
          <a:lstStyle/>
          <a:p>
            <a:pPr algn="l"/>
            <a:r>
              <a:rPr sz="1250" b="0" i="0">
                <a:solidFill>
                  <a:srgbClr val="14141C"/>
                </a:solidFill>
                <a:latin typeface="Geist"/>
              </a:rPr>
              <a:t>One horizontal law, risk-tiered, ex-ante. Heaviest compliance load.</a:t>
            </a:r>
          </a:p>
        </p:txBody>
      </p:sp>
      <p:sp>
        <p:nvSpPr>
          <p:cNvPr id="17" name="Rectangle 16"/>
          <p:cNvSpPr/>
          <p:nvPr/>
        </p:nvSpPr>
        <p:spPr>
          <a:xfrm>
            <a:off x="8138160" y="1051560"/>
            <a:ext cx="3566160" cy="4069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051560"/>
            <a:ext cx="3566160" cy="5486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1051560"/>
            <a:ext cx="3346704" cy="548640"/>
          </a:xfrm>
          <a:prstGeom prst="rect">
            <a:avLst/>
          </a:prstGeom>
          <a:noFill/>
        </p:spPr>
        <p:txBody>
          <a:bodyPr wrap="square" anchor="ctr" lIns="0" rIns="0" tIns="0" bIns="0">
            <a:spAutoFit/>
          </a:bodyPr>
          <a:lstStyle/>
          <a:p>
            <a:pPr algn="ctr"/>
            <a:r>
              <a:rPr sz="1400" b="1" i="0">
                <a:solidFill>
                  <a:srgbClr val="FFFFFF"/>
                </a:solidFill>
                <a:latin typeface="Geist Mono"/>
              </a:rPr>
              <a:t>STATE-VERTICAL</a:t>
            </a:r>
          </a:p>
        </p:txBody>
      </p:sp>
      <p:sp>
        <p:nvSpPr>
          <p:cNvPr id="20" name="TextBox 19"/>
          <p:cNvSpPr txBox="1"/>
          <p:nvPr/>
        </p:nvSpPr>
        <p:spPr>
          <a:xfrm>
            <a:off x="8357616" y="1764792"/>
            <a:ext cx="3127248" cy="457200"/>
          </a:xfrm>
          <a:prstGeom prst="rect">
            <a:avLst/>
          </a:prstGeom>
          <a:noFill/>
        </p:spPr>
        <p:txBody>
          <a:bodyPr wrap="square" anchor="t" lIns="0" rIns="0" tIns="0" bIns="0">
            <a:spAutoFit/>
          </a:bodyPr>
          <a:lstStyle/>
          <a:p>
            <a:pPr algn="l"/>
            <a:r>
              <a:rPr sz="1400" b="1" i="0">
                <a:solidFill>
                  <a:srgbClr val="14141C"/>
                </a:solidFill>
                <a:latin typeface="Geist Mono"/>
              </a:rPr>
              <a:t>China</a:t>
            </a:r>
          </a:p>
        </p:txBody>
      </p:sp>
      <p:sp>
        <p:nvSpPr>
          <p:cNvPr id="21" name="TextBox 20"/>
          <p:cNvSpPr txBox="1"/>
          <p:nvPr/>
        </p:nvSpPr>
        <p:spPr>
          <a:xfrm>
            <a:off x="8357616" y="2286000"/>
            <a:ext cx="3127248" cy="2697479"/>
          </a:xfrm>
          <a:prstGeom prst="rect">
            <a:avLst/>
          </a:prstGeom>
          <a:noFill/>
        </p:spPr>
        <p:txBody>
          <a:bodyPr wrap="square" anchor="t" lIns="0" rIns="0" tIns="0" bIns="0">
            <a:spAutoFit/>
          </a:bodyPr>
          <a:lstStyle/>
          <a:p>
            <a:pPr algn="l"/>
            <a:r>
              <a:rPr sz="1250" b="0" i="0">
                <a:solidFill>
                  <a:srgbClr val="14141C"/>
                </a:solidFill>
                <a:latin typeface="Geist"/>
              </a:rPr>
              <a:t>Iterative sector rules + industrial policy + alignment to state values.</a:t>
            </a:r>
          </a:p>
        </p:txBody>
      </p:sp>
      <p:sp>
        <p:nvSpPr>
          <p:cNvPr id="22" name="Rectangle 21"/>
          <p:cNvSpPr/>
          <p:nvPr/>
        </p:nvSpPr>
        <p:spPr>
          <a:xfrm>
            <a:off x="457200" y="5394959"/>
            <a:ext cx="11247120" cy="8686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522975"/>
            <a:ext cx="10698480" cy="365760"/>
          </a:xfrm>
          <a:prstGeom prst="rect">
            <a:avLst/>
          </a:prstGeom>
          <a:noFill/>
        </p:spPr>
        <p:txBody>
          <a:bodyPr wrap="square" anchor="t" lIns="0" rIns="0" tIns="0" bIns="0">
            <a:spAutoFit/>
          </a:bodyPr>
          <a:lstStyle/>
          <a:p>
            <a:pPr algn="l"/>
            <a:r>
              <a:rPr sz="1300" b="1" i="0">
                <a:solidFill>
                  <a:srgbClr val="FFFFFF"/>
                </a:solidFill>
                <a:latin typeface="Geist Mono"/>
              </a:rPr>
              <a:t>ASIA SPLITS</a:t>
            </a:r>
          </a:p>
        </p:txBody>
      </p:sp>
      <p:sp>
        <p:nvSpPr>
          <p:cNvPr id="24" name="TextBox 23"/>
          <p:cNvSpPr txBox="1"/>
          <p:nvPr/>
        </p:nvSpPr>
        <p:spPr>
          <a:xfrm>
            <a:off x="731520" y="5852159"/>
            <a:ext cx="10698480" cy="320040"/>
          </a:xfrm>
          <a:prstGeom prst="rect">
            <a:avLst/>
          </a:prstGeom>
          <a:noFill/>
        </p:spPr>
        <p:txBody>
          <a:bodyPr wrap="square" anchor="t" lIns="0" rIns="0" tIns="0" bIns="0">
            <a:spAutoFit/>
          </a:bodyPr>
          <a:lstStyle/>
          <a:p>
            <a:pPr algn="l"/>
            <a:r>
              <a:rPr sz="1200" b="0" i="0">
                <a:solidFill>
                  <a:srgbClr val="FFFFFF"/>
                </a:solidFill>
                <a:latin typeface="Geist"/>
              </a:rPr>
              <a:t>Japan: AI Promotion Act (2025), no penalties.   South Korea: AI Basic Act (effective Jan 2026), EU-style comprehensive.   India: light-touch + the IndiaAI Mission.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0C840"/>
                </a:solidFill>
                <a:latin typeface="Geist Mono"/>
              </a:rPr>
              <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GEOPOLITICS &amp; COMPUTE</a:t>
            </a:r>
          </a:p>
        </p:txBody>
      </p:sp>
      <p:sp>
        <p:nvSpPr>
          <p:cNvPr id="7" name="Rectangle 6"/>
          <p:cNvSpPr/>
          <p:nvPr/>
        </p:nvSpPr>
        <p:spPr>
          <a:xfrm>
            <a:off x="777240" y="5120640"/>
            <a:ext cx="1828800" cy="18288"/>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a:solidFill>
                  <a:srgbClr val="FF7F50"/>
                </a:solidFill>
                <a:latin typeface="Geist Mono"/>
              </a:rPr>
              <a:t>Curtis Chambers</a:t>
            </a:r>
            <a:r>
              <a:rPr sz="1100" b="1">
                <a:solidFill>
                  <a:srgbClr val="40E0D0"/>
                </a:solidFill>
                <a:latin typeface="Geist Mono"/>
              </a:rPr>
              <a:t>  ·  Jinchi Wei</a:t>
            </a:r>
          </a:p>
        </p:txBody>
      </p:sp>
      <p:sp>
        <p:nvSpPr>
          <p:cNvPr id="9" name="TextBox 8"/>
          <p:cNvSpPr txBox="1"/>
          <p:nvPr/>
        </p:nvSpPr>
        <p:spPr>
          <a:xfrm>
            <a:off x="3886200"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4114800"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CPH 200C · Computational Precision Health</a:t>
            </a:r>
          </a:p>
        </p:txBody>
      </p:sp>
      <p:sp>
        <p:nvSpPr>
          <p:cNvPr id="11" name="TextBox 10"/>
          <p:cNvSpPr txBox="1"/>
          <p:nvPr/>
        </p:nvSpPr>
        <p:spPr>
          <a:xfrm>
            <a:off x="8238744"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8467344"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Three Governing Systems for 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chip war, 2022 to 2026</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pic>
        <p:nvPicPr>
          <p:cNvPr id="7" name="Picture 6" descr="chip_war_timeline.png"/>
          <p:cNvPicPr>
            <a:picLocks noChangeAspect="1"/>
          </p:cNvPicPr>
          <p:nvPr/>
        </p:nvPicPr>
        <p:blipFill>
          <a:blip r:embed="rId2"/>
          <a:stretch>
            <a:fillRect/>
          </a:stretch>
        </p:blipFill>
        <p:spPr>
          <a:xfrm>
            <a:off x="686643" y="1051560"/>
            <a:ext cx="10788232" cy="4846319"/>
          </a:xfrm>
          <a:prstGeom prst="rect">
            <a:avLst/>
          </a:prstGeom>
        </p:spPr>
      </p:pic>
      <p:sp>
        <p:nvSpPr>
          <p:cNvPr id="8" name="TextBox 7"/>
          <p:cNvSpPr txBox="1"/>
          <p:nvPr/>
        </p:nvSpPr>
        <p:spPr>
          <a:xfrm>
            <a:off x="457200" y="5952744"/>
            <a:ext cx="11247120" cy="292608"/>
          </a:xfrm>
          <a:prstGeom prst="rect">
            <a:avLst/>
          </a:prstGeom>
          <a:noFill/>
        </p:spPr>
        <p:txBody>
          <a:bodyPr wrap="square" anchor="t" lIns="0" rIns="0" tIns="0" bIns="0">
            <a:spAutoFit/>
          </a:bodyPr>
          <a:lstStyle/>
          <a:p>
            <a:pPr algn="ctr"/>
            <a:r>
              <a:rPr sz="1200" b="0" i="0">
                <a:solidFill>
                  <a:srgbClr val="555560"/>
                </a:solidFill>
                <a:latin typeface="Geist"/>
              </a:rPr>
              <a:t>Sources: BIS / Commerce rules, NVIDIA filings, Tom's Hardware. The US tightened for three years, abruptly reversed in 2025, and China decoupled regardless.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NVIDIA saga and China’s domestic stack</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546354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5463540" cy="56692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51560"/>
            <a:ext cx="5097780" cy="566928"/>
          </a:xfrm>
          <a:prstGeom prst="rect">
            <a:avLst/>
          </a:prstGeom>
          <a:noFill/>
        </p:spPr>
        <p:txBody>
          <a:bodyPr wrap="square" anchor="ctr" lIns="0" rIns="0" tIns="0" bIns="0">
            <a:spAutoFit/>
          </a:bodyPr>
          <a:lstStyle/>
          <a:p>
            <a:pPr algn="l"/>
            <a:r>
              <a:rPr sz="1400" b="1" i="0">
                <a:solidFill>
                  <a:srgbClr val="14141C"/>
                </a:solidFill>
                <a:latin typeface="Geist Mono"/>
              </a:rPr>
              <a:t>EXPORT CONTROLS + NVIDIA</a:t>
            </a:r>
          </a:p>
        </p:txBody>
      </p:sp>
      <p:sp>
        <p:nvSpPr>
          <p:cNvPr id="10" name="Rectangle 9"/>
          <p:cNvSpPr/>
          <p:nvPr/>
        </p:nvSpPr>
        <p:spPr>
          <a:xfrm>
            <a:off x="731520" y="1920239"/>
            <a:ext cx="118872" cy="118872"/>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1801367"/>
            <a:ext cx="4677156" cy="1365503"/>
          </a:xfrm>
          <a:prstGeom prst="rect">
            <a:avLst/>
          </a:prstGeom>
          <a:noFill/>
        </p:spPr>
        <p:txBody>
          <a:bodyPr wrap="square" anchor="t" lIns="0" rIns="0" tIns="0" bIns="0">
            <a:spAutoFit/>
          </a:bodyPr>
          <a:lstStyle/>
          <a:p>
            <a:pPr algn="l"/>
            <a:r>
              <a:rPr sz="1200" b="0" i="0">
                <a:solidFill>
                  <a:srgbClr val="14141C"/>
                </a:solidFill>
                <a:latin typeface="Geist"/>
              </a:rPr>
              <a:t>H20 banned Apr 2025 (~$5B NVIDIA charge), resumed Jul 2025 with a 15% cut of China revenue to the US government.</a:t>
            </a:r>
          </a:p>
        </p:txBody>
      </p:sp>
      <p:sp>
        <p:nvSpPr>
          <p:cNvPr id="12" name="Rectangle 11"/>
          <p:cNvSpPr/>
          <p:nvPr/>
        </p:nvSpPr>
        <p:spPr>
          <a:xfrm>
            <a:off x="731520" y="3331463"/>
            <a:ext cx="118872" cy="118872"/>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3212591"/>
            <a:ext cx="4677156" cy="1365503"/>
          </a:xfrm>
          <a:prstGeom prst="rect">
            <a:avLst/>
          </a:prstGeom>
          <a:noFill/>
        </p:spPr>
        <p:txBody>
          <a:bodyPr wrap="square" anchor="t" lIns="0" rIns="0" tIns="0" bIns="0">
            <a:spAutoFit/>
          </a:bodyPr>
          <a:lstStyle/>
          <a:p>
            <a:pPr algn="l"/>
            <a:r>
              <a:rPr sz="1200" b="0" i="0">
                <a:solidFill>
                  <a:srgbClr val="14141C"/>
                </a:solidFill>
                <a:latin typeface="Geist"/>
              </a:rPr>
              <a:t>H200 moved to case-by-case Jan 2026: 25% tariff, 50% volume cap, US testing.</a:t>
            </a:r>
          </a:p>
        </p:txBody>
      </p:sp>
      <p:sp>
        <p:nvSpPr>
          <p:cNvPr id="14" name="Rectangle 13"/>
          <p:cNvSpPr/>
          <p:nvPr/>
        </p:nvSpPr>
        <p:spPr>
          <a:xfrm>
            <a:off x="731520" y="4742687"/>
            <a:ext cx="118872" cy="118872"/>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4623815"/>
            <a:ext cx="4677156" cy="1365503"/>
          </a:xfrm>
          <a:prstGeom prst="rect">
            <a:avLst/>
          </a:prstGeom>
          <a:noFill/>
        </p:spPr>
        <p:txBody>
          <a:bodyPr wrap="square" anchor="t" lIns="0" rIns="0" tIns="0" bIns="0">
            <a:spAutoFit/>
          </a:bodyPr>
          <a:lstStyle/>
          <a:p>
            <a:pPr algn="l"/>
            <a:r>
              <a:rPr sz="1200" b="0" i="0">
                <a:solidFill>
                  <a:srgbClr val="14141C"/>
                </a:solidFill>
                <a:latin typeface="Geist"/>
              </a:rPr>
              <a:t>NVIDIA China share fell below 60%; the House AI Overwatch Act would bar Blackwell for two years.</a:t>
            </a:r>
          </a:p>
        </p:txBody>
      </p:sp>
      <p:sp>
        <p:nvSpPr>
          <p:cNvPr id="16" name="Rectangle 15"/>
          <p:cNvSpPr/>
          <p:nvPr/>
        </p:nvSpPr>
        <p:spPr>
          <a:xfrm>
            <a:off x="6240780" y="1051560"/>
            <a:ext cx="546354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0780" y="1051560"/>
            <a:ext cx="5463540" cy="56692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1948" y="1051560"/>
            <a:ext cx="5097780" cy="566928"/>
          </a:xfrm>
          <a:prstGeom prst="rect">
            <a:avLst/>
          </a:prstGeom>
          <a:noFill/>
        </p:spPr>
        <p:txBody>
          <a:bodyPr wrap="square" anchor="ctr" lIns="0" rIns="0" tIns="0" bIns="0">
            <a:spAutoFit/>
          </a:bodyPr>
          <a:lstStyle/>
          <a:p>
            <a:pPr algn="l"/>
            <a:r>
              <a:rPr sz="1400" b="1" i="0">
                <a:solidFill>
                  <a:srgbClr val="FFFFFF"/>
                </a:solidFill>
                <a:latin typeface="Geist Mono"/>
              </a:rPr>
              <a:t>CHINA'S DOMESTIC STACK</a:t>
            </a:r>
          </a:p>
        </p:txBody>
      </p:sp>
      <p:sp>
        <p:nvSpPr>
          <p:cNvPr id="19" name="Rectangle 18"/>
          <p:cNvSpPr/>
          <p:nvPr/>
        </p:nvSpPr>
        <p:spPr>
          <a:xfrm>
            <a:off x="6515100" y="1920239"/>
            <a:ext cx="118872" cy="118872"/>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71132" y="1801367"/>
            <a:ext cx="4677156" cy="1365503"/>
          </a:xfrm>
          <a:prstGeom prst="rect">
            <a:avLst/>
          </a:prstGeom>
          <a:noFill/>
        </p:spPr>
        <p:txBody>
          <a:bodyPr wrap="square" anchor="t" lIns="0" rIns="0" tIns="0" bIns="0">
            <a:spAutoFit/>
          </a:bodyPr>
          <a:lstStyle/>
          <a:p>
            <a:pPr algn="l"/>
            <a:r>
              <a:rPr sz="1200" b="0" i="0">
                <a:solidFill>
                  <a:srgbClr val="14141C"/>
                </a:solidFill>
                <a:latin typeface="Geist"/>
              </a:rPr>
              <a:t>Huawei Ascend 910C ~60% of an H100; CloudMatrix 384 links 384 chips to rival NVIDIA racks.</a:t>
            </a:r>
          </a:p>
        </p:txBody>
      </p:sp>
      <p:sp>
        <p:nvSpPr>
          <p:cNvPr id="21" name="Rectangle 20"/>
          <p:cNvSpPr/>
          <p:nvPr/>
        </p:nvSpPr>
        <p:spPr>
          <a:xfrm>
            <a:off x="6515100" y="3331463"/>
            <a:ext cx="118872" cy="118872"/>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71132" y="3212591"/>
            <a:ext cx="4677156" cy="1365503"/>
          </a:xfrm>
          <a:prstGeom prst="rect">
            <a:avLst/>
          </a:prstGeom>
          <a:noFill/>
        </p:spPr>
        <p:txBody>
          <a:bodyPr wrap="square" anchor="t" lIns="0" rIns="0" tIns="0" bIns="0">
            <a:spAutoFit/>
          </a:bodyPr>
          <a:lstStyle/>
          <a:p>
            <a:pPr algn="l"/>
            <a:r>
              <a:rPr sz="1200" b="0" i="0">
                <a:solidFill>
                  <a:srgbClr val="14141C"/>
                </a:solidFill>
                <a:latin typeface="Geist"/>
              </a:rPr>
              <a:t>Nine domestic chips put on the secure-and-reliable procurement list; state data centers must buy local.</a:t>
            </a:r>
          </a:p>
        </p:txBody>
      </p:sp>
      <p:sp>
        <p:nvSpPr>
          <p:cNvPr id="23" name="Rectangle 22"/>
          <p:cNvSpPr/>
          <p:nvPr/>
        </p:nvSpPr>
        <p:spPr>
          <a:xfrm>
            <a:off x="6515100" y="4742687"/>
            <a:ext cx="118872" cy="118872"/>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71132" y="4623815"/>
            <a:ext cx="4677156" cy="1365503"/>
          </a:xfrm>
          <a:prstGeom prst="rect">
            <a:avLst/>
          </a:prstGeom>
          <a:noFill/>
        </p:spPr>
        <p:txBody>
          <a:bodyPr wrap="square" anchor="t" lIns="0" rIns="0" tIns="0" bIns="0">
            <a:spAutoFit/>
          </a:bodyPr>
          <a:lstStyle/>
          <a:p>
            <a:pPr algn="l"/>
            <a:r>
              <a:rPr sz="1200" b="0" i="0">
                <a:solidFill>
                  <a:srgbClr val="14141C"/>
                </a:solidFill>
                <a:latin typeface="Geist"/>
              </a:rPr>
              <a:t>Chinese firms shipped 1.65M AI GPUs in 2025; China banned the 5090D and paused H200 buys.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Scale versus constraint: two paths to better models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5463540" cy="2240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5463540" cy="50292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051560"/>
            <a:ext cx="5244084" cy="502920"/>
          </a:xfrm>
          <a:prstGeom prst="rect">
            <a:avLst/>
          </a:prstGeom>
          <a:noFill/>
        </p:spPr>
        <p:txBody>
          <a:bodyPr wrap="square" anchor="ctr" lIns="0" rIns="0" tIns="0" bIns="0">
            <a:spAutoFit/>
          </a:bodyPr>
          <a:lstStyle/>
          <a:p>
            <a:pPr algn="ctr"/>
            <a:r>
              <a:rPr sz="1400" b="1" i="0">
                <a:solidFill>
                  <a:srgbClr val="14141C"/>
                </a:solidFill>
                <a:latin typeface="Geist Mono"/>
              </a:rPr>
              <a:t>UNITED STATES: SCALE</a:t>
            </a:r>
          </a:p>
        </p:txBody>
      </p:sp>
      <p:sp>
        <p:nvSpPr>
          <p:cNvPr id="10" name="TextBox 9"/>
          <p:cNvSpPr txBox="1"/>
          <p:nvPr/>
        </p:nvSpPr>
        <p:spPr>
          <a:xfrm>
            <a:off x="694944" y="1709928"/>
            <a:ext cx="4988052" cy="1234440"/>
          </a:xfrm>
          <a:prstGeom prst="rect">
            <a:avLst/>
          </a:prstGeom>
          <a:noFill/>
        </p:spPr>
        <p:txBody>
          <a:bodyPr wrap="square" anchor="t" lIns="0" rIns="0" tIns="0" bIns="0">
            <a:spAutoFit/>
          </a:bodyPr>
          <a:lstStyle/>
          <a:p>
            <a:pPr algn="l"/>
            <a:r>
              <a:rPr sz="1250" b="0" i="0">
                <a:solidFill>
                  <a:srgbClr val="14141C"/>
                </a:solidFill>
                <a:latin typeface="Geist"/>
              </a:rPr>
              <a:t>Answer the race with compute: Stargate ($500B), ~$700B hyperscaler capex in 2026, nuclear power deals. Frontier models stay closed. Abundant GPUs mean less pressure to economize.</a:t>
            </a:r>
          </a:p>
        </p:txBody>
      </p:sp>
      <p:sp>
        <p:nvSpPr>
          <p:cNvPr id="11" name="TextBox 10"/>
          <p:cNvSpPr txBox="1"/>
          <p:nvPr/>
        </p:nvSpPr>
        <p:spPr>
          <a:xfrm>
            <a:off x="694944" y="2962656"/>
            <a:ext cx="4988052" cy="274320"/>
          </a:xfrm>
          <a:prstGeom prst="rect">
            <a:avLst/>
          </a:prstGeom>
          <a:noFill/>
        </p:spPr>
        <p:txBody>
          <a:bodyPr wrap="square" anchor="t" lIns="0" rIns="0" tIns="0" bIns="0">
            <a:spAutoFit/>
          </a:bodyPr>
          <a:lstStyle/>
          <a:p>
            <a:pPr algn="l"/>
            <a:r>
              <a:rPr sz="1000" b="0" i="0">
                <a:solidFill>
                  <a:srgbClr val="40E0D0"/>
                </a:solidFill>
                <a:latin typeface="Geist Mono"/>
              </a:rPr>
              <a:t>Stargate; hyperscaler capex 2026</a:t>
            </a:r>
          </a:p>
        </p:txBody>
      </p:sp>
      <p:sp>
        <p:nvSpPr>
          <p:cNvPr id="12" name="Rectangle 11"/>
          <p:cNvSpPr/>
          <p:nvPr/>
        </p:nvSpPr>
        <p:spPr>
          <a:xfrm>
            <a:off x="6240780" y="1051560"/>
            <a:ext cx="5463540" cy="2240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051560"/>
            <a:ext cx="5463540" cy="50292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0508" y="1051560"/>
            <a:ext cx="5244084" cy="502920"/>
          </a:xfrm>
          <a:prstGeom prst="rect">
            <a:avLst/>
          </a:prstGeom>
          <a:noFill/>
        </p:spPr>
        <p:txBody>
          <a:bodyPr wrap="square" anchor="ctr" lIns="0" rIns="0" tIns="0" bIns="0">
            <a:spAutoFit/>
          </a:bodyPr>
          <a:lstStyle/>
          <a:p>
            <a:pPr algn="ctr"/>
            <a:r>
              <a:rPr sz="1400" b="1" i="0">
                <a:solidFill>
                  <a:srgbClr val="FFFFFF"/>
                </a:solidFill>
                <a:latin typeface="Geist Mono"/>
              </a:rPr>
              <a:t>CHINA: CONSTRAINT</a:t>
            </a:r>
          </a:p>
        </p:txBody>
      </p:sp>
      <p:sp>
        <p:nvSpPr>
          <p:cNvPr id="15" name="TextBox 14"/>
          <p:cNvSpPr txBox="1"/>
          <p:nvPr/>
        </p:nvSpPr>
        <p:spPr>
          <a:xfrm>
            <a:off x="6478524" y="1709928"/>
            <a:ext cx="4988052" cy="1234440"/>
          </a:xfrm>
          <a:prstGeom prst="rect">
            <a:avLst/>
          </a:prstGeom>
          <a:noFill/>
        </p:spPr>
        <p:txBody>
          <a:bodyPr wrap="square" anchor="t" lIns="0" rIns="0" tIns="0" bIns="0">
            <a:spAutoFit/>
          </a:bodyPr>
          <a:lstStyle/>
          <a:p>
            <a:pPr algn="l"/>
            <a:r>
              <a:rPr sz="1250" b="0" i="0">
                <a:solidFill>
                  <a:srgbClr val="14141C"/>
                </a:solidFill>
                <a:latin typeface="Geist"/>
              </a:rPr>
              <a:t>Capped on advanced GPUs by export controls, efficiency becomes the edge: mixture-of-experts, distillation, DeepSeek's ~$6M training run, cheap inference. Necessity drives method innovation.</a:t>
            </a:r>
          </a:p>
        </p:txBody>
      </p:sp>
      <p:sp>
        <p:nvSpPr>
          <p:cNvPr id="16" name="TextBox 15"/>
          <p:cNvSpPr txBox="1"/>
          <p:nvPr/>
        </p:nvSpPr>
        <p:spPr>
          <a:xfrm>
            <a:off x="6478524" y="2962656"/>
            <a:ext cx="4988052" cy="274320"/>
          </a:xfrm>
          <a:prstGeom prst="rect">
            <a:avLst/>
          </a:prstGeom>
          <a:noFill/>
        </p:spPr>
        <p:txBody>
          <a:bodyPr wrap="square" anchor="t" lIns="0" rIns="0" tIns="0" bIns="0">
            <a:spAutoFit/>
          </a:bodyPr>
          <a:lstStyle/>
          <a:p>
            <a:pPr algn="l"/>
            <a:r>
              <a:rPr sz="1000" b="0" i="0">
                <a:solidFill>
                  <a:srgbClr val="FF1493"/>
                </a:solidFill>
                <a:latin typeface="Geist Mono"/>
              </a:rPr>
              <a:t>DeepSeek-V3 technical report, 2025</a:t>
            </a:r>
          </a:p>
        </p:txBody>
      </p:sp>
      <p:sp>
        <p:nvSpPr>
          <p:cNvPr id="17" name="Rectangle 16"/>
          <p:cNvSpPr/>
          <p:nvPr/>
        </p:nvSpPr>
        <p:spPr>
          <a:xfrm>
            <a:off x="457200" y="3493008"/>
            <a:ext cx="11247120" cy="50292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493008"/>
            <a:ext cx="10698480" cy="502920"/>
          </a:xfrm>
          <a:prstGeom prst="rect">
            <a:avLst/>
          </a:prstGeom>
          <a:noFill/>
        </p:spPr>
        <p:txBody>
          <a:bodyPr wrap="square" anchor="ctr" lIns="0" rIns="0" tIns="0" bIns="0">
            <a:spAutoFit/>
          </a:bodyPr>
          <a:lstStyle/>
          <a:p>
            <a:pPr algn="l"/>
            <a:r>
              <a:rPr sz="1250" b="1" i="0">
                <a:solidFill>
                  <a:srgbClr val="14141C"/>
                </a:solidFill>
                <a:latin typeface="Geist"/>
              </a:rPr>
              <a:t>EUROPE: the upstream chokepoint. ASML's EUV monopoly is the gate the controls run through.</a:t>
            </a:r>
          </a:p>
        </p:txBody>
      </p:sp>
      <p:sp>
        <p:nvSpPr>
          <p:cNvPr id="19" name="Rectangle 18"/>
          <p:cNvSpPr/>
          <p:nvPr/>
        </p:nvSpPr>
        <p:spPr>
          <a:xfrm>
            <a:off x="457200" y="4178808"/>
            <a:ext cx="11247120" cy="2084831"/>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78808"/>
            <a:ext cx="10625328" cy="2084831"/>
          </a:xfrm>
          <a:prstGeom prst="rect">
            <a:avLst/>
          </a:prstGeom>
          <a:noFill/>
        </p:spPr>
        <p:txBody>
          <a:bodyPr wrap="square" anchor="ctr" lIns="0" rIns="0" tIns="0" bIns="0">
            <a:spAutoFit/>
          </a:bodyPr>
          <a:lstStyle/>
          <a:p>
            <a:pPr algn="l"/>
            <a:r>
              <a:rPr sz="1200" b="1" i="0">
                <a:solidFill>
                  <a:srgbClr val="FFFFFF"/>
                </a:solidFill>
                <a:latin typeface="Geist"/>
              </a:rPr>
              <a:t>The provocative read: the GPU ceiling may be pushing China toward genuine methodology innovation, while the US mostly scales hardware. May 2026: Huawei's chairman publicly thanked the US for export controls, saying they 'supercharged' China's chip industry (Tom's Hardware; SCMP).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Compute and energy: the binding constraints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356616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66160"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307592"/>
            <a:ext cx="3127248" cy="411480"/>
          </a:xfrm>
          <a:prstGeom prst="rect">
            <a:avLst/>
          </a:prstGeom>
          <a:noFill/>
        </p:spPr>
        <p:txBody>
          <a:bodyPr wrap="square" anchor="t" lIns="0" rIns="0" tIns="0" bIns="0">
            <a:spAutoFit/>
          </a:bodyPr>
          <a:lstStyle/>
          <a:p>
            <a:pPr algn="l"/>
            <a:r>
              <a:rPr sz="1350" b="1" i="0">
                <a:solidFill>
                  <a:srgbClr val="14141C"/>
                </a:solidFill>
                <a:latin typeface="Geist Mono"/>
              </a:rPr>
              <a:t>UNITED STATES</a:t>
            </a:r>
          </a:p>
        </p:txBody>
      </p:sp>
      <p:sp>
        <p:nvSpPr>
          <p:cNvPr id="10" name="TextBox 9"/>
          <p:cNvSpPr txBox="1"/>
          <p:nvPr/>
        </p:nvSpPr>
        <p:spPr>
          <a:xfrm>
            <a:off x="676656" y="1828800"/>
            <a:ext cx="3127248" cy="1005840"/>
          </a:xfrm>
          <a:prstGeom prst="rect">
            <a:avLst/>
          </a:prstGeom>
          <a:noFill/>
        </p:spPr>
        <p:txBody>
          <a:bodyPr wrap="square" anchor="t" lIns="0" rIns="0" tIns="0" bIns="0">
            <a:spAutoFit/>
          </a:bodyPr>
          <a:lstStyle/>
          <a:p>
            <a:pPr algn="l"/>
            <a:r>
              <a:rPr sz="4000" b="1" i="0">
                <a:solidFill>
                  <a:srgbClr val="14141C"/>
                </a:solidFill>
                <a:latin typeface="Geist Mono"/>
              </a:rPr>
              <a:t>16 GW</a:t>
            </a:r>
          </a:p>
        </p:txBody>
      </p:sp>
      <p:sp>
        <p:nvSpPr>
          <p:cNvPr id="11" name="TextBox 10"/>
          <p:cNvSpPr txBox="1"/>
          <p:nvPr/>
        </p:nvSpPr>
        <p:spPr>
          <a:xfrm>
            <a:off x="676656" y="2971800"/>
            <a:ext cx="3127248" cy="3108959"/>
          </a:xfrm>
          <a:prstGeom prst="rect">
            <a:avLst/>
          </a:prstGeom>
          <a:noFill/>
        </p:spPr>
        <p:txBody>
          <a:bodyPr wrap="square" anchor="t" lIns="0" rIns="0" tIns="0" bIns="0">
            <a:spAutoFit/>
          </a:bodyPr>
          <a:lstStyle/>
          <a:p>
            <a:pPr algn="l"/>
            <a:r>
              <a:rPr sz="1250" b="0" i="0">
                <a:solidFill>
                  <a:srgbClr val="14141C"/>
                </a:solidFill>
                <a:latin typeface="Geist"/>
              </a:rPr>
              <a:t>data-center pipeline, but only ~5 GW under construction. ~$700B hyperscaler capex in 2026. Power is the bottleneck.</a:t>
            </a:r>
          </a:p>
        </p:txBody>
      </p:sp>
      <p:sp>
        <p:nvSpPr>
          <p:cNvPr id="12" name="Rectangle 11"/>
          <p:cNvSpPr/>
          <p:nvPr/>
        </p:nvSpPr>
        <p:spPr>
          <a:xfrm>
            <a:off x="4297680" y="1051560"/>
            <a:ext cx="356616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051560"/>
            <a:ext cx="3566160" cy="91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307592"/>
            <a:ext cx="3127248" cy="411480"/>
          </a:xfrm>
          <a:prstGeom prst="rect">
            <a:avLst/>
          </a:prstGeom>
          <a:noFill/>
        </p:spPr>
        <p:txBody>
          <a:bodyPr wrap="square" anchor="t" lIns="0" rIns="0" tIns="0" bIns="0">
            <a:spAutoFit/>
          </a:bodyPr>
          <a:lstStyle/>
          <a:p>
            <a:pPr algn="l"/>
            <a:r>
              <a:rPr sz="1350" b="1" i="0">
                <a:solidFill>
                  <a:srgbClr val="14141C"/>
                </a:solidFill>
                <a:latin typeface="Geist Mono"/>
              </a:rPr>
              <a:t>CHINA</a:t>
            </a:r>
          </a:p>
        </p:txBody>
      </p:sp>
      <p:sp>
        <p:nvSpPr>
          <p:cNvPr id="15" name="TextBox 14"/>
          <p:cNvSpPr txBox="1"/>
          <p:nvPr/>
        </p:nvSpPr>
        <p:spPr>
          <a:xfrm>
            <a:off x="4517136" y="1828800"/>
            <a:ext cx="3127248" cy="1005840"/>
          </a:xfrm>
          <a:prstGeom prst="rect">
            <a:avLst/>
          </a:prstGeom>
          <a:noFill/>
        </p:spPr>
        <p:txBody>
          <a:bodyPr wrap="square" anchor="t" lIns="0" rIns="0" tIns="0" bIns="0">
            <a:spAutoFit/>
          </a:bodyPr>
          <a:lstStyle/>
          <a:p>
            <a:pPr algn="l"/>
            <a:r>
              <a:rPr sz="4000" b="1" i="0">
                <a:solidFill>
                  <a:srgbClr val="14141C"/>
                </a:solidFill>
                <a:latin typeface="Geist Mono"/>
              </a:rPr>
              <a:t>~400 GW</a:t>
            </a:r>
          </a:p>
        </p:txBody>
      </p:sp>
      <p:sp>
        <p:nvSpPr>
          <p:cNvPr id="16" name="TextBox 15"/>
          <p:cNvSpPr txBox="1"/>
          <p:nvPr/>
        </p:nvSpPr>
        <p:spPr>
          <a:xfrm>
            <a:off x="4517136" y="2971800"/>
            <a:ext cx="3127248" cy="3108959"/>
          </a:xfrm>
          <a:prstGeom prst="rect">
            <a:avLst/>
          </a:prstGeom>
          <a:noFill/>
        </p:spPr>
        <p:txBody>
          <a:bodyPr wrap="square" anchor="t" lIns="0" rIns="0" tIns="0" bIns="0">
            <a:spAutoFit/>
          </a:bodyPr>
          <a:lstStyle/>
          <a:p>
            <a:pPr algn="l"/>
            <a:r>
              <a:rPr sz="1250" b="0" i="0">
                <a:solidFill>
                  <a:srgbClr val="14141C"/>
                </a:solidFill>
                <a:latin typeface="Geist"/>
              </a:rPr>
              <a:t>projected spare power by 2030 (added 430 GW wind+solar in 2025). 40 GW DC by end-2026. Energy is the advantage.</a:t>
            </a:r>
          </a:p>
        </p:txBody>
      </p:sp>
      <p:sp>
        <p:nvSpPr>
          <p:cNvPr id="17" name="Rectangle 16"/>
          <p:cNvSpPr/>
          <p:nvPr/>
        </p:nvSpPr>
        <p:spPr>
          <a:xfrm>
            <a:off x="8138160" y="1051560"/>
            <a:ext cx="356616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051560"/>
            <a:ext cx="3566160" cy="9144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6" y="1307592"/>
            <a:ext cx="3127248" cy="411480"/>
          </a:xfrm>
          <a:prstGeom prst="rect">
            <a:avLst/>
          </a:prstGeom>
          <a:noFill/>
        </p:spPr>
        <p:txBody>
          <a:bodyPr wrap="square" anchor="t" lIns="0" rIns="0" tIns="0" bIns="0">
            <a:spAutoFit/>
          </a:bodyPr>
          <a:lstStyle/>
          <a:p>
            <a:pPr algn="l"/>
            <a:r>
              <a:rPr sz="1350" b="1" i="0">
                <a:solidFill>
                  <a:srgbClr val="14141C"/>
                </a:solidFill>
                <a:latin typeface="Geist Mono"/>
              </a:rPr>
              <a:t>EUROPE / EU</a:t>
            </a:r>
          </a:p>
        </p:txBody>
      </p:sp>
      <p:sp>
        <p:nvSpPr>
          <p:cNvPr id="20" name="TextBox 19"/>
          <p:cNvSpPr txBox="1"/>
          <p:nvPr/>
        </p:nvSpPr>
        <p:spPr>
          <a:xfrm>
            <a:off x="8357616" y="1828800"/>
            <a:ext cx="3127248" cy="1005840"/>
          </a:xfrm>
          <a:prstGeom prst="rect">
            <a:avLst/>
          </a:prstGeom>
          <a:noFill/>
        </p:spPr>
        <p:txBody>
          <a:bodyPr wrap="square" anchor="t" lIns="0" rIns="0" tIns="0" bIns="0">
            <a:spAutoFit/>
          </a:bodyPr>
          <a:lstStyle/>
          <a:p>
            <a:pPr algn="l"/>
            <a:r>
              <a:rPr sz="4000" b="1" i="0">
                <a:solidFill>
                  <a:srgbClr val="14141C"/>
                </a:solidFill>
                <a:latin typeface="Geist Mono"/>
              </a:rPr>
              <a:t>EUR 200B</a:t>
            </a:r>
          </a:p>
        </p:txBody>
      </p:sp>
      <p:sp>
        <p:nvSpPr>
          <p:cNvPr id="21" name="TextBox 20"/>
          <p:cNvSpPr txBox="1"/>
          <p:nvPr/>
        </p:nvSpPr>
        <p:spPr>
          <a:xfrm>
            <a:off x="8357616" y="2971800"/>
            <a:ext cx="3127248" cy="3108959"/>
          </a:xfrm>
          <a:prstGeom prst="rect">
            <a:avLst/>
          </a:prstGeom>
          <a:noFill/>
        </p:spPr>
        <p:txBody>
          <a:bodyPr wrap="square" anchor="t" lIns="0" rIns="0" tIns="0" bIns="0">
            <a:spAutoFit/>
          </a:bodyPr>
          <a:lstStyle/>
          <a:p>
            <a:pPr algn="l"/>
            <a:r>
              <a:rPr sz="1250" b="0" i="0">
                <a:solidFill>
                  <a:srgbClr val="14141C"/>
                </a:solidFill>
                <a:latin typeface="Geist"/>
              </a:rPr>
              <a:t>InvestAI + AI gigafactories. ASML holds the EUV monopoly. Compute and capital are the gap.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Asia owns the AI hardware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3566160" cy="4251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66160" cy="91440"/>
          </a:xfrm>
          <a:prstGeom prst="rect">
            <a:avLst/>
          </a:prstGeom>
          <a:solidFill>
            <a:srgbClr val="115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325880"/>
            <a:ext cx="3127248" cy="731520"/>
          </a:xfrm>
          <a:prstGeom prst="rect">
            <a:avLst/>
          </a:prstGeom>
          <a:noFill/>
        </p:spPr>
        <p:txBody>
          <a:bodyPr wrap="square" anchor="t" lIns="0" rIns="0" tIns="0" bIns="0">
            <a:spAutoFit/>
          </a:bodyPr>
          <a:lstStyle/>
          <a:p>
            <a:pPr algn="l"/>
            <a:r>
              <a:rPr sz="2800" b="1" i="0">
                <a:solidFill>
                  <a:srgbClr val="115E59"/>
                </a:solidFill>
                <a:latin typeface="Geist Mono"/>
              </a:rPr>
              <a:t>TSMC</a:t>
            </a:r>
          </a:p>
        </p:txBody>
      </p:sp>
      <p:sp>
        <p:nvSpPr>
          <p:cNvPr id="10" name="TextBox 9"/>
          <p:cNvSpPr txBox="1"/>
          <p:nvPr/>
        </p:nvSpPr>
        <p:spPr>
          <a:xfrm>
            <a:off x="694944" y="2075688"/>
            <a:ext cx="3108960" cy="365760"/>
          </a:xfrm>
          <a:prstGeom prst="rect">
            <a:avLst/>
          </a:prstGeom>
          <a:noFill/>
        </p:spPr>
        <p:txBody>
          <a:bodyPr wrap="square" anchor="t" lIns="0" rIns="0" tIns="0" bIns="0">
            <a:spAutoFit/>
          </a:bodyPr>
          <a:lstStyle/>
          <a:p>
            <a:pPr algn="l"/>
            <a:r>
              <a:rPr sz="1250" b="0" i="0">
                <a:solidFill>
                  <a:srgbClr val="555560"/>
                </a:solidFill>
                <a:latin typeface="Geist Mono"/>
              </a:rPr>
              <a:t>Taiwan</a:t>
            </a:r>
          </a:p>
        </p:txBody>
      </p:sp>
      <p:sp>
        <p:nvSpPr>
          <p:cNvPr id="11" name="TextBox 10"/>
          <p:cNvSpPr txBox="1"/>
          <p:nvPr/>
        </p:nvSpPr>
        <p:spPr>
          <a:xfrm>
            <a:off x="694944" y="2514600"/>
            <a:ext cx="3108960" cy="2606039"/>
          </a:xfrm>
          <a:prstGeom prst="rect">
            <a:avLst/>
          </a:prstGeom>
          <a:noFill/>
        </p:spPr>
        <p:txBody>
          <a:bodyPr wrap="square" anchor="t" lIns="0" rIns="0" tIns="0" bIns="0">
            <a:spAutoFit/>
          </a:bodyPr>
          <a:lstStyle/>
          <a:p>
            <a:pPr algn="l"/>
            <a:r>
              <a:rPr sz="1250" b="0" i="0">
                <a:solidFill>
                  <a:srgbClr val="14141C"/>
                </a:solidFill>
                <a:latin typeface="Geist"/>
              </a:rPr>
              <a:t>Fabricates essentially all leading-edge AI chips. NVIDIA booked &gt;60% of its CoWoS advanced-packaging capacity.</a:t>
            </a:r>
          </a:p>
        </p:txBody>
      </p:sp>
      <p:sp>
        <p:nvSpPr>
          <p:cNvPr id="12" name="Rectangle 11"/>
          <p:cNvSpPr/>
          <p:nvPr/>
        </p:nvSpPr>
        <p:spPr>
          <a:xfrm>
            <a:off x="4297680" y="1051560"/>
            <a:ext cx="3566160" cy="4251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051560"/>
            <a:ext cx="3566160"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325880"/>
            <a:ext cx="3127248" cy="731520"/>
          </a:xfrm>
          <a:prstGeom prst="rect">
            <a:avLst/>
          </a:prstGeom>
          <a:noFill/>
        </p:spPr>
        <p:txBody>
          <a:bodyPr wrap="square" anchor="t" lIns="0" rIns="0" tIns="0" bIns="0">
            <a:spAutoFit/>
          </a:bodyPr>
          <a:lstStyle/>
          <a:p>
            <a:pPr algn="l"/>
            <a:r>
              <a:rPr sz="2800" b="1" i="0">
                <a:solidFill>
                  <a:srgbClr val="1E3A8A"/>
                </a:solidFill>
                <a:latin typeface="Geist Mono"/>
              </a:rPr>
              <a:t>HBM</a:t>
            </a:r>
          </a:p>
        </p:txBody>
      </p:sp>
      <p:sp>
        <p:nvSpPr>
          <p:cNvPr id="15" name="TextBox 14"/>
          <p:cNvSpPr txBox="1"/>
          <p:nvPr/>
        </p:nvSpPr>
        <p:spPr>
          <a:xfrm>
            <a:off x="4535424" y="2075688"/>
            <a:ext cx="3108960" cy="365760"/>
          </a:xfrm>
          <a:prstGeom prst="rect">
            <a:avLst/>
          </a:prstGeom>
          <a:noFill/>
        </p:spPr>
        <p:txBody>
          <a:bodyPr wrap="square" anchor="t" lIns="0" rIns="0" tIns="0" bIns="0">
            <a:spAutoFit/>
          </a:bodyPr>
          <a:lstStyle/>
          <a:p>
            <a:pPr algn="l"/>
            <a:r>
              <a:rPr sz="1250" b="0" i="0">
                <a:solidFill>
                  <a:srgbClr val="555560"/>
                </a:solidFill>
                <a:latin typeface="Geist Mono"/>
              </a:rPr>
              <a:t>South Korea</a:t>
            </a:r>
          </a:p>
        </p:txBody>
      </p:sp>
      <p:sp>
        <p:nvSpPr>
          <p:cNvPr id="16" name="TextBox 15"/>
          <p:cNvSpPr txBox="1"/>
          <p:nvPr/>
        </p:nvSpPr>
        <p:spPr>
          <a:xfrm>
            <a:off x="4535424" y="2514600"/>
            <a:ext cx="3108960" cy="2606039"/>
          </a:xfrm>
          <a:prstGeom prst="rect">
            <a:avLst/>
          </a:prstGeom>
          <a:noFill/>
        </p:spPr>
        <p:txBody>
          <a:bodyPr wrap="square" anchor="t" lIns="0" rIns="0" tIns="0" bIns="0">
            <a:spAutoFit/>
          </a:bodyPr>
          <a:lstStyle/>
          <a:p>
            <a:pPr algn="l"/>
            <a:r>
              <a:rPr sz="1250" b="0" i="0">
                <a:solidFill>
                  <a:srgbClr val="14141C"/>
                </a:solidFill>
                <a:latin typeface="Geist"/>
              </a:rPr>
              <a:t>SK Hynix holds ~62% of HBM memory and is NVIDIA's lead supplier; with Samsung, a global duopoly.</a:t>
            </a:r>
          </a:p>
        </p:txBody>
      </p:sp>
      <p:sp>
        <p:nvSpPr>
          <p:cNvPr id="17" name="Rectangle 16"/>
          <p:cNvSpPr/>
          <p:nvPr/>
        </p:nvSpPr>
        <p:spPr>
          <a:xfrm>
            <a:off x="8138160" y="1051560"/>
            <a:ext cx="3566160" cy="4251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051560"/>
            <a:ext cx="3566160" cy="91440"/>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6" y="1325880"/>
            <a:ext cx="3127248" cy="731520"/>
          </a:xfrm>
          <a:prstGeom prst="rect">
            <a:avLst/>
          </a:prstGeom>
          <a:noFill/>
        </p:spPr>
        <p:txBody>
          <a:bodyPr wrap="square" anchor="t" lIns="0" rIns="0" tIns="0" bIns="0">
            <a:spAutoFit/>
          </a:bodyPr>
          <a:lstStyle/>
          <a:p>
            <a:pPr algn="l"/>
            <a:r>
              <a:rPr sz="2800" b="1" i="0">
                <a:solidFill>
                  <a:srgbClr val="9A3412"/>
                </a:solidFill>
                <a:latin typeface="Geist Mono"/>
              </a:rPr>
              <a:t>Foxconn</a:t>
            </a:r>
          </a:p>
        </p:txBody>
      </p:sp>
      <p:sp>
        <p:nvSpPr>
          <p:cNvPr id="20" name="TextBox 19"/>
          <p:cNvSpPr txBox="1"/>
          <p:nvPr/>
        </p:nvSpPr>
        <p:spPr>
          <a:xfrm>
            <a:off x="8375904" y="2075688"/>
            <a:ext cx="3108960" cy="365760"/>
          </a:xfrm>
          <a:prstGeom prst="rect">
            <a:avLst/>
          </a:prstGeom>
          <a:noFill/>
        </p:spPr>
        <p:txBody>
          <a:bodyPr wrap="square" anchor="t" lIns="0" rIns="0" tIns="0" bIns="0">
            <a:spAutoFit/>
          </a:bodyPr>
          <a:lstStyle/>
          <a:p>
            <a:pPr algn="l"/>
            <a:r>
              <a:rPr sz="1250" b="0" i="0">
                <a:solidFill>
                  <a:srgbClr val="555560"/>
                </a:solidFill>
                <a:latin typeface="Geist Mono"/>
              </a:rPr>
              <a:t>Taiwan</a:t>
            </a:r>
          </a:p>
        </p:txBody>
      </p:sp>
      <p:sp>
        <p:nvSpPr>
          <p:cNvPr id="21" name="TextBox 20"/>
          <p:cNvSpPr txBox="1"/>
          <p:nvPr/>
        </p:nvSpPr>
        <p:spPr>
          <a:xfrm>
            <a:off x="8375904" y="2514600"/>
            <a:ext cx="3108960" cy="2606039"/>
          </a:xfrm>
          <a:prstGeom prst="rect">
            <a:avLst/>
          </a:prstGeom>
          <a:noFill/>
        </p:spPr>
        <p:txBody>
          <a:bodyPr wrap="square" anchor="t" lIns="0" rIns="0" tIns="0" bIns="0">
            <a:spAutoFit/>
          </a:bodyPr>
          <a:lstStyle/>
          <a:p>
            <a:pPr algn="l"/>
            <a:r>
              <a:rPr sz="1250" b="0" i="0">
                <a:solidFill>
                  <a:srgbClr val="14141C"/>
                </a:solidFill>
                <a:latin typeface="Geist"/>
              </a:rPr>
              <a:t>Builds &gt;40% of the world's AI servers, the lead integrator for NVIDIA GB200/GB300 racks.</a:t>
            </a:r>
          </a:p>
        </p:txBody>
      </p:sp>
      <p:sp>
        <p:nvSpPr>
          <p:cNvPr id="22" name="Rectangle 21"/>
          <p:cNvSpPr/>
          <p:nvPr/>
        </p:nvSpPr>
        <p:spPr>
          <a:xfrm>
            <a:off x="457200" y="5559552"/>
            <a:ext cx="11247120" cy="704087"/>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669280"/>
            <a:ext cx="10625328" cy="484631"/>
          </a:xfrm>
          <a:prstGeom prst="rect">
            <a:avLst/>
          </a:prstGeom>
          <a:noFill/>
        </p:spPr>
        <p:txBody>
          <a:bodyPr wrap="square" anchor="ctr" lIns="0" rIns="0" tIns="0" bIns="0">
            <a:spAutoFit/>
          </a:bodyPr>
          <a:lstStyle/>
          <a:p>
            <a:pPr algn="l"/>
            <a:r>
              <a:rPr sz="1350" b="1" i="0">
                <a:solidFill>
                  <a:srgbClr val="FFFFFF"/>
                </a:solidFill>
                <a:latin typeface="Geist"/>
              </a:rPr>
              <a:t>The hedge: sovereign AI means local-language models on foreign chips. Singapore runs Qwen; Malaysia runs DeepSeek on Huawei. Asia makes the hardware the world's AI runs on, but rents the models.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8A2BE2"/>
                </a:solidFill>
                <a:latin typeface="Geist Mono"/>
              </a:rPr>
              <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CORPORATE &amp; MODELS</a:t>
            </a:r>
          </a:p>
        </p:txBody>
      </p:sp>
      <p:sp>
        <p:nvSpPr>
          <p:cNvPr id="7" name="Rectangle 6"/>
          <p:cNvSpPr/>
          <p:nvPr/>
        </p:nvSpPr>
        <p:spPr>
          <a:xfrm>
            <a:off x="777240" y="5120640"/>
            <a:ext cx="1828800" cy="1828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a:solidFill>
                  <a:srgbClr val="FF7F50"/>
                </a:solidFill>
                <a:latin typeface="Geist Mono"/>
              </a:rPr>
              <a:t>Curtis Chambers</a:t>
            </a:r>
            <a:r>
              <a:rPr sz="1100" b="1">
                <a:solidFill>
                  <a:srgbClr val="40E0D0"/>
                </a:solidFill>
                <a:latin typeface="Geist Mono"/>
              </a:rPr>
              <a:t>  ·  Jinchi Wei</a:t>
            </a:r>
          </a:p>
        </p:txBody>
      </p:sp>
      <p:sp>
        <p:nvSpPr>
          <p:cNvPr id="9" name="TextBox 8"/>
          <p:cNvSpPr txBox="1"/>
          <p:nvPr/>
        </p:nvSpPr>
        <p:spPr>
          <a:xfrm>
            <a:off x="3886200"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4114800"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CPH 200C · Computational Precision Health</a:t>
            </a:r>
          </a:p>
        </p:txBody>
      </p:sp>
      <p:sp>
        <p:nvSpPr>
          <p:cNvPr id="11" name="TextBox 10"/>
          <p:cNvSpPr txBox="1"/>
          <p:nvPr/>
        </p:nvSpPr>
        <p:spPr>
          <a:xfrm>
            <a:off x="8238744"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8467344"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Three Governing Systems for 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400" b="1" i="0">
                <a:solidFill>
                  <a:srgbClr val="14141C"/>
                </a:solidFill>
                <a:latin typeface="Geist Mono"/>
              </a:rPr>
              <a:t>United States: the closed frontier and a capital arms race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2606040"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2606040" cy="82296"/>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423160" cy="822960"/>
          </a:xfrm>
          <a:prstGeom prst="rect">
            <a:avLst/>
          </a:prstGeom>
          <a:noFill/>
        </p:spPr>
        <p:txBody>
          <a:bodyPr wrap="square" anchor="t" lIns="0" rIns="0" tIns="0" bIns="0">
            <a:spAutoFit/>
          </a:bodyPr>
          <a:lstStyle/>
          <a:p>
            <a:pPr algn="ctr"/>
            <a:r>
              <a:rPr sz="3000" b="1" i="0">
                <a:solidFill>
                  <a:srgbClr val="14141C"/>
                </a:solidFill>
                <a:latin typeface="Geist Mono"/>
              </a:rPr>
              <a:t>$5.2T</a:t>
            </a:r>
          </a:p>
        </p:txBody>
      </p:sp>
      <p:sp>
        <p:nvSpPr>
          <p:cNvPr id="10" name="TextBox 9"/>
          <p:cNvSpPr txBox="1"/>
          <p:nvPr/>
        </p:nvSpPr>
        <p:spPr>
          <a:xfrm>
            <a:off x="585216" y="2377440"/>
            <a:ext cx="2350008" cy="731519"/>
          </a:xfrm>
          <a:prstGeom prst="rect">
            <a:avLst/>
          </a:prstGeom>
          <a:noFill/>
        </p:spPr>
        <p:txBody>
          <a:bodyPr wrap="square" anchor="t" lIns="0" rIns="0" tIns="0" bIns="0">
            <a:spAutoFit/>
          </a:bodyPr>
          <a:lstStyle/>
          <a:p>
            <a:pPr algn="ctr"/>
            <a:r>
              <a:rPr sz="1150" b="0" i="0">
                <a:solidFill>
                  <a:srgbClr val="555560"/>
                </a:solidFill>
                <a:latin typeface="Geist"/>
              </a:rPr>
              <a:t>NVIDIA market cap (world #1)</a:t>
            </a:r>
          </a:p>
        </p:txBody>
      </p:sp>
      <p:sp>
        <p:nvSpPr>
          <p:cNvPr id="11" name="Rectangle 10"/>
          <p:cNvSpPr/>
          <p:nvPr/>
        </p:nvSpPr>
        <p:spPr>
          <a:xfrm>
            <a:off x="3337560" y="1051560"/>
            <a:ext cx="2606040"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7560" y="1051560"/>
            <a:ext cx="2606040" cy="82296"/>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463040"/>
            <a:ext cx="2423160" cy="822960"/>
          </a:xfrm>
          <a:prstGeom prst="rect">
            <a:avLst/>
          </a:prstGeom>
          <a:noFill/>
        </p:spPr>
        <p:txBody>
          <a:bodyPr wrap="square" anchor="t" lIns="0" rIns="0" tIns="0" bIns="0">
            <a:spAutoFit/>
          </a:bodyPr>
          <a:lstStyle/>
          <a:p>
            <a:pPr algn="ctr"/>
            <a:r>
              <a:rPr sz="3000" b="1" i="0">
                <a:solidFill>
                  <a:srgbClr val="14141C"/>
                </a:solidFill>
                <a:latin typeface="Geist Mono"/>
              </a:rPr>
              <a:t>$852B</a:t>
            </a:r>
          </a:p>
        </p:txBody>
      </p:sp>
      <p:sp>
        <p:nvSpPr>
          <p:cNvPr id="14" name="TextBox 13"/>
          <p:cNvSpPr txBox="1"/>
          <p:nvPr/>
        </p:nvSpPr>
        <p:spPr>
          <a:xfrm>
            <a:off x="3465576" y="2377440"/>
            <a:ext cx="2350008" cy="731519"/>
          </a:xfrm>
          <a:prstGeom prst="rect">
            <a:avLst/>
          </a:prstGeom>
          <a:noFill/>
        </p:spPr>
        <p:txBody>
          <a:bodyPr wrap="square" anchor="t" lIns="0" rIns="0" tIns="0" bIns="0">
            <a:spAutoFit/>
          </a:bodyPr>
          <a:lstStyle/>
          <a:p>
            <a:pPr algn="ctr"/>
            <a:r>
              <a:rPr sz="1150" b="0" i="0">
                <a:solidFill>
                  <a:srgbClr val="555560"/>
                </a:solidFill>
                <a:latin typeface="Geist"/>
              </a:rPr>
              <a:t>OpenAI valuation</a:t>
            </a:r>
          </a:p>
        </p:txBody>
      </p:sp>
      <p:sp>
        <p:nvSpPr>
          <p:cNvPr id="15" name="Rectangle 14"/>
          <p:cNvSpPr/>
          <p:nvPr/>
        </p:nvSpPr>
        <p:spPr>
          <a:xfrm>
            <a:off x="6217920" y="1051560"/>
            <a:ext cx="2606040"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051560"/>
            <a:ext cx="2606040" cy="82296"/>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59" y="1463040"/>
            <a:ext cx="2423160" cy="822960"/>
          </a:xfrm>
          <a:prstGeom prst="rect">
            <a:avLst/>
          </a:prstGeom>
          <a:noFill/>
        </p:spPr>
        <p:txBody>
          <a:bodyPr wrap="square" anchor="t" lIns="0" rIns="0" tIns="0" bIns="0">
            <a:spAutoFit/>
          </a:bodyPr>
          <a:lstStyle/>
          <a:p>
            <a:pPr algn="ctr"/>
            <a:r>
              <a:rPr sz="3000" b="1" i="0">
                <a:solidFill>
                  <a:srgbClr val="14141C"/>
                </a:solidFill>
                <a:latin typeface="Geist Mono"/>
              </a:rPr>
              <a:t>~$965B</a:t>
            </a:r>
          </a:p>
        </p:txBody>
      </p:sp>
      <p:sp>
        <p:nvSpPr>
          <p:cNvPr id="18" name="TextBox 17"/>
          <p:cNvSpPr txBox="1"/>
          <p:nvPr/>
        </p:nvSpPr>
        <p:spPr>
          <a:xfrm>
            <a:off x="6345936" y="2377440"/>
            <a:ext cx="2350008" cy="731519"/>
          </a:xfrm>
          <a:prstGeom prst="rect">
            <a:avLst/>
          </a:prstGeom>
          <a:noFill/>
        </p:spPr>
        <p:txBody>
          <a:bodyPr wrap="square" anchor="t" lIns="0" rIns="0" tIns="0" bIns="0">
            <a:spAutoFit/>
          </a:bodyPr>
          <a:lstStyle/>
          <a:p>
            <a:pPr algn="ctr"/>
            <a:r>
              <a:rPr sz="1150" b="0" i="0">
                <a:solidFill>
                  <a:srgbClr val="555560"/>
                </a:solidFill>
                <a:latin typeface="Geist"/>
              </a:rPr>
              <a:t>Anthropic (press-reported)</a:t>
            </a:r>
          </a:p>
        </p:txBody>
      </p:sp>
      <p:sp>
        <p:nvSpPr>
          <p:cNvPr id="19" name="Rectangle 18"/>
          <p:cNvSpPr/>
          <p:nvPr/>
        </p:nvSpPr>
        <p:spPr>
          <a:xfrm>
            <a:off x="9098280" y="1051560"/>
            <a:ext cx="2606040"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98280" y="1051560"/>
            <a:ext cx="2606040" cy="82296"/>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9719" y="1463040"/>
            <a:ext cx="2423160" cy="822960"/>
          </a:xfrm>
          <a:prstGeom prst="rect">
            <a:avLst/>
          </a:prstGeom>
          <a:noFill/>
        </p:spPr>
        <p:txBody>
          <a:bodyPr wrap="square" anchor="t" lIns="0" rIns="0" tIns="0" bIns="0">
            <a:spAutoFit/>
          </a:bodyPr>
          <a:lstStyle/>
          <a:p>
            <a:pPr algn="ctr"/>
            <a:r>
              <a:rPr sz="3000" b="1" i="0">
                <a:solidFill>
                  <a:srgbClr val="14141C"/>
                </a:solidFill>
                <a:latin typeface="Geist Mono"/>
              </a:rPr>
              <a:t>$700B</a:t>
            </a:r>
          </a:p>
        </p:txBody>
      </p:sp>
      <p:sp>
        <p:nvSpPr>
          <p:cNvPr id="22" name="TextBox 21"/>
          <p:cNvSpPr txBox="1"/>
          <p:nvPr/>
        </p:nvSpPr>
        <p:spPr>
          <a:xfrm>
            <a:off x="9226296" y="2377440"/>
            <a:ext cx="2350008" cy="731519"/>
          </a:xfrm>
          <a:prstGeom prst="rect">
            <a:avLst/>
          </a:prstGeom>
          <a:noFill/>
        </p:spPr>
        <p:txBody>
          <a:bodyPr wrap="square" anchor="t" lIns="0" rIns="0" tIns="0" bIns="0">
            <a:spAutoFit/>
          </a:bodyPr>
          <a:lstStyle/>
          <a:p>
            <a:pPr algn="ctr"/>
            <a:r>
              <a:rPr sz="1150" b="0" i="0">
                <a:solidFill>
                  <a:srgbClr val="555560"/>
                </a:solidFill>
                <a:latin typeface="Geist"/>
              </a:rPr>
              <a:t>2026 hyperscaler capex</a:t>
            </a:r>
          </a:p>
        </p:txBody>
      </p:sp>
      <p:sp>
        <p:nvSpPr>
          <p:cNvPr id="23" name="Rectangle 22"/>
          <p:cNvSpPr/>
          <p:nvPr/>
        </p:nvSpPr>
        <p:spPr>
          <a:xfrm>
            <a:off x="457200" y="3474720"/>
            <a:ext cx="11247120" cy="2788919"/>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621024"/>
            <a:ext cx="10625328" cy="2496311"/>
          </a:xfrm>
          <a:prstGeom prst="rect">
            <a:avLst/>
          </a:prstGeom>
          <a:noFill/>
        </p:spPr>
        <p:txBody>
          <a:bodyPr wrap="square" anchor="ctr" lIns="0" rIns="0" tIns="0" bIns="0">
            <a:spAutoFit/>
          </a:bodyPr>
          <a:lstStyle/>
          <a:p>
            <a:pPr algn="l"/>
            <a:r>
              <a:rPr sz="1400" b="1" i="0">
                <a:solidFill>
                  <a:srgbClr val="14141C"/>
                </a:solidFill>
                <a:latin typeface="Geist"/>
              </a:rPr>
              <a:t>The frontier shifted back to CLOSED: after Llama 4 stumbled and DeepSeek leveraged its open weights, even Meta pivoted toward proprietary models. OpenAI, Anthropic, and Google keep their best models closed to recoup training cost and limit misuse.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Europe: one chokepoint, a thin application layer</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5623560" cy="5212079"/>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63040"/>
            <a:ext cx="4892040" cy="914400"/>
          </a:xfrm>
          <a:prstGeom prst="rect">
            <a:avLst/>
          </a:prstGeom>
          <a:noFill/>
        </p:spPr>
        <p:txBody>
          <a:bodyPr wrap="square" anchor="t" lIns="0" rIns="0" tIns="0" bIns="0">
            <a:spAutoFit/>
          </a:bodyPr>
          <a:lstStyle/>
          <a:p>
            <a:pPr algn="l"/>
            <a:r>
              <a:rPr sz="4400" b="1" i="0">
                <a:solidFill>
                  <a:srgbClr val="14141C"/>
                </a:solidFill>
                <a:latin typeface="Geist Mono"/>
              </a:rPr>
              <a:t>ASML</a:t>
            </a:r>
          </a:p>
        </p:txBody>
      </p:sp>
      <p:sp>
        <p:nvSpPr>
          <p:cNvPr id="9" name="TextBox 8"/>
          <p:cNvSpPr txBox="1"/>
          <p:nvPr/>
        </p:nvSpPr>
        <p:spPr>
          <a:xfrm>
            <a:off x="822960" y="2606040"/>
            <a:ext cx="4892040" cy="3383279"/>
          </a:xfrm>
          <a:prstGeom prst="rect">
            <a:avLst/>
          </a:prstGeom>
          <a:noFill/>
        </p:spPr>
        <p:txBody>
          <a:bodyPr wrap="square" anchor="t" lIns="0" rIns="0" tIns="0" bIns="0">
            <a:spAutoFit/>
          </a:bodyPr>
          <a:lstStyle/>
          <a:p>
            <a:pPr algn="l"/>
            <a:r>
              <a:rPr sz="1450" b="0" i="0">
                <a:solidFill>
                  <a:srgbClr val="14141C"/>
                </a:solidFill>
                <a:latin typeface="Geist"/>
              </a:rPr>
              <a:t>The one irreplaceable asset. Monopoly on EUV lithography (~90% share, ~$250M/machine); EUR 32.7B 2025 sales. Every advanced NVIDIA or TSMC chip depends on it. Europe's leverage is hardware, not models.</a:t>
            </a:r>
          </a:p>
        </p:txBody>
      </p:sp>
      <p:sp>
        <p:nvSpPr>
          <p:cNvPr id="10" name="Rectangle 9"/>
          <p:cNvSpPr/>
          <p:nvPr/>
        </p:nvSpPr>
        <p:spPr>
          <a:xfrm>
            <a:off x="6400800" y="1051560"/>
            <a:ext cx="5303520" cy="1584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051560"/>
            <a:ext cx="91440" cy="1584959"/>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56832" y="1161288"/>
            <a:ext cx="4892040" cy="457200"/>
          </a:xfrm>
          <a:prstGeom prst="rect">
            <a:avLst/>
          </a:prstGeom>
          <a:noFill/>
        </p:spPr>
        <p:txBody>
          <a:bodyPr wrap="square" anchor="t" lIns="0" rIns="0" tIns="0" bIns="0">
            <a:spAutoFit/>
          </a:bodyPr>
          <a:lstStyle/>
          <a:p>
            <a:pPr algn="l"/>
            <a:r>
              <a:rPr sz="1400" b="1" i="0">
                <a:solidFill>
                  <a:srgbClr val="14141C"/>
                </a:solidFill>
                <a:latin typeface="Geist Mono"/>
              </a:rPr>
              <a:t>Mistral (FR)</a:t>
            </a:r>
          </a:p>
        </p:txBody>
      </p:sp>
      <p:sp>
        <p:nvSpPr>
          <p:cNvPr id="13" name="TextBox 12"/>
          <p:cNvSpPr txBox="1"/>
          <p:nvPr/>
        </p:nvSpPr>
        <p:spPr>
          <a:xfrm>
            <a:off x="6656832" y="1618488"/>
            <a:ext cx="4846320" cy="944879"/>
          </a:xfrm>
          <a:prstGeom prst="rect">
            <a:avLst/>
          </a:prstGeom>
          <a:noFill/>
        </p:spPr>
        <p:txBody>
          <a:bodyPr wrap="square" anchor="t" lIns="0" rIns="0" tIns="0" bIns="0">
            <a:spAutoFit/>
          </a:bodyPr>
          <a:lstStyle/>
          <a:p>
            <a:pPr algn="l"/>
            <a:r>
              <a:rPr sz="1200" b="0" i="0">
                <a:solidFill>
                  <a:srgbClr val="14141C"/>
                </a:solidFill>
                <a:latin typeface="Geist"/>
              </a:rPr>
              <a:t>EUR 11.7B; ASML took ~11%</a:t>
            </a:r>
          </a:p>
        </p:txBody>
      </p:sp>
      <p:sp>
        <p:nvSpPr>
          <p:cNvPr id="14" name="Rectangle 13"/>
          <p:cNvSpPr/>
          <p:nvPr/>
        </p:nvSpPr>
        <p:spPr>
          <a:xfrm>
            <a:off x="6400800" y="2865120"/>
            <a:ext cx="5303520" cy="1584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2865120"/>
            <a:ext cx="91440" cy="1584959"/>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2974848"/>
            <a:ext cx="4892040" cy="457200"/>
          </a:xfrm>
          <a:prstGeom prst="rect">
            <a:avLst/>
          </a:prstGeom>
          <a:noFill/>
        </p:spPr>
        <p:txBody>
          <a:bodyPr wrap="square" anchor="t" lIns="0" rIns="0" tIns="0" bIns="0">
            <a:spAutoFit/>
          </a:bodyPr>
          <a:lstStyle/>
          <a:p>
            <a:pPr algn="l"/>
            <a:r>
              <a:rPr sz="1400" b="1" i="0">
                <a:solidFill>
                  <a:srgbClr val="14141C"/>
                </a:solidFill>
                <a:latin typeface="Geist Mono"/>
              </a:rPr>
              <a:t>Helsing (DE)</a:t>
            </a:r>
          </a:p>
        </p:txBody>
      </p:sp>
      <p:sp>
        <p:nvSpPr>
          <p:cNvPr id="17" name="TextBox 16"/>
          <p:cNvSpPr txBox="1"/>
          <p:nvPr/>
        </p:nvSpPr>
        <p:spPr>
          <a:xfrm>
            <a:off x="6656832" y="3432048"/>
            <a:ext cx="4846320" cy="944879"/>
          </a:xfrm>
          <a:prstGeom prst="rect">
            <a:avLst/>
          </a:prstGeom>
          <a:noFill/>
        </p:spPr>
        <p:txBody>
          <a:bodyPr wrap="square" anchor="t" lIns="0" rIns="0" tIns="0" bIns="0">
            <a:spAutoFit/>
          </a:bodyPr>
          <a:lstStyle/>
          <a:p>
            <a:pPr algn="l"/>
            <a:r>
              <a:rPr sz="1200" b="0" i="0">
                <a:solidFill>
                  <a:srgbClr val="14141C"/>
                </a:solidFill>
                <a:latin typeface="Geist"/>
              </a:rPr>
              <a:t>defense AI, EUR 12B</a:t>
            </a:r>
          </a:p>
        </p:txBody>
      </p:sp>
      <p:sp>
        <p:nvSpPr>
          <p:cNvPr id="18" name="Rectangle 17"/>
          <p:cNvSpPr/>
          <p:nvPr/>
        </p:nvSpPr>
        <p:spPr>
          <a:xfrm>
            <a:off x="6400800" y="4678680"/>
            <a:ext cx="5303520" cy="1584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678680"/>
            <a:ext cx="91440" cy="1584959"/>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56832" y="4788408"/>
            <a:ext cx="4892040" cy="457200"/>
          </a:xfrm>
          <a:prstGeom prst="rect">
            <a:avLst/>
          </a:prstGeom>
          <a:noFill/>
        </p:spPr>
        <p:txBody>
          <a:bodyPr wrap="square" anchor="t" lIns="0" rIns="0" tIns="0" bIns="0">
            <a:spAutoFit/>
          </a:bodyPr>
          <a:lstStyle/>
          <a:p>
            <a:pPr algn="l"/>
            <a:r>
              <a:rPr sz="1400" b="1" i="0">
                <a:solidFill>
                  <a:srgbClr val="14141C"/>
                </a:solidFill>
                <a:latin typeface="Geist Mono"/>
              </a:rPr>
              <a:t>ElevenLabs / Synthesia</a:t>
            </a:r>
          </a:p>
        </p:txBody>
      </p:sp>
      <p:sp>
        <p:nvSpPr>
          <p:cNvPr id="21" name="TextBox 20"/>
          <p:cNvSpPr txBox="1"/>
          <p:nvPr/>
        </p:nvSpPr>
        <p:spPr>
          <a:xfrm>
            <a:off x="6656832" y="5245608"/>
            <a:ext cx="4846320" cy="944879"/>
          </a:xfrm>
          <a:prstGeom prst="rect">
            <a:avLst/>
          </a:prstGeom>
          <a:noFill/>
        </p:spPr>
        <p:txBody>
          <a:bodyPr wrap="square" anchor="t" lIns="0" rIns="0" tIns="0" bIns="0">
            <a:spAutoFit/>
          </a:bodyPr>
          <a:lstStyle/>
          <a:p>
            <a:pPr algn="l"/>
            <a:r>
              <a:rPr sz="1200" b="0" i="0">
                <a:solidFill>
                  <a:srgbClr val="14141C"/>
                </a:solidFill>
                <a:latin typeface="Geist"/>
              </a:rPr>
              <a:t>$11B / ~$4B; application layer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China: the open-weight surge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pic>
        <p:nvPicPr>
          <p:cNvPr id="7" name="Picture 6" descr="open_weight_rise.png"/>
          <p:cNvPicPr>
            <a:picLocks noChangeAspect="1"/>
          </p:cNvPicPr>
          <p:nvPr/>
        </p:nvPicPr>
        <p:blipFill>
          <a:blip r:embed="rId2"/>
          <a:stretch>
            <a:fillRect/>
          </a:stretch>
        </p:blipFill>
        <p:spPr>
          <a:xfrm>
            <a:off x="457200" y="1808743"/>
            <a:ext cx="6298387" cy="3697713"/>
          </a:xfrm>
          <a:prstGeom prst="rect">
            <a:avLst/>
          </a:prstGeom>
        </p:spPr>
      </p:pic>
      <p:sp>
        <p:nvSpPr>
          <p:cNvPr id="8" name="TextBox 7"/>
          <p:cNvSpPr txBox="1"/>
          <p:nvPr/>
        </p:nvSpPr>
        <p:spPr>
          <a:xfrm>
            <a:off x="7121347" y="1051560"/>
            <a:ext cx="4582972" cy="365760"/>
          </a:xfrm>
          <a:prstGeom prst="rect">
            <a:avLst/>
          </a:prstGeom>
          <a:noFill/>
        </p:spPr>
        <p:txBody>
          <a:bodyPr wrap="square" anchor="t" lIns="0" rIns="0" tIns="0" bIns="0">
            <a:spAutoFit/>
          </a:bodyPr>
          <a:lstStyle/>
          <a:p>
            <a:pPr algn="l"/>
            <a:r>
              <a:rPr sz="1400" b="1" i="0">
                <a:solidFill>
                  <a:srgbClr val="FF1493"/>
                </a:solidFill>
                <a:latin typeface="Geist Mono"/>
              </a:rPr>
              <a:t>The DeepSeek moment</a:t>
            </a:r>
          </a:p>
        </p:txBody>
      </p:sp>
      <p:sp>
        <p:nvSpPr>
          <p:cNvPr id="9" name="TextBox 8"/>
          <p:cNvSpPr txBox="1"/>
          <p:nvPr/>
        </p:nvSpPr>
        <p:spPr>
          <a:xfrm>
            <a:off x="7121347" y="1435608"/>
            <a:ext cx="4582972" cy="914400"/>
          </a:xfrm>
          <a:prstGeom prst="rect">
            <a:avLst/>
          </a:prstGeom>
          <a:noFill/>
        </p:spPr>
        <p:txBody>
          <a:bodyPr wrap="square" anchor="t" lIns="0" rIns="0" tIns="0" bIns="0">
            <a:spAutoFit/>
          </a:bodyPr>
          <a:lstStyle/>
          <a:p>
            <a:pPr algn="l"/>
            <a:r>
              <a:rPr sz="1250" b="0" i="0">
                <a:solidFill>
                  <a:srgbClr val="14141C"/>
                </a:solidFill>
                <a:latin typeface="Geist"/>
              </a:rPr>
              <a:t>R1 (Jan 2025), trained for a reported ~$5.6M, topped the US App Store and wiped ~$600B off NVIDIA in a day.</a:t>
            </a:r>
          </a:p>
        </p:txBody>
      </p:sp>
      <p:sp>
        <p:nvSpPr>
          <p:cNvPr id="10" name="TextBox 9"/>
          <p:cNvSpPr txBox="1"/>
          <p:nvPr/>
        </p:nvSpPr>
        <p:spPr>
          <a:xfrm>
            <a:off x="7121347" y="2468880"/>
            <a:ext cx="4582972" cy="365760"/>
          </a:xfrm>
          <a:prstGeom prst="rect">
            <a:avLst/>
          </a:prstGeom>
          <a:noFill/>
        </p:spPr>
        <p:txBody>
          <a:bodyPr wrap="square" anchor="t" lIns="0" rIns="0" tIns="0" bIns="0">
            <a:spAutoFit/>
          </a:bodyPr>
          <a:lstStyle/>
          <a:p>
            <a:pPr algn="l"/>
            <a:r>
              <a:rPr sz="1400" b="1" i="0">
                <a:solidFill>
                  <a:srgbClr val="FF1493"/>
                </a:solidFill>
                <a:latin typeface="Geist Mono"/>
              </a:rPr>
              <a:t>An open-weight ecosystem</a:t>
            </a:r>
          </a:p>
        </p:txBody>
      </p:sp>
      <p:sp>
        <p:nvSpPr>
          <p:cNvPr id="11" name="TextBox 10"/>
          <p:cNvSpPr txBox="1"/>
          <p:nvPr/>
        </p:nvSpPr>
        <p:spPr>
          <a:xfrm>
            <a:off x="7121347" y="2852928"/>
            <a:ext cx="4582972" cy="914400"/>
          </a:xfrm>
          <a:prstGeom prst="rect">
            <a:avLst/>
          </a:prstGeom>
          <a:noFill/>
        </p:spPr>
        <p:txBody>
          <a:bodyPr wrap="square" anchor="t" lIns="0" rIns="0" tIns="0" bIns="0">
            <a:spAutoFit/>
          </a:bodyPr>
          <a:lstStyle/>
          <a:p>
            <a:pPr algn="l"/>
            <a:r>
              <a:rPr sz="1250" b="0" i="0">
                <a:solidFill>
                  <a:srgbClr val="14141C"/>
                </a:solidFill>
                <a:latin typeface="Geist"/>
              </a:rPr>
              <a:t>Qwen, Ernie, Kimi, GLM, Doubao, Pangu. Price wars (Qwen cut up to 97%); Doubao serves &gt;120T tokens/day.</a:t>
            </a:r>
          </a:p>
        </p:txBody>
      </p:sp>
      <p:sp>
        <p:nvSpPr>
          <p:cNvPr id="12" name="TextBox 11"/>
          <p:cNvSpPr txBox="1"/>
          <p:nvPr/>
        </p:nvSpPr>
        <p:spPr>
          <a:xfrm>
            <a:off x="7121347" y="3886200"/>
            <a:ext cx="4582972" cy="365760"/>
          </a:xfrm>
          <a:prstGeom prst="rect">
            <a:avLst/>
          </a:prstGeom>
          <a:noFill/>
        </p:spPr>
        <p:txBody>
          <a:bodyPr wrap="square" anchor="t" lIns="0" rIns="0" tIns="0" bIns="0">
            <a:spAutoFit/>
          </a:bodyPr>
          <a:lstStyle/>
          <a:p>
            <a:pPr algn="l"/>
            <a:r>
              <a:rPr sz="1400" b="1" i="0">
                <a:solidFill>
                  <a:srgbClr val="FF1493"/>
                </a:solidFill>
                <a:latin typeface="Geist Mono"/>
              </a:rPr>
              <a:t>Global South adoption</a:t>
            </a:r>
          </a:p>
        </p:txBody>
      </p:sp>
      <p:sp>
        <p:nvSpPr>
          <p:cNvPr id="13" name="TextBox 12"/>
          <p:cNvSpPr txBox="1"/>
          <p:nvPr/>
        </p:nvSpPr>
        <p:spPr>
          <a:xfrm>
            <a:off x="7121347" y="4270248"/>
            <a:ext cx="4582972" cy="914400"/>
          </a:xfrm>
          <a:prstGeom prst="rect">
            <a:avLst/>
          </a:prstGeom>
          <a:noFill/>
        </p:spPr>
        <p:txBody>
          <a:bodyPr wrap="square" anchor="t" lIns="0" rIns="0" tIns="0" bIns="0">
            <a:spAutoFit/>
          </a:bodyPr>
          <a:lstStyle/>
          <a:p>
            <a:pPr algn="l"/>
            <a:r>
              <a:rPr sz="1250" b="0" i="0">
                <a:solidFill>
                  <a:srgbClr val="14141C"/>
                </a:solidFill>
                <a:latin typeface="Geist"/>
              </a:rPr>
              <a:t>Singapore's government chose Qwen; Malaysia's stack runs on DeepSeek. Open weights are becoming an export.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Asia beyond China</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5486400" cy="24688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5486400" cy="457200"/>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51560"/>
            <a:ext cx="5120640" cy="457200"/>
          </a:xfrm>
          <a:prstGeom prst="rect">
            <a:avLst/>
          </a:prstGeom>
          <a:noFill/>
        </p:spPr>
        <p:txBody>
          <a:bodyPr wrap="square" anchor="ctr" lIns="0" rIns="0" tIns="0" bIns="0">
            <a:spAutoFit/>
          </a:bodyPr>
          <a:lstStyle/>
          <a:p>
            <a:pPr algn="l"/>
            <a:r>
              <a:rPr sz="1350" b="1" i="0">
                <a:solidFill>
                  <a:srgbClr val="FFFFFF"/>
                </a:solidFill>
                <a:latin typeface="Geist Mono"/>
              </a:rPr>
              <a:t>INDIA</a:t>
            </a:r>
          </a:p>
        </p:txBody>
      </p:sp>
      <p:sp>
        <p:nvSpPr>
          <p:cNvPr id="10" name="TextBox 9"/>
          <p:cNvSpPr txBox="1"/>
          <p:nvPr/>
        </p:nvSpPr>
        <p:spPr>
          <a:xfrm>
            <a:off x="713232" y="1636776"/>
            <a:ext cx="4974336" cy="457200"/>
          </a:xfrm>
          <a:prstGeom prst="rect">
            <a:avLst/>
          </a:prstGeom>
          <a:noFill/>
        </p:spPr>
        <p:txBody>
          <a:bodyPr wrap="square" anchor="ctr" lIns="0" rIns="0" tIns="0" bIns="0">
            <a:spAutoFit/>
          </a:bodyPr>
          <a:lstStyle/>
          <a:p>
            <a:pPr algn="l"/>
            <a:r>
              <a:rPr sz="1800" b="1" i="0">
                <a:solidFill>
                  <a:srgbClr val="9A3412"/>
                </a:solidFill>
                <a:latin typeface="Geist Mono"/>
              </a:rPr>
              <a:t>POPULATION-SCALE</a:t>
            </a:r>
          </a:p>
        </p:txBody>
      </p:sp>
      <p:sp>
        <p:nvSpPr>
          <p:cNvPr id="11" name="TextBox 10"/>
          <p:cNvSpPr txBox="1"/>
          <p:nvPr/>
        </p:nvSpPr>
        <p:spPr>
          <a:xfrm>
            <a:off x="713232" y="2240280"/>
            <a:ext cx="4974336" cy="932687"/>
          </a:xfrm>
          <a:prstGeom prst="rect">
            <a:avLst/>
          </a:prstGeom>
          <a:noFill/>
        </p:spPr>
        <p:txBody>
          <a:bodyPr wrap="square" anchor="t" lIns="0" rIns="0" tIns="0" bIns="0">
            <a:spAutoFit/>
          </a:bodyPr>
          <a:lstStyle/>
          <a:p>
            <a:pPr algn="l"/>
            <a:r>
              <a:rPr sz="1200" b="0" i="0">
                <a:solidFill>
                  <a:srgbClr val="14141C"/>
                </a:solidFill>
                <a:latin typeface="Geist"/>
              </a:rPr>
              <a:t>Sarvam (govt-backed sovereign LLM) + Krutrim, under the national IndiaAI Mission. AI layered on UPI / Aadhaar at population scale; Qure.ai screens TB nationally.</a:t>
            </a:r>
          </a:p>
        </p:txBody>
      </p:sp>
      <p:sp>
        <p:nvSpPr>
          <p:cNvPr id="12" name="TextBox 11"/>
          <p:cNvSpPr txBox="1"/>
          <p:nvPr/>
        </p:nvSpPr>
        <p:spPr>
          <a:xfrm>
            <a:off x="713232" y="3191256"/>
            <a:ext cx="4974336" cy="237744"/>
          </a:xfrm>
          <a:prstGeom prst="rect">
            <a:avLst/>
          </a:prstGeom>
          <a:noFill/>
        </p:spPr>
        <p:txBody>
          <a:bodyPr wrap="square" anchor="t" lIns="0" rIns="0" tIns="0" bIns="0">
            <a:spAutoFit/>
          </a:bodyPr>
          <a:lstStyle/>
          <a:p>
            <a:pPr algn="l"/>
            <a:r>
              <a:rPr sz="950" b="0" i="0">
                <a:solidFill>
                  <a:srgbClr val="9A3412"/>
                </a:solidFill>
                <a:latin typeface="Geist Mono"/>
              </a:rPr>
              <a:t>IndiaAI Mission; PIB 2025</a:t>
            </a:r>
          </a:p>
        </p:txBody>
      </p:sp>
      <p:sp>
        <p:nvSpPr>
          <p:cNvPr id="13" name="Rectangle 12"/>
          <p:cNvSpPr/>
          <p:nvPr/>
        </p:nvSpPr>
        <p:spPr>
          <a:xfrm>
            <a:off x="6217920" y="1051560"/>
            <a:ext cx="5486400" cy="24688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051560"/>
            <a:ext cx="5486400" cy="4572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1051560"/>
            <a:ext cx="5120640" cy="457200"/>
          </a:xfrm>
          <a:prstGeom prst="rect">
            <a:avLst/>
          </a:prstGeom>
          <a:noFill/>
        </p:spPr>
        <p:txBody>
          <a:bodyPr wrap="square" anchor="ctr" lIns="0" rIns="0" tIns="0" bIns="0">
            <a:spAutoFit/>
          </a:bodyPr>
          <a:lstStyle/>
          <a:p>
            <a:pPr algn="l"/>
            <a:r>
              <a:rPr sz="1350" b="1" i="0">
                <a:solidFill>
                  <a:srgbClr val="FFFFFF"/>
                </a:solidFill>
                <a:latin typeface="Geist Mono"/>
              </a:rPr>
              <a:t>SOUTH KOREA</a:t>
            </a:r>
          </a:p>
        </p:txBody>
      </p:sp>
      <p:sp>
        <p:nvSpPr>
          <p:cNvPr id="16" name="TextBox 15"/>
          <p:cNvSpPr txBox="1"/>
          <p:nvPr/>
        </p:nvSpPr>
        <p:spPr>
          <a:xfrm>
            <a:off x="6473952" y="1636776"/>
            <a:ext cx="4974336" cy="457200"/>
          </a:xfrm>
          <a:prstGeom prst="rect">
            <a:avLst/>
          </a:prstGeom>
          <a:noFill/>
        </p:spPr>
        <p:txBody>
          <a:bodyPr wrap="square" anchor="ctr" lIns="0" rIns="0" tIns="0" bIns="0">
            <a:spAutoFit/>
          </a:bodyPr>
          <a:lstStyle/>
          <a:p>
            <a:pPr algn="l"/>
            <a:r>
              <a:rPr sz="1800" b="1" i="0">
                <a:solidFill>
                  <a:srgbClr val="1E3A8A"/>
                </a:solidFill>
                <a:latin typeface="Geist Mono"/>
              </a:rPr>
              <a:t>CLINICAL-AI EXPORTER</a:t>
            </a:r>
          </a:p>
        </p:txBody>
      </p:sp>
      <p:sp>
        <p:nvSpPr>
          <p:cNvPr id="17" name="TextBox 16"/>
          <p:cNvSpPr txBox="1"/>
          <p:nvPr/>
        </p:nvSpPr>
        <p:spPr>
          <a:xfrm>
            <a:off x="6473952" y="2240280"/>
            <a:ext cx="4974336" cy="932687"/>
          </a:xfrm>
          <a:prstGeom prst="rect">
            <a:avLst/>
          </a:prstGeom>
          <a:noFill/>
        </p:spPr>
        <p:txBody>
          <a:bodyPr wrap="square" anchor="t" lIns="0" rIns="0" tIns="0" bIns="0">
            <a:spAutoFit/>
          </a:bodyPr>
          <a:lstStyle/>
          <a:p>
            <a:pPr algn="l"/>
            <a:r>
              <a:rPr sz="1200" b="0" i="0">
                <a:solidFill>
                  <a:srgbClr val="14141C"/>
                </a:solidFill>
                <a:latin typeface="Geist"/>
              </a:rPr>
              <a:t>Naver HyperCLOVA X, LG EXAONE (open-weight), Samsung Gauss, backed by a national AI fund. Lunit + VUNO export FDA-cleared clinical AI worldwide.</a:t>
            </a:r>
          </a:p>
        </p:txBody>
      </p:sp>
      <p:sp>
        <p:nvSpPr>
          <p:cNvPr id="18" name="TextBox 17"/>
          <p:cNvSpPr txBox="1"/>
          <p:nvPr/>
        </p:nvSpPr>
        <p:spPr>
          <a:xfrm>
            <a:off x="6473952" y="3191256"/>
            <a:ext cx="4974336" cy="237744"/>
          </a:xfrm>
          <a:prstGeom prst="rect">
            <a:avLst/>
          </a:prstGeom>
          <a:noFill/>
        </p:spPr>
        <p:txBody>
          <a:bodyPr wrap="square" anchor="t" lIns="0" rIns="0" tIns="0" bIns="0">
            <a:spAutoFit/>
          </a:bodyPr>
          <a:lstStyle/>
          <a:p>
            <a:pPr algn="l"/>
            <a:r>
              <a:rPr sz="950" b="0" i="0">
                <a:solidFill>
                  <a:srgbClr val="1E3A8A"/>
                </a:solidFill>
                <a:latin typeface="Geist Mono"/>
              </a:rPr>
              <a:t>MSIT; TechCrunch 2025</a:t>
            </a:r>
          </a:p>
        </p:txBody>
      </p:sp>
      <p:sp>
        <p:nvSpPr>
          <p:cNvPr id="19" name="Rectangle 18"/>
          <p:cNvSpPr/>
          <p:nvPr/>
        </p:nvSpPr>
        <p:spPr>
          <a:xfrm>
            <a:off x="457200" y="3794759"/>
            <a:ext cx="5486400" cy="24688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794759"/>
            <a:ext cx="5486400" cy="457200"/>
          </a:xfrm>
          <a:prstGeom prst="rect">
            <a:avLst/>
          </a:prstGeom>
          <a:solidFill>
            <a:srgbClr val="115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794759"/>
            <a:ext cx="5120640" cy="457200"/>
          </a:xfrm>
          <a:prstGeom prst="rect">
            <a:avLst/>
          </a:prstGeom>
          <a:noFill/>
        </p:spPr>
        <p:txBody>
          <a:bodyPr wrap="square" anchor="ctr" lIns="0" rIns="0" tIns="0" bIns="0">
            <a:spAutoFit/>
          </a:bodyPr>
          <a:lstStyle/>
          <a:p>
            <a:pPr algn="l"/>
            <a:r>
              <a:rPr sz="1350" b="1" i="0">
                <a:solidFill>
                  <a:srgbClr val="FFFFFF"/>
                </a:solidFill>
                <a:latin typeface="Geist Mono"/>
              </a:rPr>
              <a:t>JAPAN</a:t>
            </a:r>
          </a:p>
        </p:txBody>
      </p:sp>
      <p:sp>
        <p:nvSpPr>
          <p:cNvPr id="22" name="TextBox 21"/>
          <p:cNvSpPr txBox="1"/>
          <p:nvPr/>
        </p:nvSpPr>
        <p:spPr>
          <a:xfrm>
            <a:off x="713232" y="4379975"/>
            <a:ext cx="4974336" cy="457200"/>
          </a:xfrm>
          <a:prstGeom prst="rect">
            <a:avLst/>
          </a:prstGeom>
          <a:noFill/>
        </p:spPr>
        <p:txBody>
          <a:bodyPr wrap="square" anchor="ctr" lIns="0" rIns="0" tIns="0" bIns="0">
            <a:spAutoFit/>
          </a:bodyPr>
          <a:lstStyle/>
          <a:p>
            <a:pPr algn="l"/>
            <a:r>
              <a:rPr sz="1800" b="1" i="0">
                <a:solidFill>
                  <a:srgbClr val="115E59"/>
                </a:solidFill>
                <a:latin typeface="Geist Mono"/>
              </a:rPr>
              <a:t>INNOVATION-FIRST</a:t>
            </a:r>
          </a:p>
        </p:txBody>
      </p:sp>
      <p:sp>
        <p:nvSpPr>
          <p:cNvPr id="23" name="TextBox 22"/>
          <p:cNvSpPr txBox="1"/>
          <p:nvPr/>
        </p:nvSpPr>
        <p:spPr>
          <a:xfrm>
            <a:off x="713232" y="4983479"/>
            <a:ext cx="4974336" cy="932687"/>
          </a:xfrm>
          <a:prstGeom prst="rect">
            <a:avLst/>
          </a:prstGeom>
          <a:noFill/>
        </p:spPr>
        <p:txBody>
          <a:bodyPr wrap="square" anchor="t" lIns="0" rIns="0" tIns="0" bIns="0">
            <a:spAutoFit/>
          </a:bodyPr>
          <a:lstStyle/>
          <a:p>
            <a:pPr algn="l"/>
            <a:r>
              <a:rPr sz="1200" b="0" i="0">
                <a:solidFill>
                  <a:srgbClr val="14141C"/>
                </a:solidFill>
                <a:latin typeface="Geist"/>
              </a:rPr>
              <a:t>Sakana AI, the country's top unicorn; SoftBank owns ~11% of OpenAI. No-penalty AI law; AI-hospital pilots; Rapidus chasing a 2nm fab.</a:t>
            </a:r>
          </a:p>
        </p:txBody>
      </p:sp>
      <p:sp>
        <p:nvSpPr>
          <p:cNvPr id="24" name="TextBox 23"/>
          <p:cNvSpPr txBox="1"/>
          <p:nvPr/>
        </p:nvSpPr>
        <p:spPr>
          <a:xfrm>
            <a:off x="713232" y="5934455"/>
            <a:ext cx="4974336" cy="237744"/>
          </a:xfrm>
          <a:prstGeom prst="rect">
            <a:avLst/>
          </a:prstGeom>
          <a:noFill/>
        </p:spPr>
        <p:txBody>
          <a:bodyPr wrap="square" anchor="t" lIns="0" rIns="0" tIns="0" bIns="0">
            <a:spAutoFit/>
          </a:bodyPr>
          <a:lstStyle/>
          <a:p>
            <a:pPr algn="l"/>
            <a:r>
              <a:rPr sz="950" b="0" i="0">
                <a:solidFill>
                  <a:srgbClr val="115E59"/>
                </a:solidFill>
                <a:latin typeface="Geist Mono"/>
              </a:rPr>
              <a:t>AI Promotion Act 2025</a:t>
            </a:r>
          </a:p>
        </p:txBody>
      </p:sp>
      <p:sp>
        <p:nvSpPr>
          <p:cNvPr id="25" name="Rectangle 24"/>
          <p:cNvSpPr/>
          <p:nvPr/>
        </p:nvSpPr>
        <p:spPr>
          <a:xfrm>
            <a:off x="6217920" y="3794759"/>
            <a:ext cx="5486400" cy="24688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3794759"/>
            <a:ext cx="5486400" cy="4572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088" y="3794759"/>
            <a:ext cx="5120640" cy="457200"/>
          </a:xfrm>
          <a:prstGeom prst="rect">
            <a:avLst/>
          </a:prstGeom>
          <a:noFill/>
        </p:spPr>
        <p:txBody>
          <a:bodyPr wrap="square" anchor="ctr" lIns="0" rIns="0" tIns="0" bIns="0">
            <a:spAutoFit/>
          </a:bodyPr>
          <a:lstStyle/>
          <a:p>
            <a:pPr algn="l"/>
            <a:r>
              <a:rPr sz="1350" b="1" i="0">
                <a:solidFill>
                  <a:srgbClr val="FFFFFF"/>
                </a:solidFill>
                <a:latin typeface="Geist Mono"/>
              </a:rPr>
              <a:t>SOUTHEAST ASIA</a:t>
            </a:r>
          </a:p>
        </p:txBody>
      </p:sp>
      <p:sp>
        <p:nvSpPr>
          <p:cNvPr id="28" name="TextBox 27"/>
          <p:cNvSpPr txBox="1"/>
          <p:nvPr/>
        </p:nvSpPr>
        <p:spPr>
          <a:xfrm>
            <a:off x="6473952" y="4379975"/>
            <a:ext cx="4974336" cy="457200"/>
          </a:xfrm>
          <a:prstGeom prst="rect">
            <a:avLst/>
          </a:prstGeom>
          <a:noFill/>
        </p:spPr>
        <p:txBody>
          <a:bodyPr wrap="square" anchor="ctr" lIns="0" rIns="0" tIns="0" bIns="0">
            <a:spAutoFit/>
          </a:bodyPr>
          <a:lstStyle/>
          <a:p>
            <a:pPr algn="l"/>
            <a:r>
              <a:rPr sz="1800" b="1" i="0">
                <a:solidFill>
                  <a:srgbClr val="8A2BE2"/>
                </a:solidFill>
                <a:latin typeface="Geist Mono"/>
              </a:rPr>
              <a:t>THE BATTLEGROUND</a:t>
            </a:r>
          </a:p>
        </p:txBody>
      </p:sp>
      <p:sp>
        <p:nvSpPr>
          <p:cNvPr id="29" name="TextBox 28"/>
          <p:cNvSpPr txBox="1"/>
          <p:nvPr/>
        </p:nvSpPr>
        <p:spPr>
          <a:xfrm>
            <a:off x="6473952" y="4983479"/>
            <a:ext cx="4974336" cy="932687"/>
          </a:xfrm>
          <a:prstGeom prst="rect">
            <a:avLst/>
          </a:prstGeom>
          <a:noFill/>
        </p:spPr>
        <p:txBody>
          <a:bodyPr wrap="square" anchor="t" lIns="0" rIns="0" tIns="0" bIns="0">
            <a:spAutoFit/>
          </a:bodyPr>
          <a:lstStyle/>
          <a:p>
            <a:pPr algn="l"/>
            <a:r>
              <a:rPr sz="1200" b="0" i="0">
                <a:solidFill>
                  <a:srgbClr val="14141C"/>
                </a:solidFill>
                <a:latin typeface="Geist"/>
              </a:rPr>
              <a:t>SEA-LION switched from Meta's Llama to Alibaba's Qwen; Sahabat-AI (Indonesia), FPT (Vietnam). US and Chinese models compete for the next billion users.</a:t>
            </a:r>
          </a:p>
        </p:txBody>
      </p:sp>
      <p:sp>
        <p:nvSpPr>
          <p:cNvPr id="30" name="TextBox 29"/>
          <p:cNvSpPr txBox="1"/>
          <p:nvPr/>
        </p:nvSpPr>
        <p:spPr>
          <a:xfrm>
            <a:off x="6473952" y="5934455"/>
            <a:ext cx="4974336" cy="237744"/>
          </a:xfrm>
          <a:prstGeom prst="rect">
            <a:avLst/>
          </a:prstGeom>
          <a:noFill/>
        </p:spPr>
        <p:txBody>
          <a:bodyPr wrap="square" anchor="t" lIns="0" rIns="0" tIns="0" bIns="0">
            <a:spAutoFit/>
          </a:bodyPr>
          <a:lstStyle/>
          <a:p>
            <a:pPr algn="l"/>
            <a:r>
              <a:rPr sz="950" b="0" i="0">
                <a:solidFill>
                  <a:srgbClr val="8A2BE2"/>
                </a:solidFill>
                <a:latin typeface="Geist Mono"/>
              </a:rPr>
              <a:t>TechNode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DEPLOYMENT &amp; ADOPTION</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a:solidFill>
                  <a:srgbClr val="FF7F50"/>
                </a:solidFill>
                <a:latin typeface="Geist Mono"/>
              </a:rPr>
              <a:t>Curtis Chambers</a:t>
            </a:r>
            <a:r>
              <a:rPr sz="1100" b="1">
                <a:solidFill>
                  <a:srgbClr val="40E0D0"/>
                </a:solidFill>
                <a:latin typeface="Geist Mono"/>
              </a:rPr>
              <a:t>  ·  Jinchi Wei</a:t>
            </a:r>
          </a:p>
        </p:txBody>
      </p:sp>
      <p:sp>
        <p:nvSpPr>
          <p:cNvPr id="9" name="TextBox 8"/>
          <p:cNvSpPr txBox="1"/>
          <p:nvPr/>
        </p:nvSpPr>
        <p:spPr>
          <a:xfrm>
            <a:off x="3886200"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4114800"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CPH 200C · Computational Precision Health</a:t>
            </a:r>
          </a:p>
        </p:txBody>
      </p:sp>
      <p:sp>
        <p:nvSpPr>
          <p:cNvPr id="11" name="TextBox 10"/>
          <p:cNvSpPr txBox="1"/>
          <p:nvPr/>
        </p:nvSpPr>
        <p:spPr>
          <a:xfrm>
            <a:off x="8238744"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8467344"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Three Governing Systems for 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Who actually uses AI</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pic>
        <p:nvPicPr>
          <p:cNvPr id="7" name="Picture 6" descr="enterprise_adoption.png"/>
          <p:cNvPicPr>
            <a:picLocks noChangeAspect="1"/>
          </p:cNvPicPr>
          <p:nvPr/>
        </p:nvPicPr>
        <p:blipFill>
          <a:blip r:embed="rId2"/>
          <a:stretch>
            <a:fillRect/>
          </a:stretch>
        </p:blipFill>
        <p:spPr>
          <a:xfrm>
            <a:off x="457200" y="1358743"/>
            <a:ext cx="6298387" cy="4323392"/>
          </a:xfrm>
          <a:prstGeom prst="rect">
            <a:avLst/>
          </a:prstGeom>
        </p:spPr>
      </p:pic>
      <p:sp>
        <p:nvSpPr>
          <p:cNvPr id="8" name="TextBox 7"/>
          <p:cNvSpPr txBox="1"/>
          <p:nvPr/>
        </p:nvSpPr>
        <p:spPr>
          <a:xfrm>
            <a:off x="457200" y="5989320"/>
            <a:ext cx="6298387" cy="274320"/>
          </a:xfrm>
          <a:prstGeom prst="rect">
            <a:avLst/>
          </a:prstGeom>
          <a:noFill/>
        </p:spPr>
        <p:txBody>
          <a:bodyPr wrap="square" anchor="t" lIns="0" rIns="0" tIns="0" bIns="0">
            <a:spAutoFit/>
          </a:bodyPr>
          <a:lstStyle/>
          <a:p>
            <a:pPr algn="l"/>
            <a:r>
              <a:rPr sz="1050" b="0" i="0">
                <a:solidFill>
                  <a:srgbClr val="555560"/>
                </a:solidFill>
                <a:latin typeface="Geist"/>
              </a:rPr>
              <a:t>Eurostat measures formal adoption; McKinsey is a broad survey. Different definitions, same conclusion: the EU lags.</a:t>
            </a:r>
          </a:p>
        </p:txBody>
      </p:sp>
      <p:sp>
        <p:nvSpPr>
          <p:cNvPr id="9" name="TextBox 8"/>
          <p:cNvSpPr txBox="1"/>
          <p:nvPr/>
        </p:nvSpPr>
        <p:spPr>
          <a:xfrm>
            <a:off x="7121347" y="1143000"/>
            <a:ext cx="4582972" cy="365760"/>
          </a:xfrm>
          <a:prstGeom prst="rect">
            <a:avLst/>
          </a:prstGeom>
          <a:noFill/>
        </p:spPr>
        <p:txBody>
          <a:bodyPr wrap="square" anchor="t" lIns="0" rIns="0" tIns="0" bIns="0">
            <a:spAutoFit/>
          </a:bodyPr>
          <a:lstStyle/>
          <a:p>
            <a:pPr algn="l"/>
            <a:r>
              <a:rPr sz="1450" b="1" i="0">
                <a:solidFill>
                  <a:srgbClr val="14141C"/>
                </a:solidFill>
                <a:latin typeface="Geist Mono"/>
              </a:rPr>
              <a:t>Near-parity on use</a:t>
            </a:r>
          </a:p>
        </p:txBody>
      </p:sp>
      <p:sp>
        <p:nvSpPr>
          <p:cNvPr id="10" name="TextBox 9"/>
          <p:cNvSpPr txBox="1"/>
          <p:nvPr/>
        </p:nvSpPr>
        <p:spPr>
          <a:xfrm>
            <a:off x="7121347" y="1563624"/>
            <a:ext cx="4582972" cy="1280160"/>
          </a:xfrm>
          <a:prstGeom prst="rect">
            <a:avLst/>
          </a:prstGeom>
          <a:noFill/>
        </p:spPr>
        <p:txBody>
          <a:bodyPr wrap="square" anchor="t" lIns="0" rIns="0" tIns="0" bIns="0">
            <a:spAutoFit/>
          </a:bodyPr>
          <a:lstStyle/>
          <a:p>
            <a:pPr algn="l"/>
            <a:r>
              <a:rPr sz="1300" b="0" i="0">
                <a:solidFill>
                  <a:srgbClr val="14141C"/>
                </a:solidFill>
                <a:latin typeface="Geist"/>
              </a:rPr>
              <a:t>McKinsey: 88% of organizations use AI somewhere, but only ~1/3 have scaled it and 39% see real EBIT impact.</a:t>
            </a:r>
          </a:p>
        </p:txBody>
      </p:sp>
      <p:sp>
        <p:nvSpPr>
          <p:cNvPr id="11" name="TextBox 10"/>
          <p:cNvSpPr txBox="1"/>
          <p:nvPr/>
        </p:nvSpPr>
        <p:spPr>
          <a:xfrm>
            <a:off x="7121347" y="2971800"/>
            <a:ext cx="4582972" cy="365760"/>
          </a:xfrm>
          <a:prstGeom prst="rect">
            <a:avLst/>
          </a:prstGeom>
          <a:noFill/>
        </p:spPr>
        <p:txBody>
          <a:bodyPr wrap="square" anchor="t" lIns="0" rIns="0" tIns="0" bIns="0">
            <a:spAutoFit/>
          </a:bodyPr>
          <a:lstStyle/>
          <a:p>
            <a:pPr algn="l"/>
            <a:r>
              <a:rPr sz="1450" b="1" i="0">
                <a:solidFill>
                  <a:srgbClr val="14141C"/>
                </a:solidFill>
                <a:latin typeface="Geist Mono"/>
              </a:rPr>
              <a:t>Consumer</a:t>
            </a:r>
          </a:p>
        </p:txBody>
      </p:sp>
      <p:sp>
        <p:nvSpPr>
          <p:cNvPr id="12" name="TextBox 11"/>
          <p:cNvSpPr txBox="1"/>
          <p:nvPr/>
        </p:nvSpPr>
        <p:spPr>
          <a:xfrm>
            <a:off x="7121347" y="3392424"/>
            <a:ext cx="4582972" cy="1280160"/>
          </a:xfrm>
          <a:prstGeom prst="rect">
            <a:avLst/>
          </a:prstGeom>
          <a:noFill/>
        </p:spPr>
        <p:txBody>
          <a:bodyPr wrap="square" anchor="t" lIns="0" rIns="0" tIns="0" bIns="0">
            <a:spAutoFit/>
          </a:bodyPr>
          <a:lstStyle/>
          <a:p>
            <a:pPr algn="l"/>
            <a:r>
              <a:rPr sz="1300" b="0" i="0">
                <a:solidFill>
                  <a:srgbClr val="14141C"/>
                </a:solidFill>
                <a:latin typeface="Geist"/>
              </a:rPr>
              <a:t>ChatGPT ~900M weekly users, ~2.5x Gemini. China runs on its own: Doubao ~155M, DeepSeek ~82M. Western apps are absent there.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How AI gets deployed</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356616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66160" cy="5486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051560"/>
            <a:ext cx="3346704" cy="548640"/>
          </a:xfrm>
          <a:prstGeom prst="rect">
            <a:avLst/>
          </a:prstGeom>
          <a:noFill/>
        </p:spPr>
        <p:txBody>
          <a:bodyPr wrap="square" anchor="ctr" lIns="0" rIns="0" tIns="0" bIns="0">
            <a:spAutoFit/>
          </a:bodyPr>
          <a:lstStyle/>
          <a:p>
            <a:pPr algn="ctr"/>
            <a:r>
              <a:rPr sz="1350" b="1" i="0">
                <a:solidFill>
                  <a:srgbClr val="FFFFFF"/>
                </a:solidFill>
                <a:latin typeface="Geist Mono"/>
              </a:rPr>
              <a:t>CHINA</a:t>
            </a:r>
          </a:p>
        </p:txBody>
      </p:sp>
      <p:sp>
        <p:nvSpPr>
          <p:cNvPr id="10" name="TextBox 9"/>
          <p:cNvSpPr txBox="1"/>
          <p:nvPr/>
        </p:nvSpPr>
        <p:spPr>
          <a:xfrm>
            <a:off x="676656" y="1783080"/>
            <a:ext cx="3127248" cy="548640"/>
          </a:xfrm>
          <a:prstGeom prst="rect">
            <a:avLst/>
          </a:prstGeom>
          <a:noFill/>
        </p:spPr>
        <p:txBody>
          <a:bodyPr wrap="square" anchor="t" lIns="0" rIns="0" tIns="0" bIns="0">
            <a:spAutoFit/>
          </a:bodyPr>
          <a:lstStyle/>
          <a:p>
            <a:pPr algn="l"/>
            <a:r>
              <a:rPr sz="1700" b="1" i="0">
                <a:solidFill>
                  <a:srgbClr val="14141C"/>
                </a:solidFill>
                <a:latin typeface="Geist Mono"/>
              </a:rPr>
              <a:t>Super-app + state</a:t>
            </a:r>
          </a:p>
        </p:txBody>
      </p:sp>
      <p:sp>
        <p:nvSpPr>
          <p:cNvPr id="11" name="TextBox 10"/>
          <p:cNvSpPr txBox="1"/>
          <p:nvPr/>
        </p:nvSpPr>
        <p:spPr>
          <a:xfrm>
            <a:off x="676656" y="2514600"/>
            <a:ext cx="3127248" cy="3566159"/>
          </a:xfrm>
          <a:prstGeom prst="rect">
            <a:avLst/>
          </a:prstGeom>
          <a:noFill/>
        </p:spPr>
        <p:txBody>
          <a:bodyPr wrap="square" anchor="t" lIns="0" rIns="0" tIns="0" bIns="0">
            <a:spAutoFit/>
          </a:bodyPr>
          <a:lstStyle/>
          <a:p>
            <a:pPr algn="l"/>
            <a:r>
              <a:rPr sz="1250" b="0" i="0">
                <a:solidFill>
                  <a:srgbClr val="14141C"/>
                </a:solidFill>
                <a:latin typeface="Geist"/>
              </a:rPr>
              <a:t>AI agents inside WeChat; agentic commerce; state-coordinated, hardware-integrated. Deployment is centralized and consumer-facing.</a:t>
            </a:r>
          </a:p>
        </p:txBody>
      </p:sp>
      <p:sp>
        <p:nvSpPr>
          <p:cNvPr id="12" name="Rectangle 11"/>
          <p:cNvSpPr/>
          <p:nvPr/>
        </p:nvSpPr>
        <p:spPr>
          <a:xfrm>
            <a:off x="4297680" y="1051560"/>
            <a:ext cx="356616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051560"/>
            <a:ext cx="3566160" cy="5486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1051560"/>
            <a:ext cx="3346704" cy="548640"/>
          </a:xfrm>
          <a:prstGeom prst="rect">
            <a:avLst/>
          </a:prstGeom>
          <a:noFill/>
        </p:spPr>
        <p:txBody>
          <a:bodyPr wrap="square" anchor="ctr" lIns="0" rIns="0" tIns="0" bIns="0">
            <a:spAutoFit/>
          </a:bodyPr>
          <a:lstStyle/>
          <a:p>
            <a:pPr algn="ctr"/>
            <a:r>
              <a:rPr sz="1350" b="1" i="0">
                <a:solidFill>
                  <a:srgbClr val="14141C"/>
                </a:solidFill>
                <a:latin typeface="Geist Mono"/>
              </a:rPr>
              <a:t>UNITED STATES</a:t>
            </a:r>
          </a:p>
        </p:txBody>
      </p:sp>
      <p:sp>
        <p:nvSpPr>
          <p:cNvPr id="15" name="TextBox 14"/>
          <p:cNvSpPr txBox="1"/>
          <p:nvPr/>
        </p:nvSpPr>
        <p:spPr>
          <a:xfrm>
            <a:off x="4517136" y="1783080"/>
            <a:ext cx="3127248" cy="548640"/>
          </a:xfrm>
          <a:prstGeom prst="rect">
            <a:avLst/>
          </a:prstGeom>
          <a:noFill/>
        </p:spPr>
        <p:txBody>
          <a:bodyPr wrap="square" anchor="t" lIns="0" rIns="0" tIns="0" bIns="0">
            <a:spAutoFit/>
          </a:bodyPr>
          <a:lstStyle/>
          <a:p>
            <a:pPr algn="l"/>
            <a:r>
              <a:rPr sz="1700" b="1" i="0">
                <a:solidFill>
                  <a:srgbClr val="14141C"/>
                </a:solidFill>
                <a:latin typeface="Geist Mono"/>
              </a:rPr>
              <a:t>Enterprise SaaS</a:t>
            </a:r>
          </a:p>
        </p:txBody>
      </p:sp>
      <p:sp>
        <p:nvSpPr>
          <p:cNvPr id="16" name="TextBox 15"/>
          <p:cNvSpPr txBox="1"/>
          <p:nvPr/>
        </p:nvSpPr>
        <p:spPr>
          <a:xfrm>
            <a:off x="4517136" y="2514600"/>
            <a:ext cx="3127248" cy="3566159"/>
          </a:xfrm>
          <a:prstGeom prst="rect">
            <a:avLst/>
          </a:prstGeom>
          <a:noFill/>
        </p:spPr>
        <p:txBody>
          <a:bodyPr wrap="square" anchor="t" lIns="0" rIns="0" tIns="0" bIns="0">
            <a:spAutoFit/>
          </a:bodyPr>
          <a:lstStyle/>
          <a:p>
            <a:pPr algn="l"/>
            <a:r>
              <a:rPr sz="1250" b="0" i="0">
                <a:solidFill>
                  <a:srgbClr val="14141C"/>
                </a:solidFill>
                <a:latin typeface="Geist"/>
              </a:rPr>
              <a:t>AI flows through the vendor layer (Microsoft, Google, Salesforce). Specialized-vendor buys succeed ~67% vs ~1/3 for internal builds.</a:t>
            </a:r>
          </a:p>
        </p:txBody>
      </p:sp>
      <p:sp>
        <p:nvSpPr>
          <p:cNvPr id="17" name="Rectangle 16"/>
          <p:cNvSpPr/>
          <p:nvPr/>
        </p:nvSpPr>
        <p:spPr>
          <a:xfrm>
            <a:off x="8138160" y="1051560"/>
            <a:ext cx="356616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051560"/>
            <a:ext cx="3566160" cy="54864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1051560"/>
            <a:ext cx="3346704" cy="548640"/>
          </a:xfrm>
          <a:prstGeom prst="rect">
            <a:avLst/>
          </a:prstGeom>
          <a:noFill/>
        </p:spPr>
        <p:txBody>
          <a:bodyPr wrap="square" anchor="ctr" lIns="0" rIns="0" tIns="0" bIns="0">
            <a:spAutoFit/>
          </a:bodyPr>
          <a:lstStyle/>
          <a:p>
            <a:pPr algn="ctr"/>
            <a:r>
              <a:rPr sz="1350" b="1" i="0">
                <a:solidFill>
                  <a:srgbClr val="14141C"/>
                </a:solidFill>
                <a:latin typeface="Geist Mono"/>
              </a:rPr>
              <a:t>EUROPE / EU</a:t>
            </a:r>
          </a:p>
        </p:txBody>
      </p:sp>
      <p:sp>
        <p:nvSpPr>
          <p:cNvPr id="20" name="TextBox 19"/>
          <p:cNvSpPr txBox="1"/>
          <p:nvPr/>
        </p:nvSpPr>
        <p:spPr>
          <a:xfrm>
            <a:off x="8357616" y="1783080"/>
            <a:ext cx="3127248" cy="548640"/>
          </a:xfrm>
          <a:prstGeom prst="rect">
            <a:avLst/>
          </a:prstGeom>
          <a:noFill/>
        </p:spPr>
        <p:txBody>
          <a:bodyPr wrap="square" anchor="t" lIns="0" rIns="0" tIns="0" bIns="0">
            <a:spAutoFit/>
          </a:bodyPr>
          <a:lstStyle/>
          <a:p>
            <a:pPr algn="l"/>
            <a:r>
              <a:rPr sz="1700" b="1" i="0">
                <a:solidFill>
                  <a:srgbClr val="14141C"/>
                </a:solidFill>
                <a:latin typeface="Geist Mono"/>
              </a:rPr>
              <a:t>Compliance-gated</a:t>
            </a:r>
          </a:p>
        </p:txBody>
      </p:sp>
      <p:sp>
        <p:nvSpPr>
          <p:cNvPr id="21" name="TextBox 20"/>
          <p:cNvSpPr txBox="1"/>
          <p:nvPr/>
        </p:nvSpPr>
        <p:spPr>
          <a:xfrm>
            <a:off x="8357616" y="2514600"/>
            <a:ext cx="3127248" cy="3566159"/>
          </a:xfrm>
          <a:prstGeom prst="rect">
            <a:avLst/>
          </a:prstGeom>
          <a:noFill/>
        </p:spPr>
        <p:txBody>
          <a:bodyPr wrap="square" anchor="t" lIns="0" rIns="0" tIns="0" bIns="0">
            <a:spAutoFit/>
          </a:bodyPr>
          <a:lstStyle/>
          <a:p>
            <a:pPr algn="l"/>
            <a:r>
              <a:rPr sz="1250" b="0" i="0">
                <a:solidFill>
                  <a:srgbClr val="14141C"/>
                </a:solidFill>
                <a:latin typeface="Geist"/>
              </a:rPr>
              <a:t>~60% of EU/UK developers report AI Act launch delays; deployment is slowed by the rulebook it wrote.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capability scoreboard and the ROI gap</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pic>
        <p:nvPicPr>
          <p:cNvPr id="7" name="Picture 6" descr="investment_gap.png"/>
          <p:cNvPicPr>
            <a:picLocks noChangeAspect="1"/>
          </p:cNvPicPr>
          <p:nvPr/>
        </p:nvPicPr>
        <p:blipFill>
          <a:blip r:embed="rId2"/>
          <a:stretch>
            <a:fillRect/>
          </a:stretch>
        </p:blipFill>
        <p:spPr>
          <a:xfrm>
            <a:off x="457200" y="1263027"/>
            <a:ext cx="5623560" cy="3874744"/>
          </a:xfrm>
          <a:prstGeom prst="rect">
            <a:avLst/>
          </a:prstGeom>
        </p:spPr>
      </p:pic>
      <p:sp>
        <p:nvSpPr>
          <p:cNvPr id="8" name="TextBox 7"/>
          <p:cNvSpPr txBox="1"/>
          <p:nvPr/>
        </p:nvSpPr>
        <p:spPr>
          <a:xfrm>
            <a:off x="6446520" y="1051560"/>
            <a:ext cx="5257800" cy="292608"/>
          </a:xfrm>
          <a:prstGeom prst="rect">
            <a:avLst/>
          </a:prstGeom>
          <a:noFill/>
        </p:spPr>
        <p:txBody>
          <a:bodyPr wrap="square" anchor="t" lIns="0" rIns="0" tIns="0" bIns="0">
            <a:spAutoFit/>
          </a:bodyPr>
          <a:lstStyle/>
          <a:p>
            <a:pPr algn="l"/>
            <a:r>
              <a:rPr sz="1350" b="1" i="0">
                <a:solidFill>
                  <a:srgbClr val="14141C"/>
                </a:solidFill>
                <a:latin typeface="Geist Mono"/>
              </a:rPr>
              <a:t>Models (2025)</a:t>
            </a:r>
          </a:p>
        </p:txBody>
      </p:sp>
      <p:sp>
        <p:nvSpPr>
          <p:cNvPr id="9" name="TextBox 8"/>
          <p:cNvSpPr txBox="1"/>
          <p:nvPr/>
        </p:nvSpPr>
        <p:spPr>
          <a:xfrm>
            <a:off x="6446520" y="1362456"/>
            <a:ext cx="5257800" cy="512064"/>
          </a:xfrm>
          <a:prstGeom prst="rect">
            <a:avLst/>
          </a:prstGeom>
          <a:noFill/>
        </p:spPr>
        <p:txBody>
          <a:bodyPr wrap="square" anchor="t" lIns="0" rIns="0" tIns="0" bIns="0">
            <a:spAutoFit/>
          </a:bodyPr>
          <a:lstStyle/>
          <a:p>
            <a:pPr algn="l"/>
            <a:r>
              <a:rPr sz="1200" b="0" i="0">
                <a:solidFill>
                  <a:srgbClr val="14141C"/>
                </a:solidFill>
                <a:latin typeface="Geist"/>
              </a:rPr>
              <a:t>US ~50 / China ~30 notable models</a:t>
            </a:r>
          </a:p>
        </p:txBody>
      </p:sp>
      <p:sp>
        <p:nvSpPr>
          <p:cNvPr id="10" name="TextBox 9"/>
          <p:cNvSpPr txBox="1"/>
          <p:nvPr/>
        </p:nvSpPr>
        <p:spPr>
          <a:xfrm>
            <a:off x="6446520" y="1892808"/>
            <a:ext cx="5257800" cy="292608"/>
          </a:xfrm>
          <a:prstGeom prst="rect">
            <a:avLst/>
          </a:prstGeom>
          <a:noFill/>
        </p:spPr>
        <p:txBody>
          <a:bodyPr wrap="square" anchor="t" lIns="0" rIns="0" tIns="0" bIns="0">
            <a:spAutoFit/>
          </a:bodyPr>
          <a:lstStyle/>
          <a:p>
            <a:pPr algn="l"/>
            <a:r>
              <a:rPr sz="1350" b="1" i="0">
                <a:solidFill>
                  <a:srgbClr val="40E0D0"/>
                </a:solidFill>
                <a:latin typeface="Geist Mono"/>
              </a:rPr>
              <a:t>Frontier</a:t>
            </a:r>
          </a:p>
        </p:txBody>
      </p:sp>
      <p:sp>
        <p:nvSpPr>
          <p:cNvPr id="11" name="TextBox 10"/>
          <p:cNvSpPr txBox="1"/>
          <p:nvPr/>
        </p:nvSpPr>
        <p:spPr>
          <a:xfrm>
            <a:off x="6446520" y="2203704"/>
            <a:ext cx="5257800" cy="512064"/>
          </a:xfrm>
          <a:prstGeom prst="rect">
            <a:avLst/>
          </a:prstGeom>
          <a:noFill/>
        </p:spPr>
        <p:txBody>
          <a:bodyPr wrap="square" anchor="t" lIns="0" rIns="0" tIns="0" bIns="0">
            <a:spAutoFit/>
          </a:bodyPr>
          <a:lstStyle/>
          <a:p>
            <a:pPr algn="l"/>
            <a:r>
              <a:rPr sz="1200" b="0" i="0">
                <a:solidFill>
                  <a:srgbClr val="14141C"/>
                </a:solidFill>
                <a:latin typeface="Geist"/>
              </a:rPr>
              <a:t>Opus 4.8 / GPT-5.5 / Gemini 3.1 lead; DeepSeek V4 near-frontier at ~1/10 cost (US still on top)</a:t>
            </a:r>
          </a:p>
        </p:txBody>
      </p:sp>
      <p:sp>
        <p:nvSpPr>
          <p:cNvPr id="12" name="TextBox 11"/>
          <p:cNvSpPr txBox="1"/>
          <p:nvPr/>
        </p:nvSpPr>
        <p:spPr>
          <a:xfrm>
            <a:off x="6446520" y="2734056"/>
            <a:ext cx="5257800" cy="292608"/>
          </a:xfrm>
          <a:prstGeom prst="rect">
            <a:avLst/>
          </a:prstGeom>
          <a:noFill/>
        </p:spPr>
        <p:txBody>
          <a:bodyPr wrap="square" anchor="t" lIns="0" rIns="0" tIns="0" bIns="0">
            <a:spAutoFit/>
          </a:bodyPr>
          <a:lstStyle/>
          <a:p>
            <a:pPr algn="l"/>
            <a:r>
              <a:rPr sz="1350" b="1" i="0">
                <a:solidFill>
                  <a:srgbClr val="14141C"/>
                </a:solidFill>
                <a:latin typeface="Geist Mono"/>
              </a:rPr>
              <a:t>Patents</a:t>
            </a:r>
          </a:p>
        </p:txBody>
      </p:sp>
      <p:sp>
        <p:nvSpPr>
          <p:cNvPr id="13" name="TextBox 12"/>
          <p:cNvSpPr txBox="1"/>
          <p:nvPr/>
        </p:nvSpPr>
        <p:spPr>
          <a:xfrm>
            <a:off x="6446520" y="3044952"/>
            <a:ext cx="5257800" cy="512064"/>
          </a:xfrm>
          <a:prstGeom prst="rect">
            <a:avLst/>
          </a:prstGeom>
          <a:noFill/>
        </p:spPr>
        <p:txBody>
          <a:bodyPr wrap="square" anchor="t" lIns="0" rIns="0" tIns="0" bIns="0">
            <a:spAutoFit/>
          </a:bodyPr>
          <a:lstStyle/>
          <a:p>
            <a:pPr algn="l"/>
            <a:r>
              <a:rPr sz="1200" b="0" i="0">
                <a:solidFill>
                  <a:srgbClr val="14141C"/>
                </a:solidFill>
                <a:latin typeface="Geist"/>
              </a:rPr>
              <a:t>China holds ~70% of granted AI patents</a:t>
            </a:r>
          </a:p>
        </p:txBody>
      </p:sp>
      <p:sp>
        <p:nvSpPr>
          <p:cNvPr id="14" name="TextBox 13"/>
          <p:cNvSpPr txBox="1"/>
          <p:nvPr/>
        </p:nvSpPr>
        <p:spPr>
          <a:xfrm>
            <a:off x="6446520" y="3575304"/>
            <a:ext cx="5257800" cy="292608"/>
          </a:xfrm>
          <a:prstGeom prst="rect">
            <a:avLst/>
          </a:prstGeom>
          <a:noFill/>
        </p:spPr>
        <p:txBody>
          <a:bodyPr wrap="square" anchor="t" lIns="0" rIns="0" tIns="0" bIns="0">
            <a:spAutoFit/>
          </a:bodyPr>
          <a:lstStyle/>
          <a:p>
            <a:pPr algn="l"/>
            <a:r>
              <a:rPr sz="1350" b="1" i="0">
                <a:solidFill>
                  <a:srgbClr val="14141C"/>
                </a:solidFill>
                <a:latin typeface="Geist Mono"/>
              </a:rPr>
              <a:t>Investment</a:t>
            </a:r>
          </a:p>
        </p:txBody>
      </p:sp>
      <p:sp>
        <p:nvSpPr>
          <p:cNvPr id="15" name="TextBox 14"/>
          <p:cNvSpPr txBox="1"/>
          <p:nvPr/>
        </p:nvSpPr>
        <p:spPr>
          <a:xfrm>
            <a:off x="6446520" y="3886200"/>
            <a:ext cx="5257800" cy="512064"/>
          </a:xfrm>
          <a:prstGeom prst="rect">
            <a:avLst/>
          </a:prstGeom>
          <a:noFill/>
        </p:spPr>
        <p:txBody>
          <a:bodyPr wrap="square" anchor="t" lIns="0" rIns="0" tIns="0" bIns="0">
            <a:spAutoFit/>
          </a:bodyPr>
          <a:lstStyle/>
          <a:p>
            <a:pPr algn="l"/>
            <a:r>
              <a:rPr sz="1200" b="0" i="0">
                <a:solidFill>
                  <a:srgbClr val="14141C"/>
                </a:solidFill>
                <a:latin typeface="Geist"/>
              </a:rPr>
              <a:t>US ~83% of global private AI funding</a:t>
            </a:r>
          </a:p>
        </p:txBody>
      </p:sp>
      <p:sp>
        <p:nvSpPr>
          <p:cNvPr id="16" name="Rectangle 15"/>
          <p:cNvSpPr/>
          <p:nvPr/>
        </p:nvSpPr>
        <p:spPr>
          <a:xfrm>
            <a:off x="457200" y="5532120"/>
            <a:ext cx="11247120" cy="73152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641848"/>
            <a:ext cx="10625328" cy="512064"/>
          </a:xfrm>
          <a:prstGeom prst="rect">
            <a:avLst/>
          </a:prstGeom>
          <a:noFill/>
        </p:spPr>
        <p:txBody>
          <a:bodyPr wrap="square" anchor="ctr" lIns="0" rIns="0" tIns="0" bIns="0">
            <a:spAutoFit/>
          </a:bodyPr>
          <a:lstStyle/>
          <a:p>
            <a:pPr algn="l"/>
            <a:r>
              <a:rPr sz="1350" b="1" i="0">
                <a:solidFill>
                  <a:srgbClr val="14141C"/>
                </a:solidFill>
                <a:latin typeface="Geist"/>
              </a:rPr>
              <a:t>The ROI gap: MIT found 95% of enterprise generative-AI pilots delivered no measurable P&amp;L impact, despite $30-40B spent. Capability and capital are not the same as realized value.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F1493"/>
                </a:solidFill>
                <a:latin typeface="Geist Mono"/>
              </a:rPr>
              <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STARTUPS &amp; SUPPORT</a:t>
            </a:r>
          </a:p>
        </p:txBody>
      </p:sp>
      <p:sp>
        <p:nvSpPr>
          <p:cNvPr id="7" name="Rectangle 6"/>
          <p:cNvSpPr/>
          <p:nvPr/>
        </p:nvSpPr>
        <p:spPr>
          <a:xfrm>
            <a:off x="777240" y="5120640"/>
            <a:ext cx="1828800" cy="182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a:solidFill>
                  <a:srgbClr val="FF7F50"/>
                </a:solidFill>
                <a:latin typeface="Geist Mono"/>
              </a:rPr>
              <a:t>Curtis Chambers</a:t>
            </a:r>
            <a:r>
              <a:rPr sz="1100" b="1">
                <a:solidFill>
                  <a:srgbClr val="40E0D0"/>
                </a:solidFill>
                <a:latin typeface="Geist Mono"/>
              </a:rPr>
              <a:t>  ·  Jinchi Wei</a:t>
            </a:r>
          </a:p>
        </p:txBody>
      </p:sp>
      <p:sp>
        <p:nvSpPr>
          <p:cNvPr id="9" name="TextBox 8"/>
          <p:cNvSpPr txBox="1"/>
          <p:nvPr/>
        </p:nvSpPr>
        <p:spPr>
          <a:xfrm>
            <a:off x="3886200"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4114800"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CPH 200C · Computational Precision Health</a:t>
            </a:r>
          </a:p>
        </p:txBody>
      </p:sp>
      <p:sp>
        <p:nvSpPr>
          <p:cNvPr id="11" name="TextBox 10"/>
          <p:cNvSpPr txBox="1"/>
          <p:nvPr/>
        </p:nvSpPr>
        <p:spPr>
          <a:xfrm>
            <a:off x="8238744"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8467344"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Three Governing Systems for 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Capital and leniency</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356616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66160" cy="82296"/>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325880"/>
            <a:ext cx="3310128" cy="731520"/>
          </a:xfrm>
          <a:prstGeom prst="rect">
            <a:avLst/>
          </a:prstGeom>
          <a:noFill/>
        </p:spPr>
        <p:txBody>
          <a:bodyPr wrap="square" anchor="t" lIns="0" rIns="0" tIns="0" bIns="0">
            <a:spAutoFit/>
          </a:bodyPr>
          <a:lstStyle/>
          <a:p>
            <a:pPr algn="ctr"/>
            <a:r>
              <a:rPr sz="3000" b="1" i="0">
                <a:solidFill>
                  <a:srgbClr val="40E0D0"/>
                </a:solidFill>
                <a:latin typeface="Geist Mono"/>
              </a:rPr>
              <a:t>$222B</a:t>
            </a:r>
          </a:p>
        </p:txBody>
      </p:sp>
      <p:sp>
        <p:nvSpPr>
          <p:cNvPr id="10" name="TextBox 9"/>
          <p:cNvSpPr txBox="1"/>
          <p:nvPr/>
        </p:nvSpPr>
        <p:spPr>
          <a:xfrm>
            <a:off x="621792" y="2103120"/>
            <a:ext cx="3236976" cy="731520"/>
          </a:xfrm>
          <a:prstGeom prst="rect">
            <a:avLst/>
          </a:prstGeom>
          <a:noFill/>
        </p:spPr>
        <p:txBody>
          <a:bodyPr wrap="square" anchor="t" lIns="0" rIns="0" tIns="0" bIns="0">
            <a:spAutoFit/>
          </a:bodyPr>
          <a:lstStyle/>
          <a:p>
            <a:pPr algn="ctr"/>
            <a:r>
              <a:rPr sz="1150" b="0" i="0">
                <a:solidFill>
                  <a:srgbClr val="14141C"/>
                </a:solidFill>
                <a:latin typeface="Geist"/>
              </a:rPr>
              <a:t>US AI startup funding (65% of all US VC)</a:t>
            </a:r>
          </a:p>
        </p:txBody>
      </p:sp>
      <p:sp>
        <p:nvSpPr>
          <p:cNvPr id="11" name="Rectangle 10"/>
          <p:cNvSpPr/>
          <p:nvPr/>
        </p:nvSpPr>
        <p:spPr>
          <a:xfrm>
            <a:off x="4297680" y="1051560"/>
            <a:ext cx="356616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051560"/>
            <a:ext cx="3566160" cy="82296"/>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5696" y="1325880"/>
            <a:ext cx="3310128" cy="731520"/>
          </a:xfrm>
          <a:prstGeom prst="rect">
            <a:avLst/>
          </a:prstGeom>
          <a:noFill/>
        </p:spPr>
        <p:txBody>
          <a:bodyPr wrap="square" anchor="t" lIns="0" rIns="0" tIns="0" bIns="0">
            <a:spAutoFit/>
          </a:bodyPr>
          <a:lstStyle/>
          <a:p>
            <a:pPr algn="ctr"/>
            <a:r>
              <a:rPr sz="3000" b="1" i="0">
                <a:solidFill>
                  <a:srgbClr val="FF1493"/>
                </a:solidFill>
                <a:latin typeface="Geist Mono"/>
              </a:rPr>
              <a:t>state</a:t>
            </a:r>
          </a:p>
        </p:txBody>
      </p:sp>
      <p:sp>
        <p:nvSpPr>
          <p:cNvPr id="14" name="TextBox 13"/>
          <p:cNvSpPr txBox="1"/>
          <p:nvPr/>
        </p:nvSpPr>
        <p:spPr>
          <a:xfrm>
            <a:off x="4462272" y="2103120"/>
            <a:ext cx="3236976" cy="731520"/>
          </a:xfrm>
          <a:prstGeom prst="rect">
            <a:avLst/>
          </a:prstGeom>
          <a:noFill/>
        </p:spPr>
        <p:txBody>
          <a:bodyPr wrap="square" anchor="t" lIns="0" rIns="0" tIns="0" bIns="0">
            <a:spAutoFit/>
          </a:bodyPr>
          <a:lstStyle/>
          <a:p>
            <a:pPr algn="ctr"/>
            <a:r>
              <a:rPr sz="1150" b="0" i="0">
                <a:solidFill>
                  <a:srgbClr val="14141C"/>
                </a:solidFill>
                <a:latin typeface="Geist"/>
              </a:rPr>
              <a:t>China private VC fell &lt;25%; guidance funds filled in (140+ gov deals)</a:t>
            </a:r>
          </a:p>
        </p:txBody>
      </p:sp>
      <p:sp>
        <p:nvSpPr>
          <p:cNvPr id="15" name="Rectangle 14"/>
          <p:cNvSpPr/>
          <p:nvPr/>
        </p:nvSpPr>
        <p:spPr>
          <a:xfrm>
            <a:off x="8138160" y="1051560"/>
            <a:ext cx="356616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051560"/>
            <a:ext cx="3566160" cy="82296"/>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1325880"/>
            <a:ext cx="3310128" cy="731520"/>
          </a:xfrm>
          <a:prstGeom prst="rect">
            <a:avLst/>
          </a:prstGeom>
          <a:noFill/>
        </p:spPr>
        <p:txBody>
          <a:bodyPr wrap="square" anchor="t" lIns="0" rIns="0" tIns="0" bIns="0">
            <a:spAutoFit/>
          </a:bodyPr>
          <a:lstStyle/>
          <a:p>
            <a:pPr algn="ctr"/>
            <a:r>
              <a:rPr sz="3000" b="1" i="0">
                <a:solidFill>
                  <a:srgbClr val="F0C840"/>
                </a:solidFill>
                <a:latin typeface="Geist Mono"/>
              </a:rPr>
              <a:t>gap</a:t>
            </a:r>
          </a:p>
        </p:txBody>
      </p:sp>
      <p:sp>
        <p:nvSpPr>
          <p:cNvPr id="18" name="TextBox 17"/>
          <p:cNvSpPr txBox="1"/>
          <p:nvPr/>
        </p:nvSpPr>
        <p:spPr>
          <a:xfrm>
            <a:off x="8302752" y="2103120"/>
            <a:ext cx="3236976" cy="731520"/>
          </a:xfrm>
          <a:prstGeom prst="rect">
            <a:avLst/>
          </a:prstGeom>
          <a:noFill/>
        </p:spPr>
        <p:txBody>
          <a:bodyPr wrap="square" anchor="t" lIns="0" rIns="0" tIns="0" bIns="0">
            <a:spAutoFit/>
          </a:bodyPr>
          <a:lstStyle/>
          <a:p>
            <a:pPr algn="ctr"/>
            <a:r>
              <a:rPr sz="1150" b="0" i="0">
                <a:solidFill>
                  <a:srgbClr val="14141C"/>
                </a:solidFill>
                <a:latin typeface="Geist"/>
              </a:rPr>
              <a:t>Europe: structural late-stage capital gap</a:t>
            </a:r>
          </a:p>
        </p:txBody>
      </p:sp>
      <p:sp>
        <p:nvSpPr>
          <p:cNvPr id="19" name="TextBox 18"/>
          <p:cNvSpPr txBox="1"/>
          <p:nvPr/>
        </p:nvSpPr>
        <p:spPr>
          <a:xfrm>
            <a:off x="457200" y="3200400"/>
            <a:ext cx="11247120" cy="320040"/>
          </a:xfrm>
          <a:prstGeom prst="rect">
            <a:avLst/>
          </a:prstGeom>
          <a:noFill/>
        </p:spPr>
        <p:txBody>
          <a:bodyPr wrap="square" anchor="t" lIns="0" rIns="0" tIns="0" bIns="0">
            <a:spAutoFit/>
          </a:bodyPr>
          <a:lstStyle/>
          <a:p>
            <a:pPr algn="l"/>
            <a:r>
              <a:rPr sz="1250" b="1" i="0">
                <a:solidFill>
                  <a:srgbClr val="14141C"/>
                </a:solidFill>
                <a:latin typeface="Geist Mono"/>
              </a:rPr>
              <a:t>LENIENCY, most permissive to ship fast:</a:t>
            </a:r>
          </a:p>
        </p:txBody>
      </p:sp>
      <p:sp>
        <p:nvSpPr>
          <p:cNvPr id="20" name="Rectangle 19"/>
          <p:cNvSpPr/>
          <p:nvPr/>
        </p:nvSpPr>
        <p:spPr>
          <a:xfrm>
            <a:off x="457200" y="3611880"/>
            <a:ext cx="2606040" cy="50292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11880"/>
            <a:ext cx="2606040" cy="502920"/>
          </a:xfrm>
          <a:prstGeom prst="rect">
            <a:avLst/>
          </a:prstGeom>
          <a:noFill/>
        </p:spPr>
        <p:txBody>
          <a:bodyPr wrap="square" anchor="ctr" lIns="0" rIns="0" tIns="0" bIns="0">
            <a:spAutoFit/>
          </a:bodyPr>
          <a:lstStyle/>
          <a:p>
            <a:pPr algn="ctr"/>
            <a:r>
              <a:rPr sz="1400" b="1" i="0">
                <a:solidFill>
                  <a:srgbClr val="14141C"/>
                </a:solidFill>
                <a:latin typeface="Geist Mono"/>
              </a:rPr>
              <a:t>US</a:t>
            </a:r>
          </a:p>
        </p:txBody>
      </p:sp>
      <p:sp>
        <p:nvSpPr>
          <p:cNvPr id="22" name="Rectangle 21"/>
          <p:cNvSpPr/>
          <p:nvPr/>
        </p:nvSpPr>
        <p:spPr>
          <a:xfrm>
            <a:off x="3337560" y="3611880"/>
            <a:ext cx="2606040" cy="50292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560" y="3611880"/>
            <a:ext cx="2606040" cy="502920"/>
          </a:xfrm>
          <a:prstGeom prst="rect">
            <a:avLst/>
          </a:prstGeom>
          <a:noFill/>
        </p:spPr>
        <p:txBody>
          <a:bodyPr wrap="square" anchor="ctr" lIns="0" rIns="0" tIns="0" bIns="0">
            <a:spAutoFit/>
          </a:bodyPr>
          <a:lstStyle/>
          <a:p>
            <a:pPr algn="ctr"/>
            <a:r>
              <a:rPr sz="1400" b="1" i="0">
                <a:solidFill>
                  <a:srgbClr val="FFFFFF"/>
                </a:solidFill>
                <a:latin typeface="Geist Mono"/>
              </a:rPr>
              <a:t>China</a:t>
            </a:r>
          </a:p>
        </p:txBody>
      </p:sp>
      <p:sp>
        <p:nvSpPr>
          <p:cNvPr id="24" name="Rectangle 23"/>
          <p:cNvSpPr/>
          <p:nvPr/>
        </p:nvSpPr>
        <p:spPr>
          <a:xfrm>
            <a:off x="6217920" y="3611880"/>
            <a:ext cx="2606040" cy="50292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3611880"/>
            <a:ext cx="2606040" cy="502920"/>
          </a:xfrm>
          <a:prstGeom prst="rect">
            <a:avLst/>
          </a:prstGeom>
          <a:noFill/>
        </p:spPr>
        <p:txBody>
          <a:bodyPr wrap="square" anchor="ctr" lIns="0" rIns="0" tIns="0" bIns="0">
            <a:spAutoFit/>
          </a:bodyPr>
          <a:lstStyle/>
          <a:p>
            <a:pPr algn="ctr"/>
            <a:r>
              <a:rPr sz="1400" b="1" i="0">
                <a:solidFill>
                  <a:srgbClr val="FFFFFF"/>
                </a:solidFill>
                <a:latin typeface="Geist Mono"/>
              </a:rPr>
              <a:t>UK</a:t>
            </a:r>
          </a:p>
        </p:txBody>
      </p:sp>
      <p:sp>
        <p:nvSpPr>
          <p:cNvPr id="26" name="Rectangle 25"/>
          <p:cNvSpPr/>
          <p:nvPr/>
        </p:nvSpPr>
        <p:spPr>
          <a:xfrm>
            <a:off x="9098280" y="3611880"/>
            <a:ext cx="2606040" cy="50292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98280" y="3611880"/>
            <a:ext cx="2606040" cy="502920"/>
          </a:xfrm>
          <a:prstGeom prst="rect">
            <a:avLst/>
          </a:prstGeom>
          <a:noFill/>
        </p:spPr>
        <p:txBody>
          <a:bodyPr wrap="square" anchor="ctr" lIns="0" rIns="0" tIns="0" bIns="0">
            <a:spAutoFit/>
          </a:bodyPr>
          <a:lstStyle/>
          <a:p>
            <a:pPr algn="ctr"/>
            <a:r>
              <a:rPr sz="1400" b="1" i="0">
                <a:solidFill>
                  <a:srgbClr val="14141C"/>
                </a:solidFill>
                <a:latin typeface="Geist Mono"/>
              </a:rPr>
              <a:t>EU</a:t>
            </a:r>
          </a:p>
        </p:txBody>
      </p:sp>
      <p:sp>
        <p:nvSpPr>
          <p:cNvPr id="28" name="TextBox 27"/>
          <p:cNvSpPr txBox="1"/>
          <p:nvPr/>
        </p:nvSpPr>
        <p:spPr>
          <a:xfrm>
            <a:off x="457200" y="4206240"/>
            <a:ext cx="11247120" cy="320040"/>
          </a:xfrm>
          <a:prstGeom prst="rect">
            <a:avLst/>
          </a:prstGeom>
          <a:noFill/>
        </p:spPr>
        <p:txBody>
          <a:bodyPr wrap="square" anchor="t" lIns="0" rIns="0" tIns="0" bIns="0">
            <a:spAutoFit/>
          </a:bodyPr>
          <a:lstStyle/>
          <a:p>
            <a:pPr algn="l"/>
            <a:r>
              <a:rPr sz="1100" b="0" i="0">
                <a:solidFill>
                  <a:srgbClr val="555560"/>
                </a:solidFill>
                <a:latin typeface="Geist"/>
              </a:rPr>
              <a:t>permissive  ---------------------------------------------------------------------------------&gt;  constraining   (EU sandboxes now delayed to Aug 2027)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Government support</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5486400" cy="24688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109728" cy="2468879"/>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234440"/>
            <a:ext cx="5029200" cy="457200"/>
          </a:xfrm>
          <a:prstGeom prst="rect">
            <a:avLst/>
          </a:prstGeom>
          <a:noFill/>
        </p:spPr>
        <p:txBody>
          <a:bodyPr wrap="square" anchor="t" lIns="0" rIns="0" tIns="0" bIns="0">
            <a:spAutoFit/>
          </a:bodyPr>
          <a:lstStyle/>
          <a:p>
            <a:pPr algn="l"/>
            <a:r>
              <a:rPr sz="1500" b="1" i="0">
                <a:solidFill>
                  <a:srgbClr val="14141C"/>
                </a:solidFill>
                <a:latin typeface="Geist Mono"/>
              </a:rPr>
              <a:t>UNITED STATES</a:t>
            </a:r>
          </a:p>
        </p:txBody>
      </p:sp>
      <p:sp>
        <p:nvSpPr>
          <p:cNvPr id="10" name="TextBox 9"/>
          <p:cNvSpPr txBox="1"/>
          <p:nvPr/>
        </p:nvSpPr>
        <p:spPr>
          <a:xfrm>
            <a:off x="768096" y="1764792"/>
            <a:ext cx="4937760" cy="1554479"/>
          </a:xfrm>
          <a:prstGeom prst="rect">
            <a:avLst/>
          </a:prstGeom>
          <a:noFill/>
        </p:spPr>
        <p:txBody>
          <a:bodyPr wrap="square" anchor="t" lIns="0" rIns="0" tIns="0" bIns="0">
            <a:spAutoFit/>
          </a:bodyPr>
          <a:lstStyle/>
          <a:p>
            <a:pPr algn="l"/>
            <a:r>
              <a:rPr sz="1250" b="0" i="0">
                <a:solidFill>
                  <a:srgbClr val="14141C"/>
                </a:solidFill>
                <a:latin typeface="Geist"/>
              </a:rPr>
              <a:t>$500B Stargate (privately financed) + CHIPS Act spillover. Light direct funding, heavy private capital.</a:t>
            </a:r>
          </a:p>
        </p:txBody>
      </p:sp>
      <p:sp>
        <p:nvSpPr>
          <p:cNvPr id="11" name="Rectangle 10"/>
          <p:cNvSpPr/>
          <p:nvPr/>
        </p:nvSpPr>
        <p:spPr>
          <a:xfrm>
            <a:off x="6217920" y="1051560"/>
            <a:ext cx="5486400" cy="24688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51560"/>
            <a:ext cx="109728" cy="2468879"/>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1234440"/>
            <a:ext cx="5029200" cy="457200"/>
          </a:xfrm>
          <a:prstGeom prst="rect">
            <a:avLst/>
          </a:prstGeom>
          <a:noFill/>
        </p:spPr>
        <p:txBody>
          <a:bodyPr wrap="square" anchor="t" lIns="0" rIns="0" tIns="0" bIns="0">
            <a:spAutoFit/>
          </a:bodyPr>
          <a:lstStyle/>
          <a:p>
            <a:pPr algn="l"/>
            <a:r>
              <a:rPr sz="1500" b="1" i="0">
                <a:solidFill>
                  <a:srgbClr val="14141C"/>
                </a:solidFill>
                <a:latin typeface="Geist Mono"/>
              </a:rPr>
              <a:t>EUROPE / EU</a:t>
            </a:r>
          </a:p>
        </p:txBody>
      </p:sp>
      <p:sp>
        <p:nvSpPr>
          <p:cNvPr id="14" name="TextBox 13"/>
          <p:cNvSpPr txBox="1"/>
          <p:nvPr/>
        </p:nvSpPr>
        <p:spPr>
          <a:xfrm>
            <a:off x="6528816" y="1764792"/>
            <a:ext cx="4937760" cy="1554479"/>
          </a:xfrm>
          <a:prstGeom prst="rect">
            <a:avLst/>
          </a:prstGeom>
          <a:noFill/>
        </p:spPr>
        <p:txBody>
          <a:bodyPr wrap="square" anchor="t" lIns="0" rIns="0" tIns="0" bIns="0">
            <a:spAutoFit/>
          </a:bodyPr>
          <a:lstStyle/>
          <a:p>
            <a:pPr algn="l"/>
            <a:r>
              <a:rPr sz="1250" b="0" i="0">
                <a:solidFill>
                  <a:srgbClr val="14141C"/>
                </a:solidFill>
                <a:latin typeface="Geist"/>
              </a:rPr>
              <a:t>InvestAI EUR 200B; France alone pledged EUR 109B at the Paris summit, the largest single-event government commitment.</a:t>
            </a:r>
          </a:p>
        </p:txBody>
      </p:sp>
      <p:sp>
        <p:nvSpPr>
          <p:cNvPr id="15" name="Rectangle 14"/>
          <p:cNvSpPr/>
          <p:nvPr/>
        </p:nvSpPr>
        <p:spPr>
          <a:xfrm>
            <a:off x="457200" y="3794759"/>
            <a:ext cx="5486400" cy="24688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94759"/>
            <a:ext cx="109728" cy="2468879"/>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977639"/>
            <a:ext cx="5029200" cy="457200"/>
          </a:xfrm>
          <a:prstGeom prst="rect">
            <a:avLst/>
          </a:prstGeom>
          <a:noFill/>
        </p:spPr>
        <p:txBody>
          <a:bodyPr wrap="square" anchor="t" lIns="0" rIns="0" tIns="0" bIns="0">
            <a:spAutoFit/>
          </a:bodyPr>
          <a:lstStyle/>
          <a:p>
            <a:pPr algn="l"/>
            <a:r>
              <a:rPr sz="1500" b="1" i="0">
                <a:solidFill>
                  <a:srgbClr val="14141C"/>
                </a:solidFill>
                <a:latin typeface="Geist Mono"/>
              </a:rPr>
              <a:t>UNITED KINGDOM</a:t>
            </a:r>
          </a:p>
        </p:txBody>
      </p:sp>
      <p:sp>
        <p:nvSpPr>
          <p:cNvPr id="18" name="TextBox 17"/>
          <p:cNvSpPr txBox="1"/>
          <p:nvPr/>
        </p:nvSpPr>
        <p:spPr>
          <a:xfrm>
            <a:off x="768096" y="4507992"/>
            <a:ext cx="4937760" cy="1554479"/>
          </a:xfrm>
          <a:prstGeom prst="rect">
            <a:avLst/>
          </a:prstGeom>
          <a:noFill/>
        </p:spPr>
        <p:txBody>
          <a:bodyPr wrap="square" anchor="t" lIns="0" rIns="0" tIns="0" bIns="0">
            <a:spAutoFit/>
          </a:bodyPr>
          <a:lstStyle/>
          <a:p>
            <a:pPr algn="l"/>
            <a:r>
              <a:rPr sz="1250" b="0" i="0">
                <a:solidFill>
                  <a:srgbClr val="14141C"/>
                </a:solidFill>
                <a:latin typeface="Geist"/>
              </a:rPr>
              <a:t>AI Growth Zones, a Sovereign AI Unit up to GBP 500M, and a pledge to grow sovereign compute 20x by 2030.</a:t>
            </a:r>
          </a:p>
        </p:txBody>
      </p:sp>
      <p:sp>
        <p:nvSpPr>
          <p:cNvPr id="19" name="Rectangle 18"/>
          <p:cNvSpPr/>
          <p:nvPr/>
        </p:nvSpPr>
        <p:spPr>
          <a:xfrm>
            <a:off x="6217920" y="3794759"/>
            <a:ext cx="5486400" cy="24688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794759"/>
            <a:ext cx="109728" cy="2468879"/>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28816" y="3977639"/>
            <a:ext cx="5029200" cy="457200"/>
          </a:xfrm>
          <a:prstGeom prst="rect">
            <a:avLst/>
          </a:prstGeom>
          <a:noFill/>
        </p:spPr>
        <p:txBody>
          <a:bodyPr wrap="square" anchor="t" lIns="0" rIns="0" tIns="0" bIns="0">
            <a:spAutoFit/>
          </a:bodyPr>
          <a:lstStyle/>
          <a:p>
            <a:pPr algn="l"/>
            <a:r>
              <a:rPr sz="1500" b="1" i="0">
                <a:solidFill>
                  <a:srgbClr val="14141C"/>
                </a:solidFill>
                <a:latin typeface="Geist Mono"/>
              </a:rPr>
              <a:t>CHINA</a:t>
            </a:r>
          </a:p>
        </p:txBody>
      </p:sp>
      <p:sp>
        <p:nvSpPr>
          <p:cNvPr id="22" name="TextBox 21"/>
          <p:cNvSpPr txBox="1"/>
          <p:nvPr/>
        </p:nvSpPr>
        <p:spPr>
          <a:xfrm>
            <a:off x="6528816" y="4507992"/>
            <a:ext cx="4937760" cy="1554479"/>
          </a:xfrm>
          <a:prstGeom prst="rect">
            <a:avLst/>
          </a:prstGeom>
          <a:noFill/>
        </p:spPr>
        <p:txBody>
          <a:bodyPr wrap="square" anchor="t" lIns="0" rIns="0" tIns="0" bIns="0">
            <a:spAutoFit/>
          </a:bodyPr>
          <a:lstStyle/>
          <a:p>
            <a:pPr algn="l"/>
            <a:r>
              <a:rPr sz="1250" b="0" i="0">
                <a:solidFill>
                  <a:srgbClr val="14141C"/>
                </a:solidFill>
                <a:latin typeface="Geist"/>
              </a:rPr>
              <a:t>National VC Guidance Fund (~$143B over 20 yrs); the guidance-fund system runs ~2,178 funds worth ~$900B, plus procurement preference.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Talent, immigration, and founder-friendliness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5463540"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5463540" cy="5486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51560"/>
            <a:ext cx="5097780" cy="548640"/>
          </a:xfrm>
          <a:prstGeom prst="rect">
            <a:avLst/>
          </a:prstGeom>
          <a:noFill/>
        </p:spPr>
        <p:txBody>
          <a:bodyPr wrap="square" anchor="ctr" lIns="0" rIns="0" tIns="0" bIns="0">
            <a:spAutoFit/>
          </a:bodyPr>
          <a:lstStyle/>
          <a:p>
            <a:pPr algn="l"/>
            <a:r>
              <a:rPr sz="1400" b="1" i="0">
                <a:solidFill>
                  <a:srgbClr val="14141C"/>
                </a:solidFill>
                <a:latin typeface="Geist Mono"/>
              </a:rPr>
              <a:t>UNITED STATES: drawbridge UP</a:t>
            </a:r>
          </a:p>
        </p:txBody>
      </p:sp>
      <p:sp>
        <p:nvSpPr>
          <p:cNvPr id="10" name="TextBox 9"/>
          <p:cNvSpPr txBox="1"/>
          <p:nvPr/>
        </p:nvSpPr>
        <p:spPr>
          <a:xfrm>
            <a:off x="713232" y="1828800"/>
            <a:ext cx="4951476" cy="3246120"/>
          </a:xfrm>
          <a:prstGeom prst="rect">
            <a:avLst/>
          </a:prstGeom>
          <a:noFill/>
        </p:spPr>
        <p:txBody>
          <a:bodyPr wrap="square" anchor="t" lIns="0" rIns="0" tIns="0" bIns="0">
            <a:spAutoFit/>
          </a:bodyPr>
          <a:lstStyle/>
          <a:p>
            <a:pPr algn="l"/>
            <a:r>
              <a:rPr sz="1300" b="0" i="0">
                <a:solidFill>
                  <a:srgbClr val="14141C"/>
                </a:solidFill>
                <a:latin typeface="Geist"/>
              </a:rPr>
              <a:t>A $100,000 per-petition H-1B fee took effect Sept 2025, a startup tax. ~60% of top US AI startups had an immigrant founder; ~70% arrived on student visas.</a:t>
            </a:r>
          </a:p>
        </p:txBody>
      </p:sp>
      <p:sp>
        <p:nvSpPr>
          <p:cNvPr id="11" name="Rectangle 10"/>
          <p:cNvSpPr/>
          <p:nvPr/>
        </p:nvSpPr>
        <p:spPr>
          <a:xfrm>
            <a:off x="6240780" y="1051560"/>
            <a:ext cx="5463540"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0780" y="1051560"/>
            <a:ext cx="5463540" cy="5486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1948" y="1051560"/>
            <a:ext cx="5097780" cy="548640"/>
          </a:xfrm>
          <a:prstGeom prst="rect">
            <a:avLst/>
          </a:prstGeom>
          <a:noFill/>
        </p:spPr>
        <p:txBody>
          <a:bodyPr wrap="square" anchor="ctr" lIns="0" rIns="0" tIns="0" bIns="0">
            <a:spAutoFit/>
          </a:bodyPr>
          <a:lstStyle/>
          <a:p>
            <a:pPr algn="l"/>
            <a:r>
              <a:rPr sz="1400" b="1" i="0">
                <a:solidFill>
                  <a:srgbClr val="FFFFFF"/>
                </a:solidFill>
                <a:latin typeface="Geist Mono"/>
              </a:rPr>
              <a:t>CHINA: drawbridge DOWN</a:t>
            </a:r>
          </a:p>
        </p:txBody>
      </p:sp>
      <p:sp>
        <p:nvSpPr>
          <p:cNvPr id="14" name="TextBox 13"/>
          <p:cNvSpPr txBox="1"/>
          <p:nvPr/>
        </p:nvSpPr>
        <p:spPr>
          <a:xfrm>
            <a:off x="6496812" y="1828800"/>
            <a:ext cx="4951476" cy="3246120"/>
          </a:xfrm>
          <a:prstGeom prst="rect">
            <a:avLst/>
          </a:prstGeom>
          <a:noFill/>
        </p:spPr>
        <p:txBody>
          <a:bodyPr wrap="square" anchor="t" lIns="0" rIns="0" tIns="0" bIns="0">
            <a:spAutoFit/>
          </a:bodyPr>
          <a:lstStyle/>
          <a:p>
            <a:pPr algn="l"/>
            <a:r>
              <a:rPr sz="1300" b="0" i="0">
                <a:solidFill>
                  <a:srgbClr val="14141C"/>
                </a:solidFill>
                <a:latin typeface="Geist"/>
              </a:rPr>
              <a:t>The new K-visa (Oct 2025) is uncapped, 5-year, no employer sponsor, aimed at STEM/AI. Returnee sea-turtles anchor frontier labs, timed to exploit US restrictions.</a:t>
            </a:r>
          </a:p>
        </p:txBody>
      </p:sp>
      <p:sp>
        <p:nvSpPr>
          <p:cNvPr id="15" name="Rectangle 14"/>
          <p:cNvSpPr/>
          <p:nvPr/>
        </p:nvSpPr>
        <p:spPr>
          <a:xfrm>
            <a:off x="457200" y="5532120"/>
            <a:ext cx="11247120" cy="731519"/>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532120"/>
            <a:ext cx="10698480" cy="731519"/>
          </a:xfrm>
          <a:prstGeom prst="rect">
            <a:avLst/>
          </a:prstGeom>
          <a:noFill/>
        </p:spPr>
        <p:txBody>
          <a:bodyPr wrap="square" anchor="ctr" lIns="0" rIns="0" tIns="0" bIns="0">
            <a:spAutoFit/>
          </a:bodyPr>
          <a:lstStyle/>
          <a:p>
            <a:pPr algn="l"/>
            <a:r>
              <a:rPr sz="1200" b="0" i="0">
                <a:solidFill>
                  <a:srgbClr val="FFFFFF"/>
                </a:solidFill>
                <a:latin typeface="Geist"/>
              </a:rPr>
              <a:t>Founder-friendliness: US = capital + market, rising talent cost.  China = state capital + deployment speed, but directed + walled.  EU = subsidy + legal certainty, heaviest compliance.  UK = most balanced.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0C840"/>
                </a:solidFill>
                <a:latin typeface="Geist Mono"/>
              </a:rPr>
              <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HEALTH THREAD</a:t>
            </a:r>
          </a:p>
        </p:txBody>
      </p:sp>
      <p:sp>
        <p:nvSpPr>
          <p:cNvPr id="7" name="Rectangle 6"/>
          <p:cNvSpPr/>
          <p:nvPr/>
        </p:nvSpPr>
        <p:spPr>
          <a:xfrm>
            <a:off x="777240" y="5120640"/>
            <a:ext cx="1828800" cy="18288"/>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a:solidFill>
                  <a:srgbClr val="FF7F50"/>
                </a:solidFill>
                <a:latin typeface="Geist Mono"/>
              </a:rPr>
              <a:t>Curtis Chambers</a:t>
            </a:r>
            <a:r>
              <a:rPr sz="1100" b="1">
                <a:solidFill>
                  <a:srgbClr val="40E0D0"/>
                </a:solidFill>
                <a:latin typeface="Geist Mono"/>
              </a:rPr>
              <a:t>  ·  Jinchi Wei</a:t>
            </a:r>
          </a:p>
        </p:txBody>
      </p:sp>
      <p:sp>
        <p:nvSpPr>
          <p:cNvPr id="9" name="TextBox 8"/>
          <p:cNvSpPr txBox="1"/>
          <p:nvPr/>
        </p:nvSpPr>
        <p:spPr>
          <a:xfrm>
            <a:off x="3886200"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4114800"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CPH 200C · Computational Precision Health</a:t>
            </a:r>
          </a:p>
        </p:txBody>
      </p:sp>
      <p:sp>
        <p:nvSpPr>
          <p:cNvPr id="11" name="TextBox 10"/>
          <p:cNvSpPr txBox="1"/>
          <p:nvPr/>
        </p:nvSpPr>
        <p:spPr>
          <a:xfrm>
            <a:off x="8238744"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8467344"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Three Governing Systems for 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Clinical AI by region</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pic>
        <p:nvPicPr>
          <p:cNvPr id="7" name="Picture 6" descr="clinical_ai.png"/>
          <p:cNvPicPr>
            <a:picLocks noChangeAspect="1"/>
          </p:cNvPicPr>
          <p:nvPr/>
        </p:nvPicPr>
        <p:blipFill>
          <a:blip r:embed="rId2"/>
          <a:stretch>
            <a:fillRect/>
          </a:stretch>
        </p:blipFill>
        <p:spPr>
          <a:xfrm>
            <a:off x="457200" y="2069429"/>
            <a:ext cx="6298387" cy="3176341"/>
          </a:xfrm>
          <a:prstGeom prst="rect">
            <a:avLst/>
          </a:prstGeom>
        </p:spPr>
      </p:pic>
      <p:sp>
        <p:nvSpPr>
          <p:cNvPr id="8" name="TextBox 7"/>
          <p:cNvSpPr txBox="1"/>
          <p:nvPr/>
        </p:nvSpPr>
        <p:spPr>
          <a:xfrm>
            <a:off x="7121347" y="1051560"/>
            <a:ext cx="4582972" cy="329184"/>
          </a:xfrm>
          <a:prstGeom prst="rect">
            <a:avLst/>
          </a:prstGeom>
          <a:noFill/>
        </p:spPr>
        <p:txBody>
          <a:bodyPr wrap="square" anchor="t" lIns="0" rIns="0" tIns="0" bIns="0">
            <a:spAutoFit/>
          </a:bodyPr>
          <a:lstStyle/>
          <a:p>
            <a:pPr algn="l"/>
            <a:r>
              <a:rPr sz="1400" b="1" i="0">
                <a:solidFill>
                  <a:srgbClr val="14141C"/>
                </a:solidFill>
                <a:latin typeface="Geist Mono"/>
              </a:rPr>
              <a:t>United States</a:t>
            </a:r>
          </a:p>
        </p:txBody>
      </p:sp>
      <p:sp>
        <p:nvSpPr>
          <p:cNvPr id="9" name="TextBox 8"/>
          <p:cNvSpPr txBox="1"/>
          <p:nvPr/>
        </p:nvSpPr>
        <p:spPr>
          <a:xfrm>
            <a:off x="7121347" y="1399032"/>
            <a:ext cx="4582972" cy="658368"/>
          </a:xfrm>
          <a:prstGeom prst="rect">
            <a:avLst/>
          </a:prstGeom>
          <a:noFill/>
        </p:spPr>
        <p:txBody>
          <a:bodyPr wrap="square" anchor="t" lIns="0" rIns="0" tIns="0" bIns="0">
            <a:spAutoFit/>
          </a:bodyPr>
          <a:lstStyle/>
          <a:p>
            <a:pPr algn="l"/>
            <a:r>
              <a:rPr sz="1200" b="0" i="0">
                <a:solidFill>
                  <a:srgbClr val="14141C"/>
                </a:solidFill>
                <a:latin typeface="Geist"/>
              </a:rPr>
              <a:t>~1,451 AI devices cleared, 76% radiology, but reimbursement-starved and no pathway for generative/LLM clinical AI.</a:t>
            </a:r>
          </a:p>
        </p:txBody>
      </p:sp>
      <p:sp>
        <p:nvSpPr>
          <p:cNvPr id="10" name="TextBox 9"/>
          <p:cNvSpPr txBox="1"/>
          <p:nvPr/>
        </p:nvSpPr>
        <p:spPr>
          <a:xfrm>
            <a:off x="7121347" y="2057400"/>
            <a:ext cx="4582972" cy="384048"/>
          </a:xfrm>
          <a:prstGeom prst="rect">
            <a:avLst/>
          </a:prstGeom>
          <a:noFill/>
        </p:spPr>
        <p:txBody>
          <a:bodyPr wrap="square" anchor="t" lIns="0" rIns="0" tIns="0" bIns="0">
            <a:spAutoFit/>
          </a:bodyPr>
          <a:lstStyle/>
          <a:p>
            <a:pPr algn="l"/>
            <a:r>
              <a:rPr sz="1100" b="1" i="0">
                <a:solidFill>
                  <a:srgbClr val="40E0D0"/>
                </a:solidFill>
                <a:latin typeface="Geist"/>
              </a:rPr>
              <a:t>Deployed: Aidoc (1,600+ centers, 100M+ cases), Viz.ai stroke (1,800 hospitals).</a:t>
            </a:r>
          </a:p>
        </p:txBody>
      </p:sp>
      <p:sp>
        <p:nvSpPr>
          <p:cNvPr id="11" name="TextBox 10"/>
          <p:cNvSpPr txBox="1"/>
          <p:nvPr/>
        </p:nvSpPr>
        <p:spPr>
          <a:xfrm>
            <a:off x="7121347" y="2514600"/>
            <a:ext cx="4582972" cy="329184"/>
          </a:xfrm>
          <a:prstGeom prst="rect">
            <a:avLst/>
          </a:prstGeom>
          <a:noFill/>
        </p:spPr>
        <p:txBody>
          <a:bodyPr wrap="square" anchor="t" lIns="0" rIns="0" tIns="0" bIns="0">
            <a:spAutoFit/>
          </a:bodyPr>
          <a:lstStyle/>
          <a:p>
            <a:pPr algn="l"/>
            <a:r>
              <a:rPr sz="1400" b="1" i="0">
                <a:solidFill>
                  <a:srgbClr val="14141C"/>
                </a:solidFill>
                <a:latin typeface="Geist Mono"/>
              </a:rPr>
              <a:t>Europe / EU</a:t>
            </a:r>
          </a:p>
        </p:txBody>
      </p:sp>
      <p:sp>
        <p:nvSpPr>
          <p:cNvPr id="12" name="TextBox 11"/>
          <p:cNvSpPr txBox="1"/>
          <p:nvPr/>
        </p:nvSpPr>
        <p:spPr>
          <a:xfrm>
            <a:off x="7121347" y="2862072"/>
            <a:ext cx="4582972" cy="658368"/>
          </a:xfrm>
          <a:prstGeom prst="rect">
            <a:avLst/>
          </a:prstGeom>
          <a:noFill/>
        </p:spPr>
        <p:txBody>
          <a:bodyPr wrap="square" anchor="t" lIns="0" rIns="0" tIns="0" bIns="0">
            <a:spAutoFit/>
          </a:bodyPr>
          <a:lstStyle/>
          <a:p>
            <a:pPr algn="l"/>
            <a:r>
              <a:rPr sz="1200" b="0" i="0">
                <a:solidFill>
                  <a:srgbClr val="14141C"/>
                </a:solidFill>
                <a:latin typeface="Geist"/>
              </a:rPr>
              <a:t>Medical AI is high-risk under the AI Act, stacked on MDR/IVDR, a double conformity burden; the health-data space is deferred to 2029.</a:t>
            </a:r>
          </a:p>
        </p:txBody>
      </p:sp>
      <p:sp>
        <p:nvSpPr>
          <p:cNvPr id="13" name="TextBox 12"/>
          <p:cNvSpPr txBox="1"/>
          <p:nvPr/>
        </p:nvSpPr>
        <p:spPr>
          <a:xfrm>
            <a:off x="7121347" y="3520440"/>
            <a:ext cx="4582972" cy="384048"/>
          </a:xfrm>
          <a:prstGeom prst="rect">
            <a:avLst/>
          </a:prstGeom>
          <a:noFill/>
        </p:spPr>
        <p:txBody>
          <a:bodyPr wrap="square" anchor="t" lIns="0" rIns="0" tIns="0" bIns="0">
            <a:spAutoFit/>
          </a:bodyPr>
          <a:lstStyle/>
          <a:p>
            <a:pPr algn="l"/>
            <a:r>
              <a:rPr sz="1100" b="1" i="0">
                <a:solidFill>
                  <a:srgbClr val="F0C840"/>
                </a:solidFill>
                <a:latin typeface="Geist"/>
              </a:rPr>
              <a:t>Deployed: Oxipit ChestLink, world-first fully autonomous radiology AI (CE IIb).</a:t>
            </a:r>
          </a:p>
        </p:txBody>
      </p:sp>
      <p:sp>
        <p:nvSpPr>
          <p:cNvPr id="14" name="TextBox 13"/>
          <p:cNvSpPr txBox="1"/>
          <p:nvPr/>
        </p:nvSpPr>
        <p:spPr>
          <a:xfrm>
            <a:off x="7121347" y="3977640"/>
            <a:ext cx="4582972" cy="329184"/>
          </a:xfrm>
          <a:prstGeom prst="rect">
            <a:avLst/>
          </a:prstGeom>
          <a:noFill/>
        </p:spPr>
        <p:txBody>
          <a:bodyPr wrap="square" anchor="t" lIns="0" rIns="0" tIns="0" bIns="0">
            <a:spAutoFit/>
          </a:bodyPr>
          <a:lstStyle/>
          <a:p>
            <a:pPr algn="l"/>
            <a:r>
              <a:rPr sz="1400" b="1" i="0">
                <a:solidFill>
                  <a:srgbClr val="14141C"/>
                </a:solidFill>
                <a:latin typeface="Geist Mono"/>
              </a:rPr>
              <a:t>China</a:t>
            </a:r>
          </a:p>
        </p:txBody>
      </p:sp>
      <p:sp>
        <p:nvSpPr>
          <p:cNvPr id="15" name="TextBox 14"/>
          <p:cNvSpPr txBox="1"/>
          <p:nvPr/>
        </p:nvSpPr>
        <p:spPr>
          <a:xfrm>
            <a:off x="7121347" y="4325112"/>
            <a:ext cx="4582972" cy="658368"/>
          </a:xfrm>
          <a:prstGeom prst="rect">
            <a:avLst/>
          </a:prstGeom>
          <a:noFill/>
        </p:spPr>
        <p:txBody>
          <a:bodyPr wrap="square" anchor="t" lIns="0" rIns="0" tIns="0" bIns="0">
            <a:spAutoFit/>
          </a:bodyPr>
          <a:lstStyle/>
          <a:p>
            <a:pPr algn="l"/>
            <a:r>
              <a:rPr sz="1200" b="0" i="0">
                <a:solidFill>
                  <a:srgbClr val="14141C"/>
                </a:solidFill>
                <a:latin typeface="Geist"/>
              </a:rPr>
              <a:t>Fewer approvals (154, 80% Class III) but deploys at population scale, state-coordinated.</a:t>
            </a:r>
          </a:p>
        </p:txBody>
      </p:sp>
      <p:sp>
        <p:nvSpPr>
          <p:cNvPr id="16" name="TextBox 15"/>
          <p:cNvSpPr txBox="1"/>
          <p:nvPr/>
        </p:nvSpPr>
        <p:spPr>
          <a:xfrm>
            <a:off x="7121347" y="4983480"/>
            <a:ext cx="4582972" cy="384048"/>
          </a:xfrm>
          <a:prstGeom prst="rect">
            <a:avLst/>
          </a:prstGeom>
          <a:noFill/>
        </p:spPr>
        <p:txBody>
          <a:bodyPr wrap="square" anchor="t" lIns="0" rIns="0" tIns="0" bIns="0">
            <a:spAutoFit/>
          </a:bodyPr>
          <a:lstStyle/>
          <a:p>
            <a:pPr algn="l"/>
            <a:r>
              <a:rPr sz="1100" b="1" i="0">
                <a:solidFill>
                  <a:srgbClr val="FF1493"/>
                </a:solidFill>
                <a:latin typeface="Geist"/>
              </a:rPr>
              <a:t>Deployed: Infervision ~20k lung scans/day; Ant AQ 100M users; DeepSeek-R1 in 261 hospitals.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Same scale, different layer of the stack</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3566160" cy="388619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66160" cy="50292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51560"/>
            <a:ext cx="3383280" cy="502920"/>
          </a:xfrm>
          <a:prstGeom prst="rect">
            <a:avLst/>
          </a:prstGeom>
          <a:noFill/>
        </p:spPr>
        <p:txBody>
          <a:bodyPr wrap="square" anchor="ctr" lIns="0" rIns="0" tIns="0" bIns="0">
            <a:spAutoFit/>
          </a:bodyPr>
          <a:lstStyle/>
          <a:p>
            <a:pPr algn="ctr"/>
            <a:r>
              <a:rPr sz="1250" b="1" i="0">
                <a:solidFill>
                  <a:srgbClr val="14141C"/>
                </a:solidFill>
                <a:latin typeface="Geist Mono"/>
              </a:rPr>
              <a:t>UNITED STATES</a:t>
            </a:r>
          </a:p>
        </p:txBody>
      </p:sp>
      <p:sp>
        <p:nvSpPr>
          <p:cNvPr id="10" name="TextBox 9"/>
          <p:cNvSpPr txBox="1"/>
          <p:nvPr/>
        </p:nvSpPr>
        <p:spPr>
          <a:xfrm>
            <a:off x="640080" y="1673352"/>
            <a:ext cx="3200400" cy="548640"/>
          </a:xfrm>
          <a:prstGeom prst="rect">
            <a:avLst/>
          </a:prstGeom>
          <a:noFill/>
        </p:spPr>
        <p:txBody>
          <a:bodyPr wrap="square" anchor="t" lIns="0" rIns="0" tIns="0" bIns="0">
            <a:spAutoFit/>
          </a:bodyPr>
          <a:lstStyle/>
          <a:p>
            <a:pPr algn="l"/>
            <a:r>
              <a:rPr sz="1350" b="1" i="0">
                <a:solidFill>
                  <a:srgbClr val="40E0D0"/>
                </a:solidFill>
                <a:latin typeface="Geist Mono"/>
              </a:rPr>
              <a:t>Around the core</a:t>
            </a:r>
          </a:p>
        </p:txBody>
      </p:sp>
      <p:sp>
        <p:nvSpPr>
          <p:cNvPr id="11" name="TextBox 10"/>
          <p:cNvSpPr txBox="1"/>
          <p:nvPr/>
        </p:nvSpPr>
        <p:spPr>
          <a:xfrm>
            <a:off x="640080" y="2350008"/>
            <a:ext cx="3200400" cy="2221991"/>
          </a:xfrm>
          <a:prstGeom prst="rect">
            <a:avLst/>
          </a:prstGeom>
          <a:noFill/>
        </p:spPr>
        <p:txBody>
          <a:bodyPr wrap="square" anchor="t" lIns="0" rIns="0" tIns="0" bIns="0">
            <a:spAutoFit/>
          </a:bodyPr>
          <a:lstStyle/>
          <a:p>
            <a:pPr algn="l"/>
            <a:r>
              <a:rPr sz="1200" b="0" i="0">
                <a:solidFill>
                  <a:srgbClr val="14141C"/>
                </a:solidFill>
                <a:latin typeface="Geist"/>
              </a:rPr>
              <a:t>LLMs at scale, but OUTSIDE diagnosis: ambient scribes, medical coding, prior authorization, patient messaging. No FDA pathway for generative diagnosis, so AI stays off the diagnostic decision.</a:t>
            </a:r>
          </a:p>
        </p:txBody>
      </p:sp>
      <p:sp>
        <p:nvSpPr>
          <p:cNvPr id="12" name="TextBox 11"/>
          <p:cNvSpPr txBox="1"/>
          <p:nvPr/>
        </p:nvSpPr>
        <p:spPr>
          <a:xfrm>
            <a:off x="640080" y="4626864"/>
            <a:ext cx="3200400" cy="256032"/>
          </a:xfrm>
          <a:prstGeom prst="rect">
            <a:avLst/>
          </a:prstGeom>
          <a:noFill/>
        </p:spPr>
        <p:txBody>
          <a:bodyPr wrap="square" anchor="t" lIns="0" rIns="0" tIns="0" bIns="0">
            <a:spAutoFit/>
          </a:bodyPr>
          <a:lstStyle/>
          <a:p>
            <a:pPr algn="l"/>
            <a:r>
              <a:rPr sz="950" b="0" i="0">
                <a:solidFill>
                  <a:srgbClr val="40E0D0"/>
                </a:solidFill>
                <a:latin typeface="Geist Mono"/>
              </a:rPr>
              <a:t>Abridge; Nuance DAX; Epic</a:t>
            </a:r>
          </a:p>
        </p:txBody>
      </p:sp>
      <p:sp>
        <p:nvSpPr>
          <p:cNvPr id="13" name="Rectangle 12"/>
          <p:cNvSpPr/>
          <p:nvPr/>
        </p:nvSpPr>
        <p:spPr>
          <a:xfrm>
            <a:off x="4297680" y="1051560"/>
            <a:ext cx="3566160" cy="388619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051560"/>
            <a:ext cx="3566160" cy="50292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051560"/>
            <a:ext cx="3383280" cy="502920"/>
          </a:xfrm>
          <a:prstGeom prst="rect">
            <a:avLst/>
          </a:prstGeom>
          <a:noFill/>
        </p:spPr>
        <p:txBody>
          <a:bodyPr wrap="square" anchor="ctr" lIns="0" rIns="0" tIns="0" bIns="0">
            <a:spAutoFit/>
          </a:bodyPr>
          <a:lstStyle/>
          <a:p>
            <a:pPr algn="ctr"/>
            <a:r>
              <a:rPr sz="1250" b="1" i="0">
                <a:solidFill>
                  <a:srgbClr val="FFFFFF"/>
                </a:solidFill>
                <a:latin typeface="Geist Mono"/>
              </a:rPr>
              <a:t>CHINA</a:t>
            </a:r>
          </a:p>
        </p:txBody>
      </p:sp>
      <p:sp>
        <p:nvSpPr>
          <p:cNvPr id="16" name="TextBox 15"/>
          <p:cNvSpPr txBox="1"/>
          <p:nvPr/>
        </p:nvSpPr>
        <p:spPr>
          <a:xfrm>
            <a:off x="4480560" y="1673352"/>
            <a:ext cx="3200400" cy="548640"/>
          </a:xfrm>
          <a:prstGeom prst="rect">
            <a:avLst/>
          </a:prstGeom>
          <a:noFill/>
        </p:spPr>
        <p:txBody>
          <a:bodyPr wrap="square" anchor="t" lIns="0" rIns="0" tIns="0" bIns="0">
            <a:spAutoFit/>
          </a:bodyPr>
          <a:lstStyle/>
          <a:p>
            <a:pPr algn="l"/>
            <a:r>
              <a:rPr sz="1350" b="1" i="0">
                <a:solidFill>
                  <a:srgbClr val="FF1493"/>
                </a:solidFill>
                <a:latin typeface="Geist Mono"/>
              </a:rPr>
              <a:t>Inside the core</a:t>
            </a:r>
          </a:p>
        </p:txBody>
      </p:sp>
      <p:sp>
        <p:nvSpPr>
          <p:cNvPr id="17" name="TextBox 16"/>
          <p:cNvSpPr txBox="1"/>
          <p:nvPr/>
        </p:nvSpPr>
        <p:spPr>
          <a:xfrm>
            <a:off x="4480560" y="2350008"/>
            <a:ext cx="3200400" cy="2221991"/>
          </a:xfrm>
          <a:prstGeom prst="rect">
            <a:avLst/>
          </a:prstGeom>
          <a:noFill/>
        </p:spPr>
        <p:txBody>
          <a:bodyPr wrap="square" anchor="t" lIns="0" rIns="0" tIns="0" bIns="0">
            <a:spAutoFit/>
          </a:bodyPr>
          <a:lstStyle/>
          <a:p>
            <a:pPr algn="l"/>
            <a:r>
              <a:rPr sz="1200" b="0" i="0">
                <a:solidFill>
                  <a:srgbClr val="14141C"/>
                </a:solidFill>
                <a:latin typeface="Geist"/>
              </a:rPr>
              <a:t>Clinical LLMs straight into diagnostic reasoning and the EHR: DeepSeek-R1 across 261 hospitals; Ant AQ reaches 100M users and ~5,000 hospitals.</a:t>
            </a:r>
          </a:p>
        </p:txBody>
      </p:sp>
      <p:sp>
        <p:nvSpPr>
          <p:cNvPr id="18" name="TextBox 17"/>
          <p:cNvSpPr txBox="1"/>
          <p:nvPr/>
        </p:nvSpPr>
        <p:spPr>
          <a:xfrm>
            <a:off x="4480560" y="4626864"/>
            <a:ext cx="3200400" cy="256032"/>
          </a:xfrm>
          <a:prstGeom prst="rect">
            <a:avLst/>
          </a:prstGeom>
          <a:noFill/>
        </p:spPr>
        <p:txBody>
          <a:bodyPr wrap="square" anchor="t" lIns="0" rIns="0" tIns="0" bIns="0">
            <a:spAutoFit/>
          </a:bodyPr>
          <a:lstStyle/>
          <a:p>
            <a:pPr algn="l"/>
            <a:r>
              <a:rPr sz="950" b="0" i="0">
                <a:solidFill>
                  <a:srgbClr val="FF1493"/>
                </a:solidFill>
                <a:latin typeface="Geist Mono"/>
              </a:rPr>
              <a:t>Nature Medicine 2025</a:t>
            </a:r>
          </a:p>
        </p:txBody>
      </p:sp>
      <p:sp>
        <p:nvSpPr>
          <p:cNvPr id="19" name="Rectangle 18"/>
          <p:cNvSpPr/>
          <p:nvPr/>
        </p:nvSpPr>
        <p:spPr>
          <a:xfrm>
            <a:off x="8138160" y="1051560"/>
            <a:ext cx="3566160" cy="388619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051560"/>
            <a:ext cx="3566160" cy="50292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051560"/>
            <a:ext cx="3383280" cy="502920"/>
          </a:xfrm>
          <a:prstGeom prst="rect">
            <a:avLst/>
          </a:prstGeom>
          <a:noFill/>
        </p:spPr>
        <p:txBody>
          <a:bodyPr wrap="square" anchor="ctr" lIns="0" rIns="0" tIns="0" bIns="0">
            <a:spAutoFit/>
          </a:bodyPr>
          <a:lstStyle/>
          <a:p>
            <a:pPr algn="ctr"/>
            <a:r>
              <a:rPr sz="1250" b="1" i="0">
                <a:solidFill>
                  <a:srgbClr val="14141C"/>
                </a:solidFill>
                <a:latin typeface="Geist Mono"/>
              </a:rPr>
              <a:t>EUROPE / EU</a:t>
            </a:r>
          </a:p>
        </p:txBody>
      </p:sp>
      <p:sp>
        <p:nvSpPr>
          <p:cNvPr id="22" name="TextBox 21"/>
          <p:cNvSpPr txBox="1"/>
          <p:nvPr/>
        </p:nvSpPr>
        <p:spPr>
          <a:xfrm>
            <a:off x="8321040" y="1673352"/>
            <a:ext cx="3200400" cy="548640"/>
          </a:xfrm>
          <a:prstGeom prst="rect">
            <a:avLst/>
          </a:prstGeom>
          <a:noFill/>
        </p:spPr>
        <p:txBody>
          <a:bodyPr wrap="square" anchor="t" lIns="0" rIns="0" tIns="0" bIns="0">
            <a:spAutoFit/>
          </a:bodyPr>
          <a:lstStyle/>
          <a:p>
            <a:pPr algn="l"/>
            <a:r>
              <a:rPr sz="1350" b="1" i="0">
                <a:solidFill>
                  <a:srgbClr val="F0C840"/>
                </a:solidFill>
                <a:latin typeface="Geist Mono"/>
              </a:rPr>
              <a:t>No human, but only the easy cases</a:t>
            </a:r>
          </a:p>
        </p:txBody>
      </p:sp>
      <p:sp>
        <p:nvSpPr>
          <p:cNvPr id="23" name="TextBox 22"/>
          <p:cNvSpPr txBox="1"/>
          <p:nvPr/>
        </p:nvSpPr>
        <p:spPr>
          <a:xfrm>
            <a:off x="8321040" y="2350008"/>
            <a:ext cx="3200400" cy="2221991"/>
          </a:xfrm>
          <a:prstGeom prst="rect">
            <a:avLst/>
          </a:prstGeom>
          <a:noFill/>
        </p:spPr>
        <p:txBody>
          <a:bodyPr wrap="square" anchor="t" lIns="0" rIns="0" tIns="0" bIns="0">
            <a:spAutoFit/>
          </a:bodyPr>
          <a:lstStyle/>
          <a:p>
            <a:pPr algn="l"/>
            <a:r>
              <a:rPr sz="1200" b="0" i="0">
                <a:solidFill>
                  <a:srgbClr val="14141C"/>
                </a:solidFill>
                <a:latin typeface="Geist"/>
              </a:rPr>
              <a:t>The only fully AUTONOMOUS diagnosis, used pragmatically: Oxipit ChestLink auto-signs off NORMAL chest X-rays (the ~15-40% with no finding) and routes every positive to a radiologist. CE Class IIb, a clearance the FDA has not granted.</a:t>
            </a:r>
          </a:p>
        </p:txBody>
      </p:sp>
      <p:sp>
        <p:nvSpPr>
          <p:cNvPr id="24" name="TextBox 23"/>
          <p:cNvSpPr txBox="1"/>
          <p:nvPr/>
        </p:nvSpPr>
        <p:spPr>
          <a:xfrm>
            <a:off x="8321040" y="4626864"/>
            <a:ext cx="3200400" cy="256032"/>
          </a:xfrm>
          <a:prstGeom prst="rect">
            <a:avLst/>
          </a:prstGeom>
          <a:noFill/>
        </p:spPr>
        <p:txBody>
          <a:bodyPr wrap="square" anchor="t" lIns="0" rIns="0" tIns="0" bIns="0">
            <a:spAutoFit/>
          </a:bodyPr>
          <a:lstStyle/>
          <a:p>
            <a:pPr algn="l"/>
            <a:r>
              <a:rPr sz="950" b="0" i="0">
                <a:solidFill>
                  <a:srgbClr val="F0C840"/>
                </a:solidFill>
                <a:latin typeface="Geist Mono"/>
              </a:rPr>
              <a:t>Oxipit / Sectra, 2026</a:t>
            </a:r>
          </a:p>
        </p:txBody>
      </p:sp>
      <p:sp>
        <p:nvSpPr>
          <p:cNvPr id="25" name="Rectangle 24"/>
          <p:cNvSpPr/>
          <p:nvPr/>
        </p:nvSpPr>
        <p:spPr>
          <a:xfrm>
            <a:off x="457200" y="5166359"/>
            <a:ext cx="11247120" cy="10972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5166359"/>
            <a:ext cx="10625328" cy="1097280"/>
          </a:xfrm>
          <a:prstGeom prst="rect">
            <a:avLst/>
          </a:prstGeom>
          <a:noFill/>
        </p:spPr>
        <p:txBody>
          <a:bodyPr wrap="square" anchor="ctr" lIns="0" rIns="0" tIns="0" bIns="0">
            <a:spAutoFit/>
          </a:bodyPr>
          <a:lstStyle/>
          <a:p>
            <a:pPr algn="l"/>
            <a:r>
              <a:rPr sz="1300" b="1" i="0">
                <a:solidFill>
                  <a:srgbClr val="FFFFFF"/>
                </a:solidFill>
                <a:latin typeface="Geist"/>
              </a:rPr>
              <a:t>Same massive scale, three bets on WHERE AI sits: the US automates the paperwork around the clinician, China augments the diagnostic reasoning, Europe removes the human, but only on the cases that are clearly normal.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regulate, build, deploy split, in medicine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356616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66160" cy="5486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051560"/>
            <a:ext cx="3346704" cy="548640"/>
          </a:xfrm>
          <a:prstGeom prst="rect">
            <a:avLst/>
          </a:prstGeom>
          <a:noFill/>
        </p:spPr>
        <p:txBody>
          <a:bodyPr wrap="square" anchor="ctr" lIns="0" rIns="0" tIns="0" bIns="0">
            <a:spAutoFit/>
          </a:bodyPr>
          <a:lstStyle/>
          <a:p>
            <a:pPr algn="ctr"/>
            <a:r>
              <a:rPr sz="1300" b="1" i="0">
                <a:solidFill>
                  <a:srgbClr val="14141C"/>
                </a:solidFill>
                <a:latin typeface="Geist Mono"/>
              </a:rPr>
              <a:t>UNITED STATES</a:t>
            </a:r>
          </a:p>
        </p:txBody>
      </p:sp>
      <p:sp>
        <p:nvSpPr>
          <p:cNvPr id="10" name="TextBox 9"/>
          <p:cNvSpPr txBox="1"/>
          <p:nvPr/>
        </p:nvSpPr>
        <p:spPr>
          <a:xfrm>
            <a:off x="658368" y="1801368"/>
            <a:ext cx="3163824" cy="548640"/>
          </a:xfrm>
          <a:prstGeom prst="rect">
            <a:avLst/>
          </a:prstGeom>
          <a:noFill/>
        </p:spPr>
        <p:txBody>
          <a:bodyPr wrap="square" anchor="t" lIns="0" rIns="0" tIns="0" bIns="0">
            <a:spAutoFit/>
          </a:bodyPr>
          <a:lstStyle/>
          <a:p>
            <a:pPr algn="l"/>
            <a:r>
              <a:rPr sz="1800" b="1" i="0">
                <a:solidFill>
                  <a:srgbClr val="14141C"/>
                </a:solidFill>
                <a:latin typeface="Geist Mono"/>
              </a:rPr>
              <a:t>APPROVES most</a:t>
            </a:r>
          </a:p>
        </p:txBody>
      </p:sp>
      <p:sp>
        <p:nvSpPr>
          <p:cNvPr id="11" name="TextBox 10"/>
          <p:cNvSpPr txBox="1"/>
          <p:nvPr/>
        </p:nvSpPr>
        <p:spPr>
          <a:xfrm>
            <a:off x="658368" y="2514600"/>
            <a:ext cx="3163824" cy="3566159"/>
          </a:xfrm>
          <a:prstGeom prst="rect">
            <a:avLst/>
          </a:prstGeom>
          <a:noFill/>
        </p:spPr>
        <p:txBody>
          <a:bodyPr wrap="square" anchor="t" lIns="0" rIns="0" tIns="0" bIns="0">
            <a:spAutoFit/>
          </a:bodyPr>
          <a:lstStyle/>
          <a:p>
            <a:pPr algn="l"/>
            <a:r>
              <a:rPr sz="1250" b="0" i="0">
                <a:solidFill>
                  <a:srgbClr val="14141C"/>
                </a:solidFill>
                <a:latin typeface="Geist"/>
              </a:rPr>
              <a:t>~1,451 discrete tools, device-by-device 510(k). But reimbursement is the bottleneck and LLM clinical AI has no pathway.</a:t>
            </a:r>
          </a:p>
        </p:txBody>
      </p:sp>
      <p:sp>
        <p:nvSpPr>
          <p:cNvPr id="12" name="Rectangle 11"/>
          <p:cNvSpPr/>
          <p:nvPr/>
        </p:nvSpPr>
        <p:spPr>
          <a:xfrm>
            <a:off x="4297680" y="1051560"/>
            <a:ext cx="356616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051560"/>
            <a:ext cx="3566160" cy="54864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1051560"/>
            <a:ext cx="3346704" cy="548640"/>
          </a:xfrm>
          <a:prstGeom prst="rect">
            <a:avLst/>
          </a:prstGeom>
          <a:noFill/>
        </p:spPr>
        <p:txBody>
          <a:bodyPr wrap="square" anchor="ctr" lIns="0" rIns="0" tIns="0" bIns="0">
            <a:spAutoFit/>
          </a:bodyPr>
          <a:lstStyle/>
          <a:p>
            <a:pPr algn="ctr"/>
            <a:r>
              <a:rPr sz="1300" b="1" i="0">
                <a:solidFill>
                  <a:srgbClr val="14141C"/>
                </a:solidFill>
                <a:latin typeface="Geist Mono"/>
              </a:rPr>
              <a:t>EUROPE / EU</a:t>
            </a:r>
          </a:p>
        </p:txBody>
      </p:sp>
      <p:sp>
        <p:nvSpPr>
          <p:cNvPr id="15" name="TextBox 14"/>
          <p:cNvSpPr txBox="1"/>
          <p:nvPr/>
        </p:nvSpPr>
        <p:spPr>
          <a:xfrm>
            <a:off x="4498848" y="1801368"/>
            <a:ext cx="3163824" cy="548640"/>
          </a:xfrm>
          <a:prstGeom prst="rect">
            <a:avLst/>
          </a:prstGeom>
          <a:noFill/>
        </p:spPr>
        <p:txBody>
          <a:bodyPr wrap="square" anchor="t" lIns="0" rIns="0" tIns="0" bIns="0">
            <a:spAutoFit/>
          </a:bodyPr>
          <a:lstStyle/>
          <a:p>
            <a:pPr algn="l"/>
            <a:r>
              <a:rPr sz="1800" b="1" i="0">
                <a:solidFill>
                  <a:srgbClr val="14141C"/>
                </a:solidFill>
                <a:latin typeface="Geist Mono"/>
              </a:rPr>
              <a:t>REGULATES hardest</a:t>
            </a:r>
          </a:p>
        </p:txBody>
      </p:sp>
      <p:sp>
        <p:nvSpPr>
          <p:cNvPr id="16" name="TextBox 15"/>
          <p:cNvSpPr txBox="1"/>
          <p:nvPr/>
        </p:nvSpPr>
        <p:spPr>
          <a:xfrm>
            <a:off x="4498848" y="2514600"/>
            <a:ext cx="3163824" cy="3566159"/>
          </a:xfrm>
          <a:prstGeom prst="rect">
            <a:avLst/>
          </a:prstGeom>
          <a:noFill/>
        </p:spPr>
        <p:txBody>
          <a:bodyPr wrap="square" anchor="t" lIns="0" rIns="0" tIns="0" bIns="0">
            <a:spAutoFit/>
          </a:bodyPr>
          <a:lstStyle/>
          <a:p>
            <a:pPr algn="l"/>
            <a:r>
              <a:rPr sz="1250" b="0" i="0">
                <a:solidFill>
                  <a:srgbClr val="14141C"/>
                </a:solidFill>
                <a:latin typeface="Geist"/>
              </a:rPr>
              <a:t>AI Act + MDR/IVDR double conformity, notified-body bottleneck. Germany's DiGA is the clearest working reimbursement route.</a:t>
            </a:r>
          </a:p>
        </p:txBody>
      </p:sp>
      <p:sp>
        <p:nvSpPr>
          <p:cNvPr id="17" name="Rectangle 16"/>
          <p:cNvSpPr/>
          <p:nvPr/>
        </p:nvSpPr>
        <p:spPr>
          <a:xfrm>
            <a:off x="8138160" y="1051560"/>
            <a:ext cx="3566160" cy="5212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051560"/>
            <a:ext cx="3566160" cy="5486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1051560"/>
            <a:ext cx="3346704" cy="548640"/>
          </a:xfrm>
          <a:prstGeom prst="rect">
            <a:avLst/>
          </a:prstGeom>
          <a:noFill/>
        </p:spPr>
        <p:txBody>
          <a:bodyPr wrap="square" anchor="ctr" lIns="0" rIns="0" tIns="0" bIns="0">
            <a:spAutoFit/>
          </a:bodyPr>
          <a:lstStyle/>
          <a:p>
            <a:pPr algn="ctr"/>
            <a:r>
              <a:rPr sz="1300" b="1" i="0">
                <a:solidFill>
                  <a:srgbClr val="FFFFFF"/>
                </a:solidFill>
                <a:latin typeface="Geist Mono"/>
              </a:rPr>
              <a:t>CHINA</a:t>
            </a:r>
          </a:p>
        </p:txBody>
      </p:sp>
      <p:sp>
        <p:nvSpPr>
          <p:cNvPr id="20" name="TextBox 19"/>
          <p:cNvSpPr txBox="1"/>
          <p:nvPr/>
        </p:nvSpPr>
        <p:spPr>
          <a:xfrm>
            <a:off x="8339328" y="1801368"/>
            <a:ext cx="3163824" cy="548640"/>
          </a:xfrm>
          <a:prstGeom prst="rect">
            <a:avLst/>
          </a:prstGeom>
          <a:noFill/>
        </p:spPr>
        <p:txBody>
          <a:bodyPr wrap="square" anchor="t" lIns="0" rIns="0" tIns="0" bIns="0">
            <a:spAutoFit/>
          </a:bodyPr>
          <a:lstStyle/>
          <a:p>
            <a:pPr algn="l"/>
            <a:r>
              <a:rPr sz="1800" b="1" i="0">
                <a:solidFill>
                  <a:srgbClr val="14141C"/>
                </a:solidFill>
                <a:latin typeface="Geist Mono"/>
              </a:rPr>
              <a:t>DEPLOYS most</a:t>
            </a:r>
          </a:p>
        </p:txBody>
      </p:sp>
      <p:sp>
        <p:nvSpPr>
          <p:cNvPr id="21" name="TextBox 20"/>
          <p:cNvSpPr txBox="1"/>
          <p:nvPr/>
        </p:nvSpPr>
        <p:spPr>
          <a:xfrm>
            <a:off x="8339328" y="2514600"/>
            <a:ext cx="3163824" cy="3566159"/>
          </a:xfrm>
          <a:prstGeom prst="rect">
            <a:avLst/>
          </a:prstGeom>
          <a:noFill/>
        </p:spPr>
        <p:txBody>
          <a:bodyPr wrap="square" anchor="t" lIns="0" rIns="0" tIns="0" bIns="0">
            <a:spAutoFit/>
          </a:bodyPr>
          <a:lstStyle/>
          <a:p>
            <a:pPr algn="l"/>
            <a:r>
              <a:rPr sz="1250" b="0" i="0">
                <a:solidFill>
                  <a:srgbClr val="14141C"/>
                </a:solidFill>
                <a:latin typeface="Geist"/>
              </a:rPr>
              <a:t>Population-scale platforms (AQ 100M users); 261 hospitals ran DeepSeek-R1. State coordination + volume procurement drive scale.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8A2BE2"/>
                </a:solidFill>
                <a:latin typeface="Geist Mono"/>
              </a:rPr>
              <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SYNTHESIS</a:t>
            </a:r>
          </a:p>
        </p:txBody>
      </p:sp>
      <p:sp>
        <p:nvSpPr>
          <p:cNvPr id="7" name="Rectangle 6"/>
          <p:cNvSpPr/>
          <p:nvPr/>
        </p:nvSpPr>
        <p:spPr>
          <a:xfrm>
            <a:off x="777240" y="5120640"/>
            <a:ext cx="1828800" cy="1828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a:solidFill>
                  <a:srgbClr val="FF7F50"/>
                </a:solidFill>
                <a:latin typeface="Geist Mono"/>
              </a:rPr>
              <a:t>Curtis Chambers</a:t>
            </a:r>
            <a:r>
              <a:rPr sz="1100" b="1">
                <a:solidFill>
                  <a:srgbClr val="40E0D0"/>
                </a:solidFill>
                <a:latin typeface="Geist Mono"/>
              </a:rPr>
              <a:t>  ·  Jinchi Wei</a:t>
            </a:r>
          </a:p>
        </p:txBody>
      </p:sp>
      <p:sp>
        <p:nvSpPr>
          <p:cNvPr id="9" name="TextBox 8"/>
          <p:cNvSpPr txBox="1"/>
          <p:nvPr/>
        </p:nvSpPr>
        <p:spPr>
          <a:xfrm>
            <a:off x="3886200"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4114800"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CPH 200C · Computational Precision Health</a:t>
            </a:r>
          </a:p>
        </p:txBody>
      </p:sp>
      <p:sp>
        <p:nvSpPr>
          <p:cNvPr id="11" name="TextBox 10"/>
          <p:cNvSpPr txBox="1"/>
          <p:nvPr/>
        </p:nvSpPr>
        <p:spPr>
          <a:xfrm>
            <a:off x="8238744"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8467344"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Three Governing Systems for 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Beyond the big three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5463540" cy="42976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5463540" cy="54864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51560"/>
            <a:ext cx="5097780" cy="548640"/>
          </a:xfrm>
          <a:prstGeom prst="rect">
            <a:avLst/>
          </a:prstGeom>
          <a:noFill/>
        </p:spPr>
        <p:txBody>
          <a:bodyPr wrap="square" anchor="ctr" lIns="0" rIns="0" tIns="0" bIns="0">
            <a:spAutoFit/>
          </a:bodyPr>
          <a:lstStyle/>
          <a:p>
            <a:pPr algn="l"/>
            <a:r>
              <a:rPr sz="1400" b="1" i="0">
                <a:solidFill>
                  <a:srgbClr val="14141C"/>
                </a:solidFill>
                <a:latin typeface="Geist Mono"/>
              </a:rPr>
              <a:t>THE GULF: capital</a:t>
            </a:r>
          </a:p>
        </p:txBody>
      </p:sp>
      <p:sp>
        <p:nvSpPr>
          <p:cNvPr id="10" name="TextBox 9"/>
          <p:cNvSpPr txBox="1"/>
          <p:nvPr/>
        </p:nvSpPr>
        <p:spPr>
          <a:xfrm>
            <a:off x="713232" y="1801368"/>
            <a:ext cx="4951476" cy="3383279"/>
          </a:xfrm>
          <a:prstGeom prst="rect">
            <a:avLst/>
          </a:prstGeom>
          <a:noFill/>
        </p:spPr>
        <p:txBody>
          <a:bodyPr wrap="square" anchor="t" lIns="0" rIns="0" tIns="0" bIns="0">
            <a:spAutoFit/>
          </a:bodyPr>
          <a:lstStyle/>
          <a:p>
            <a:pPr algn="l"/>
            <a:r>
              <a:rPr sz="1300" b="0" i="0">
                <a:solidFill>
                  <a:srgbClr val="14141C"/>
                </a:solidFill>
                <a:latin typeface="Geist"/>
              </a:rPr>
              <a:t>Sovereign money, not models. Stargate UAE (5 GW; G42, MGX), Saudi HUMAIN, and MGX committed up to $500B to US Stargate. Abundant capital and compute, thin domestic talent and market.</a:t>
            </a:r>
          </a:p>
        </p:txBody>
      </p:sp>
      <p:sp>
        <p:nvSpPr>
          <p:cNvPr id="11" name="Rectangle 10"/>
          <p:cNvSpPr/>
          <p:nvPr/>
        </p:nvSpPr>
        <p:spPr>
          <a:xfrm>
            <a:off x="6240780" y="1051560"/>
            <a:ext cx="5463540" cy="42976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0780" y="1051560"/>
            <a:ext cx="5463540" cy="5486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1948" y="1051560"/>
            <a:ext cx="5097780" cy="548640"/>
          </a:xfrm>
          <a:prstGeom prst="rect">
            <a:avLst/>
          </a:prstGeom>
          <a:noFill/>
        </p:spPr>
        <p:txBody>
          <a:bodyPr wrap="square" anchor="ctr" lIns="0" rIns="0" tIns="0" bIns="0">
            <a:spAutoFit/>
          </a:bodyPr>
          <a:lstStyle/>
          <a:p>
            <a:pPr algn="l"/>
            <a:r>
              <a:rPr sz="1400" b="1" i="0">
                <a:solidFill>
                  <a:srgbClr val="FFFFFF"/>
                </a:solidFill>
                <a:latin typeface="Geist Mono"/>
              </a:rPr>
              <a:t>THE GLOBAL SOUTH: the battleground</a:t>
            </a:r>
          </a:p>
        </p:txBody>
      </p:sp>
      <p:sp>
        <p:nvSpPr>
          <p:cNvPr id="14" name="TextBox 13"/>
          <p:cNvSpPr txBox="1"/>
          <p:nvPr/>
        </p:nvSpPr>
        <p:spPr>
          <a:xfrm>
            <a:off x="6496812" y="1801368"/>
            <a:ext cx="4951476" cy="3383279"/>
          </a:xfrm>
          <a:prstGeom prst="rect">
            <a:avLst/>
          </a:prstGeom>
          <a:noFill/>
        </p:spPr>
        <p:txBody>
          <a:bodyPr wrap="square" anchor="t" lIns="0" rIns="0" tIns="0" bIns="0">
            <a:spAutoFit/>
          </a:bodyPr>
          <a:lstStyle/>
          <a:p>
            <a:pPr algn="l"/>
            <a:r>
              <a:rPr sz="1300" b="0" i="0">
                <a:solidFill>
                  <a:srgbClr val="14141C"/>
                </a:solidFill>
                <a:latin typeface="Geist"/>
              </a:rPr>
              <a:t>Where US and Chinese open models compete for the next billion users. Sovereign-language models (SEA-LION, Sahabat, TAIDE) run on rented compute, increasingly on Chinese open weights.</a:t>
            </a:r>
          </a:p>
        </p:txBody>
      </p:sp>
      <p:sp>
        <p:nvSpPr>
          <p:cNvPr id="15" name="Rectangle 14"/>
          <p:cNvSpPr/>
          <p:nvPr/>
        </p:nvSpPr>
        <p:spPr>
          <a:xfrm>
            <a:off x="457200" y="5623559"/>
            <a:ext cx="11247120" cy="6400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623559"/>
            <a:ext cx="10698480" cy="640080"/>
          </a:xfrm>
          <a:prstGeom prst="rect">
            <a:avLst/>
          </a:prstGeom>
          <a:noFill/>
        </p:spPr>
        <p:txBody>
          <a:bodyPr wrap="square" anchor="ctr" lIns="0" rIns="0" tIns="0" bIns="0">
            <a:spAutoFit/>
          </a:bodyPr>
          <a:lstStyle/>
          <a:p>
            <a:pPr algn="l"/>
            <a:r>
              <a:rPr sz="1300" b="1" i="0">
                <a:solidFill>
                  <a:srgbClr val="FFFFFF"/>
                </a:solidFill>
                <a:latin typeface="Geist"/>
              </a:rPr>
              <a:t>Three hubs build and govern AI. Everyone else deploys it, increasingly on Chinese open weights, which is itself a geopolitical outcome.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master comparison</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graphicFrame>
        <p:nvGraphicFramePr>
          <p:cNvPr id="7" name="Table 6"/>
          <p:cNvGraphicFramePr>
            <a:graphicFrameLocks noGrp="1"/>
          </p:cNvGraphicFramePr>
          <p:nvPr/>
        </p:nvGraphicFramePr>
        <p:xfrm>
          <a:off x="457200" y="1097280"/>
          <a:ext cx="11247120" cy="3657600"/>
        </p:xfrm>
        <a:graphic>
          <a:graphicData uri="http://schemas.openxmlformats.org/drawingml/2006/table">
            <a:tbl>
              <a:tblPr firstRow="1" bandRow="1">
                <a:tableStyleId>{5C22544A-7EE6-4342-B048-85BDC9FD1C3A}</a:tableStyleId>
              </a:tblPr>
              <a:tblGrid>
                <a:gridCol w="2811780"/>
                <a:gridCol w="2811780"/>
                <a:gridCol w="2811780"/>
                <a:gridCol w="2811780"/>
              </a:tblGrid>
              <a:tr h="457200">
                <a:tc>
                  <a:txBody>
                    <a:bodyPr wrap="square"/>
                    <a:lstStyle/>
                    <a:p>
                      <a:r>
                        <a:rPr sz="1200" b="1">
                          <a:solidFill>
                            <a:srgbClr val="FFFFFF"/>
                          </a:solidFill>
                          <a:latin typeface="Geist Mono"/>
                        </a:rPr>
                        <a:t>Scope</a:t>
                      </a:r>
                    </a:p>
                  </a:txBody>
                  <a:tcPr marL="60000" marR="60000" marT="30000" marB="30000">
                    <a:solidFill>
                      <a:srgbClr val="8A2BE2"/>
                    </a:solidFill>
                  </a:tcPr>
                </a:tc>
                <a:tc>
                  <a:txBody>
                    <a:bodyPr wrap="square"/>
                    <a:lstStyle/>
                    <a:p>
                      <a:r>
                        <a:rPr sz="1200" b="1">
                          <a:solidFill>
                            <a:srgbClr val="FFFFFF"/>
                          </a:solidFill>
                          <a:latin typeface="Geist Mono"/>
                        </a:rPr>
                        <a:t>United States</a:t>
                      </a:r>
                    </a:p>
                  </a:txBody>
                  <a:tcPr marL="60000" marR="60000" marT="30000" marB="30000">
                    <a:solidFill>
                      <a:srgbClr val="8A2BE2"/>
                    </a:solidFill>
                  </a:tcPr>
                </a:tc>
                <a:tc>
                  <a:txBody>
                    <a:bodyPr wrap="square"/>
                    <a:lstStyle/>
                    <a:p>
                      <a:r>
                        <a:rPr sz="1200" b="1">
                          <a:solidFill>
                            <a:srgbClr val="FFFFFF"/>
                          </a:solidFill>
                          <a:latin typeface="Geist Mono"/>
                        </a:rPr>
                        <a:t>Europe / EU</a:t>
                      </a:r>
                    </a:p>
                  </a:txBody>
                  <a:tcPr marL="60000" marR="60000" marT="30000" marB="30000">
                    <a:solidFill>
                      <a:srgbClr val="8A2BE2"/>
                    </a:solidFill>
                  </a:tcPr>
                </a:tc>
                <a:tc>
                  <a:txBody>
                    <a:bodyPr wrap="square"/>
                    <a:lstStyle/>
                    <a:p>
                      <a:r>
                        <a:rPr sz="1200" b="1">
                          <a:solidFill>
                            <a:srgbClr val="FFFFFF"/>
                          </a:solidFill>
                          <a:latin typeface="Geist Mono"/>
                        </a:rPr>
                        <a:t>Asia (China-led)</a:t>
                      </a:r>
                    </a:p>
                  </a:txBody>
                  <a:tcPr marL="60000" marR="60000" marT="30000" marB="30000">
                    <a:solidFill>
                      <a:srgbClr val="8A2BE2"/>
                    </a:solidFill>
                  </a:tcPr>
                </a:tc>
              </a:tr>
              <a:tr h="457200">
                <a:tc>
                  <a:txBody>
                    <a:bodyPr wrap="square"/>
                    <a:lstStyle/>
                    <a:p>
                      <a:r>
                        <a:rPr sz="1200" b="0">
                          <a:solidFill>
                            <a:srgbClr val="14141C"/>
                          </a:solidFill>
                          <a:latin typeface="Geist"/>
                        </a:rPr>
                        <a:t>Governance</a:t>
                      </a:r>
                    </a:p>
                  </a:txBody>
                  <a:tcPr marL="60000" marR="60000" marT="30000" marB="30000">
                    <a:solidFill>
                      <a:srgbClr val="FFFFFF"/>
                    </a:solidFill>
                  </a:tcPr>
                </a:tc>
                <a:tc>
                  <a:txBody>
                    <a:bodyPr wrap="square"/>
                    <a:lstStyle/>
                    <a:p>
                      <a:r>
                        <a:rPr sz="1200" b="0">
                          <a:solidFill>
                            <a:srgbClr val="14141C"/>
                          </a:solidFill>
                          <a:latin typeface="Geist"/>
                        </a:rPr>
                        <a:t>Market-led, light federal + states</a:t>
                      </a:r>
                    </a:p>
                  </a:txBody>
                  <a:tcPr marL="60000" marR="60000" marT="30000" marB="30000">
                    <a:solidFill>
                      <a:srgbClr val="FFFFFF"/>
                    </a:solidFill>
                  </a:tcPr>
                </a:tc>
                <a:tc>
                  <a:txBody>
                    <a:bodyPr wrap="square"/>
                    <a:lstStyle/>
                    <a:p>
                      <a:r>
                        <a:rPr sz="1200" b="0">
                          <a:solidFill>
                            <a:srgbClr val="14141C"/>
                          </a:solidFill>
                          <a:latin typeface="Geist"/>
                        </a:rPr>
                        <a:t>Comprehensive AI Act (softening)</a:t>
                      </a:r>
                    </a:p>
                  </a:txBody>
                  <a:tcPr marL="60000" marR="60000" marT="30000" marB="30000">
                    <a:solidFill>
                      <a:srgbClr val="FFFFFF"/>
                    </a:solidFill>
                  </a:tcPr>
                </a:tc>
                <a:tc>
                  <a:txBody>
                    <a:bodyPr wrap="square"/>
                    <a:lstStyle/>
                    <a:p>
                      <a:r>
                        <a:rPr sz="1200" b="0">
                          <a:solidFill>
                            <a:srgbClr val="14141C"/>
                          </a:solidFill>
                          <a:latin typeface="Geist"/>
                        </a:rPr>
                        <a:t>State-driven (China); mixed across Asia</a:t>
                      </a:r>
                    </a:p>
                  </a:txBody>
                  <a:tcPr marL="60000" marR="60000" marT="30000" marB="30000">
                    <a:solidFill>
                      <a:srgbClr val="FFFFFF"/>
                    </a:solidFill>
                  </a:tcPr>
                </a:tc>
              </a:tr>
              <a:tr h="457200">
                <a:tc>
                  <a:txBody>
                    <a:bodyPr wrap="square"/>
                    <a:lstStyle/>
                    <a:p>
                      <a:r>
                        <a:rPr sz="1200" b="0">
                          <a:solidFill>
                            <a:srgbClr val="14141C"/>
                          </a:solidFill>
                          <a:latin typeface="Geist"/>
                        </a:rPr>
                        <a:t>Frontier models</a:t>
                      </a:r>
                    </a:p>
                  </a:txBody>
                  <a:tcPr marL="60000" marR="60000" marT="30000" marB="30000">
                    <a:solidFill>
                      <a:srgbClr val="FAFAFC"/>
                    </a:solidFill>
                  </a:tcPr>
                </a:tc>
                <a:tc>
                  <a:txBody>
                    <a:bodyPr wrap="square"/>
                    <a:lstStyle/>
                    <a:p>
                      <a:r>
                        <a:rPr sz="1200" b="0">
                          <a:solidFill>
                            <a:srgbClr val="14141C"/>
                          </a:solidFill>
                          <a:latin typeface="Geist"/>
                        </a:rPr>
                        <a:t>Dominant, closed</a:t>
                      </a:r>
                    </a:p>
                  </a:txBody>
                  <a:tcPr marL="60000" marR="60000" marT="30000" marB="30000">
                    <a:solidFill>
                      <a:srgbClr val="FAFAFC"/>
                    </a:solidFill>
                  </a:tcPr>
                </a:tc>
                <a:tc>
                  <a:txBody>
                    <a:bodyPr wrap="square"/>
                    <a:lstStyle/>
                    <a:p>
                      <a:r>
                        <a:rPr sz="1200" b="0">
                          <a:solidFill>
                            <a:srgbClr val="14141C"/>
                          </a:solidFill>
                          <a:latin typeface="Geist"/>
                        </a:rPr>
                        <a:t>Thin (Mistral; DeepMind under Google)</a:t>
                      </a:r>
                    </a:p>
                  </a:txBody>
                  <a:tcPr marL="60000" marR="60000" marT="30000" marB="30000">
                    <a:solidFill>
                      <a:srgbClr val="FAFAFC"/>
                    </a:solidFill>
                  </a:tcPr>
                </a:tc>
                <a:tc>
                  <a:txBody>
                    <a:bodyPr wrap="square"/>
                    <a:lstStyle/>
                    <a:p>
                      <a:r>
                        <a:rPr sz="1200" b="0">
                          <a:solidFill>
                            <a:srgbClr val="14141C"/>
                          </a:solidFill>
                          <a:latin typeface="Geist"/>
                        </a:rPr>
                        <a:t>Open-weight (China); KR/JP/IN building</a:t>
                      </a:r>
                    </a:p>
                  </a:txBody>
                  <a:tcPr marL="60000" marR="60000" marT="30000" marB="30000">
                    <a:solidFill>
                      <a:srgbClr val="FAFAFC"/>
                    </a:solidFill>
                  </a:tcPr>
                </a:tc>
              </a:tr>
              <a:tr h="457200">
                <a:tc>
                  <a:txBody>
                    <a:bodyPr wrap="square"/>
                    <a:lstStyle/>
                    <a:p>
                      <a:r>
                        <a:rPr sz="1200" b="0">
                          <a:solidFill>
                            <a:srgbClr val="14141C"/>
                          </a:solidFill>
                          <a:latin typeface="Geist"/>
                        </a:rPr>
                        <a:t>Capital</a:t>
                      </a:r>
                    </a:p>
                  </a:txBody>
                  <a:tcPr marL="60000" marR="60000" marT="30000" marB="30000">
                    <a:solidFill>
                      <a:srgbClr val="FFFFFF"/>
                    </a:solidFill>
                  </a:tcPr>
                </a:tc>
                <a:tc>
                  <a:txBody>
                    <a:bodyPr wrap="square"/>
                    <a:lstStyle/>
                    <a:p>
                      <a:r>
                        <a:rPr sz="1200" b="0">
                          <a:solidFill>
                            <a:srgbClr val="14141C"/>
                          </a:solidFill>
                          <a:latin typeface="Geist"/>
                        </a:rPr>
                        <a:t>~83% of global private AI $</a:t>
                      </a:r>
                    </a:p>
                  </a:txBody>
                  <a:tcPr marL="60000" marR="60000" marT="30000" marB="30000">
                    <a:solidFill>
                      <a:srgbClr val="FFFFFF"/>
                    </a:solidFill>
                  </a:tcPr>
                </a:tc>
                <a:tc>
                  <a:txBody>
                    <a:bodyPr wrap="square"/>
                    <a:lstStyle/>
                    <a:p>
                      <a:r>
                        <a:rPr sz="1200" b="0">
                          <a:solidFill>
                            <a:srgbClr val="14141C"/>
                          </a:solidFill>
                          <a:latin typeface="Geist"/>
                        </a:rPr>
                        <a:t>Late-stage capital gap</a:t>
                      </a:r>
                    </a:p>
                  </a:txBody>
                  <a:tcPr marL="60000" marR="60000" marT="30000" marB="30000">
                    <a:solidFill>
                      <a:srgbClr val="FFFFFF"/>
                    </a:solidFill>
                  </a:tcPr>
                </a:tc>
                <a:tc>
                  <a:txBody>
                    <a:bodyPr wrap="square"/>
                    <a:lstStyle/>
                    <a:p>
                      <a:r>
                        <a:rPr sz="1200" b="0">
                          <a:solidFill>
                            <a:srgbClr val="14141C"/>
                          </a:solidFill>
                          <a:latin typeface="Geist"/>
                        </a:rPr>
                        <a:t>State guidance funds; Gulf money</a:t>
                      </a:r>
                    </a:p>
                  </a:txBody>
                  <a:tcPr marL="60000" marR="60000" marT="30000" marB="30000">
                    <a:solidFill>
                      <a:srgbClr val="FFFFFF"/>
                    </a:solidFill>
                  </a:tcPr>
                </a:tc>
              </a:tr>
              <a:tr h="457200">
                <a:tc>
                  <a:txBody>
                    <a:bodyPr wrap="square"/>
                    <a:lstStyle/>
                    <a:p>
                      <a:r>
                        <a:rPr sz="1200" b="0">
                          <a:solidFill>
                            <a:srgbClr val="14141C"/>
                          </a:solidFill>
                          <a:latin typeface="Geist"/>
                        </a:rPr>
                        <a:t>Compute</a:t>
                      </a:r>
                    </a:p>
                  </a:txBody>
                  <a:tcPr marL="60000" marR="60000" marT="30000" marB="30000">
                    <a:solidFill>
                      <a:srgbClr val="FAFAFC"/>
                    </a:solidFill>
                  </a:tcPr>
                </a:tc>
                <a:tc>
                  <a:txBody>
                    <a:bodyPr wrap="square"/>
                    <a:lstStyle/>
                    <a:p>
                      <a:r>
                        <a:rPr sz="1200" b="0">
                          <a:solidFill>
                            <a:srgbClr val="14141C"/>
                          </a:solidFill>
                          <a:latin typeface="Geist"/>
                        </a:rPr>
                        <a:t>Power-constrained</a:t>
                      </a:r>
                    </a:p>
                  </a:txBody>
                  <a:tcPr marL="60000" marR="60000" marT="30000" marB="30000">
                    <a:solidFill>
                      <a:srgbClr val="FAFAFC"/>
                    </a:solidFill>
                  </a:tcPr>
                </a:tc>
                <a:tc>
                  <a:txBody>
                    <a:bodyPr wrap="square"/>
                    <a:lstStyle/>
                    <a:p>
                      <a:r>
                        <a:rPr sz="1200" b="0">
                          <a:solidFill>
                            <a:srgbClr val="14141C"/>
                          </a:solidFill>
                          <a:latin typeface="Geist"/>
                        </a:rPr>
                        <a:t>One chokepoint (ASML)</a:t>
                      </a:r>
                    </a:p>
                  </a:txBody>
                  <a:tcPr marL="60000" marR="60000" marT="30000" marB="30000">
                    <a:solidFill>
                      <a:srgbClr val="FAFAFC"/>
                    </a:solidFill>
                  </a:tcPr>
                </a:tc>
                <a:tc>
                  <a:txBody>
                    <a:bodyPr wrap="square"/>
                    <a:lstStyle/>
                    <a:p>
                      <a:r>
                        <a:rPr sz="1200" b="0">
                          <a:solidFill>
                            <a:srgbClr val="14141C"/>
                          </a:solidFill>
                          <a:latin typeface="Geist"/>
                        </a:rPr>
                        <a:t>Owns the hardware: TSMC, HBM, Foxconn</a:t>
                      </a:r>
                    </a:p>
                  </a:txBody>
                  <a:tcPr marL="60000" marR="60000" marT="30000" marB="30000">
                    <a:solidFill>
                      <a:srgbClr val="FAFAFC"/>
                    </a:solidFill>
                  </a:tcPr>
                </a:tc>
              </a:tr>
              <a:tr h="457200">
                <a:tc>
                  <a:txBody>
                    <a:bodyPr wrap="square"/>
                    <a:lstStyle/>
                    <a:p>
                      <a:r>
                        <a:rPr sz="1200" b="0">
                          <a:solidFill>
                            <a:srgbClr val="14141C"/>
                          </a:solidFill>
                          <a:latin typeface="Geist"/>
                        </a:rPr>
                        <a:t>Deployment</a:t>
                      </a:r>
                    </a:p>
                  </a:txBody>
                  <a:tcPr marL="60000" marR="60000" marT="30000" marB="30000">
                    <a:solidFill>
                      <a:srgbClr val="FFFFFF"/>
                    </a:solidFill>
                  </a:tcPr>
                </a:tc>
                <a:tc>
                  <a:txBody>
                    <a:bodyPr wrap="square"/>
                    <a:lstStyle/>
                    <a:p>
                      <a:r>
                        <a:rPr sz="1200" b="0">
                          <a:solidFill>
                            <a:srgbClr val="14141C"/>
                          </a:solidFill>
                          <a:latin typeface="Geist"/>
                        </a:rPr>
                        <a:t>Enterprise SaaS</a:t>
                      </a:r>
                    </a:p>
                  </a:txBody>
                  <a:tcPr marL="60000" marR="60000" marT="30000" marB="30000">
                    <a:solidFill>
                      <a:srgbClr val="FFFFFF"/>
                    </a:solidFill>
                  </a:tcPr>
                </a:tc>
                <a:tc>
                  <a:txBody>
                    <a:bodyPr wrap="square"/>
                    <a:lstStyle/>
                    <a:p>
                      <a:r>
                        <a:rPr sz="1200" b="0">
                          <a:solidFill>
                            <a:srgbClr val="14141C"/>
                          </a:solidFill>
                          <a:latin typeface="Geist"/>
                        </a:rPr>
                        <a:t>Compliance-gated</a:t>
                      </a:r>
                    </a:p>
                  </a:txBody>
                  <a:tcPr marL="60000" marR="60000" marT="30000" marB="30000">
                    <a:solidFill>
                      <a:srgbClr val="FFFFFF"/>
                    </a:solidFill>
                  </a:tcPr>
                </a:tc>
                <a:tc>
                  <a:txBody>
                    <a:bodyPr wrap="square"/>
                    <a:lstStyle/>
                    <a:p>
                      <a:r>
                        <a:rPr sz="1200" b="0">
                          <a:solidFill>
                            <a:srgbClr val="14141C"/>
                          </a:solidFill>
                          <a:latin typeface="Geist"/>
                        </a:rPr>
                        <a:t>Super-app, population scale</a:t>
                      </a:r>
                    </a:p>
                  </a:txBody>
                  <a:tcPr marL="60000" marR="60000" marT="30000" marB="30000">
                    <a:solidFill>
                      <a:srgbClr val="FFFFFF"/>
                    </a:solidFill>
                  </a:tcPr>
                </a:tc>
              </a:tr>
              <a:tr h="457200">
                <a:tc>
                  <a:txBody>
                    <a:bodyPr wrap="square"/>
                    <a:lstStyle/>
                    <a:p>
                      <a:r>
                        <a:rPr sz="1200" b="0">
                          <a:solidFill>
                            <a:srgbClr val="14141C"/>
                          </a:solidFill>
                          <a:latin typeface="Geist"/>
                        </a:rPr>
                        <a:t>Clinical AI</a:t>
                      </a:r>
                    </a:p>
                  </a:txBody>
                  <a:tcPr marL="60000" marR="60000" marT="30000" marB="30000">
                    <a:solidFill>
                      <a:srgbClr val="FAFAFC"/>
                    </a:solidFill>
                  </a:tcPr>
                </a:tc>
                <a:tc>
                  <a:txBody>
                    <a:bodyPr wrap="square"/>
                    <a:lstStyle/>
                    <a:p>
                      <a:r>
                        <a:rPr sz="1200" b="0">
                          <a:solidFill>
                            <a:srgbClr val="14141C"/>
                          </a:solidFill>
                          <a:latin typeface="Geist"/>
                        </a:rPr>
                        <a:t>Most approvals, underpaid</a:t>
                      </a:r>
                    </a:p>
                  </a:txBody>
                  <a:tcPr marL="60000" marR="60000" marT="30000" marB="30000">
                    <a:solidFill>
                      <a:srgbClr val="FAFAFC"/>
                    </a:solidFill>
                  </a:tcPr>
                </a:tc>
                <a:tc>
                  <a:txBody>
                    <a:bodyPr wrap="square"/>
                    <a:lstStyle/>
                    <a:p>
                      <a:r>
                        <a:rPr sz="1200" b="0">
                          <a:solidFill>
                            <a:srgbClr val="14141C"/>
                          </a:solidFill>
                          <a:latin typeface="Geist"/>
                        </a:rPr>
                        <a:t>Most regulated</a:t>
                      </a:r>
                    </a:p>
                  </a:txBody>
                  <a:tcPr marL="60000" marR="60000" marT="30000" marB="30000">
                    <a:solidFill>
                      <a:srgbClr val="FAFAFC"/>
                    </a:solidFill>
                  </a:tcPr>
                </a:tc>
                <a:tc>
                  <a:txBody>
                    <a:bodyPr wrap="square"/>
                    <a:lstStyle/>
                    <a:p>
                      <a:r>
                        <a:rPr sz="1200" b="0">
                          <a:solidFill>
                            <a:srgbClr val="14141C"/>
                          </a:solidFill>
                          <a:latin typeface="Geist"/>
                        </a:rPr>
                        <a:t>Most deployed (China); Korea exports</a:t>
                      </a:r>
                    </a:p>
                  </a:txBody>
                  <a:tcPr marL="60000" marR="60000" marT="30000" marB="30000">
                    <a:solidFill>
                      <a:srgbClr val="FAFAFC"/>
                    </a:solidFill>
                  </a:tcPr>
                </a:tc>
              </a:tr>
              <a:tr h="457200">
                <a:tc>
                  <a:txBody>
                    <a:bodyPr wrap="square"/>
                    <a:lstStyle/>
                    <a:p>
                      <a:r>
                        <a:rPr sz="1200" b="0">
                          <a:solidFill>
                            <a:srgbClr val="14141C"/>
                          </a:solidFill>
                          <a:latin typeface="Geist"/>
                        </a:rPr>
                        <a:t>Founder-friendly</a:t>
                      </a:r>
                    </a:p>
                  </a:txBody>
                  <a:tcPr marL="60000" marR="60000" marT="30000" marB="30000">
                    <a:solidFill>
                      <a:srgbClr val="FFFFFF"/>
                    </a:solidFill>
                  </a:tcPr>
                </a:tc>
                <a:tc>
                  <a:txBody>
                    <a:bodyPr wrap="square"/>
                    <a:lstStyle/>
                    <a:p>
                      <a:r>
                        <a:rPr sz="1200" b="0">
                          <a:solidFill>
                            <a:srgbClr val="14141C"/>
                          </a:solidFill>
                          <a:latin typeface="Geist"/>
                        </a:rPr>
                        <a:t>Capital + speed; talent cost up</a:t>
                      </a:r>
                    </a:p>
                  </a:txBody>
                  <a:tcPr marL="60000" marR="60000" marT="30000" marB="30000">
                    <a:solidFill>
                      <a:srgbClr val="FFFFFF"/>
                    </a:solidFill>
                  </a:tcPr>
                </a:tc>
                <a:tc>
                  <a:txBody>
                    <a:bodyPr wrap="square"/>
                    <a:lstStyle/>
                    <a:p>
                      <a:r>
                        <a:rPr sz="1200" b="0">
                          <a:solidFill>
                            <a:srgbClr val="14141C"/>
                          </a:solidFill>
                          <a:latin typeface="Geist"/>
                        </a:rPr>
                        <a:t>Subsidy + certainty; heavy rules</a:t>
                      </a:r>
                    </a:p>
                  </a:txBody>
                  <a:tcPr marL="60000" marR="60000" marT="30000" marB="30000">
                    <a:solidFill>
                      <a:srgbClr val="FFFFFF"/>
                    </a:solidFill>
                  </a:tcPr>
                </a:tc>
                <a:tc>
                  <a:txBody>
                    <a:bodyPr wrap="square"/>
                    <a:lstStyle/>
                    <a:p>
                      <a:r>
                        <a:rPr sz="1200" b="0">
                          <a:solidFill>
                            <a:srgbClr val="14141C"/>
                          </a:solidFill>
                          <a:latin typeface="Geist"/>
                        </a:rPr>
                        <a:t>State capital (China); open (India/SEA)</a:t>
                      </a:r>
                    </a:p>
                  </a:txBody>
                  <a:tcPr marL="60000" marR="60000" marT="30000" marB="30000">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Takeaways and outlook</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sp>
        <p:nvSpPr>
          <p:cNvPr id="7" name="Rectangle 6"/>
          <p:cNvSpPr/>
          <p:nvPr/>
        </p:nvSpPr>
        <p:spPr>
          <a:xfrm>
            <a:off x="457200" y="1051560"/>
            <a:ext cx="11247120" cy="12001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960120" cy="1200149"/>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51560"/>
            <a:ext cx="960120" cy="1200149"/>
          </a:xfrm>
          <a:prstGeom prst="rect">
            <a:avLst/>
          </a:prstGeom>
          <a:noFill/>
        </p:spPr>
        <p:txBody>
          <a:bodyPr wrap="square" anchor="ctr" lIns="0" rIns="0" tIns="0" bIns="0">
            <a:spAutoFit/>
          </a:bodyPr>
          <a:lstStyle/>
          <a:p>
            <a:pPr algn="ctr"/>
            <a:r>
              <a:rPr sz="2600" b="1" i="0">
                <a:solidFill>
                  <a:srgbClr val="14141C"/>
                </a:solidFill>
                <a:latin typeface="Geist Mono"/>
              </a:rPr>
              <a:t>01</a:t>
            </a:r>
          </a:p>
        </p:txBody>
      </p:sp>
      <p:sp>
        <p:nvSpPr>
          <p:cNvPr id="10" name="TextBox 9"/>
          <p:cNvSpPr txBox="1"/>
          <p:nvPr/>
        </p:nvSpPr>
        <p:spPr>
          <a:xfrm>
            <a:off x="1664208" y="1051560"/>
            <a:ext cx="9784080" cy="1200149"/>
          </a:xfrm>
          <a:prstGeom prst="rect">
            <a:avLst/>
          </a:prstGeom>
          <a:noFill/>
        </p:spPr>
        <p:txBody>
          <a:bodyPr wrap="square" anchor="ctr" lIns="0" rIns="0" tIns="0" bIns="0">
            <a:spAutoFit/>
          </a:bodyPr>
          <a:lstStyle/>
          <a:p>
            <a:pPr algn="l"/>
            <a:r>
              <a:rPr sz="1300" b="0" i="0">
                <a:solidFill>
                  <a:srgbClr val="14141C"/>
                </a:solidFill>
                <a:latin typeface="Geist"/>
              </a:rPr>
              <a:t>No region does all three well. The US builds the frontier, China deploys at scale, the EU regulates, and each is winning a different race.</a:t>
            </a:r>
          </a:p>
        </p:txBody>
      </p:sp>
      <p:sp>
        <p:nvSpPr>
          <p:cNvPr id="11" name="Rectangle 10"/>
          <p:cNvSpPr/>
          <p:nvPr/>
        </p:nvSpPr>
        <p:spPr>
          <a:xfrm>
            <a:off x="457200" y="2388870"/>
            <a:ext cx="11247120" cy="12001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388870"/>
            <a:ext cx="960120" cy="1200149"/>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88870"/>
            <a:ext cx="960120" cy="1200149"/>
          </a:xfrm>
          <a:prstGeom prst="rect">
            <a:avLst/>
          </a:prstGeom>
          <a:noFill/>
        </p:spPr>
        <p:txBody>
          <a:bodyPr wrap="square" anchor="ctr" lIns="0" rIns="0" tIns="0" bIns="0">
            <a:spAutoFit/>
          </a:bodyPr>
          <a:lstStyle/>
          <a:p>
            <a:pPr algn="ctr"/>
            <a:r>
              <a:rPr sz="2600" b="1" i="0">
                <a:solidFill>
                  <a:srgbClr val="FFFFFF"/>
                </a:solidFill>
                <a:latin typeface="Geist Mono"/>
              </a:rPr>
              <a:t>02</a:t>
            </a:r>
          </a:p>
        </p:txBody>
      </p:sp>
      <p:sp>
        <p:nvSpPr>
          <p:cNvPr id="14" name="TextBox 13"/>
          <p:cNvSpPr txBox="1"/>
          <p:nvPr/>
        </p:nvSpPr>
        <p:spPr>
          <a:xfrm>
            <a:off x="1664208" y="2388870"/>
            <a:ext cx="9784080" cy="1200149"/>
          </a:xfrm>
          <a:prstGeom prst="rect">
            <a:avLst/>
          </a:prstGeom>
          <a:noFill/>
        </p:spPr>
        <p:txBody>
          <a:bodyPr wrap="square" anchor="ctr" lIns="0" rIns="0" tIns="0" bIns="0">
            <a:spAutoFit/>
          </a:bodyPr>
          <a:lstStyle/>
          <a:p>
            <a:pPr algn="l"/>
            <a:r>
              <a:rPr sz="1300" b="0" i="0">
                <a:solidFill>
                  <a:srgbClr val="14141C"/>
                </a:solidFill>
                <a:latin typeface="Geist"/>
              </a:rPr>
              <a:t>The structural divergence is open vs closed. China's open-weight surge is reshaping who deploys AI across the Global South, not just at home.</a:t>
            </a:r>
          </a:p>
        </p:txBody>
      </p:sp>
      <p:sp>
        <p:nvSpPr>
          <p:cNvPr id="15" name="Rectangle 14"/>
          <p:cNvSpPr/>
          <p:nvPr/>
        </p:nvSpPr>
        <p:spPr>
          <a:xfrm>
            <a:off x="457200" y="3726179"/>
            <a:ext cx="11247120" cy="12001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26179"/>
            <a:ext cx="960120" cy="1200149"/>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726179"/>
            <a:ext cx="960120" cy="1200149"/>
          </a:xfrm>
          <a:prstGeom prst="rect">
            <a:avLst/>
          </a:prstGeom>
          <a:noFill/>
        </p:spPr>
        <p:txBody>
          <a:bodyPr wrap="square" anchor="ctr" lIns="0" rIns="0" tIns="0" bIns="0">
            <a:spAutoFit/>
          </a:bodyPr>
          <a:lstStyle/>
          <a:p>
            <a:pPr algn="ctr"/>
            <a:r>
              <a:rPr sz="2600" b="1" i="0">
                <a:solidFill>
                  <a:srgbClr val="14141C"/>
                </a:solidFill>
                <a:latin typeface="Geist Mono"/>
              </a:rPr>
              <a:t>03</a:t>
            </a:r>
          </a:p>
        </p:txBody>
      </p:sp>
      <p:sp>
        <p:nvSpPr>
          <p:cNvPr id="18" name="TextBox 17"/>
          <p:cNvSpPr txBox="1"/>
          <p:nvPr/>
        </p:nvSpPr>
        <p:spPr>
          <a:xfrm>
            <a:off x="1664208" y="3726179"/>
            <a:ext cx="9784080" cy="1200149"/>
          </a:xfrm>
          <a:prstGeom prst="rect">
            <a:avLst/>
          </a:prstGeom>
          <a:noFill/>
        </p:spPr>
        <p:txBody>
          <a:bodyPr wrap="square" anchor="ctr" lIns="0" rIns="0" tIns="0" bIns="0">
            <a:spAutoFit/>
          </a:bodyPr>
          <a:lstStyle/>
          <a:p>
            <a:pPr algn="l"/>
            <a:r>
              <a:rPr sz="1300" b="0" i="0">
                <a:solidFill>
                  <a:srgbClr val="14141C"/>
                </a:solidFill>
                <a:latin typeface="Geist"/>
              </a:rPr>
              <a:t>Constraints differ by region: US power, EU capital + its own rules, China advanced chips, but China's domestic stack and energy surplus are closing the gap.</a:t>
            </a:r>
          </a:p>
        </p:txBody>
      </p:sp>
      <p:sp>
        <p:nvSpPr>
          <p:cNvPr id="19" name="Rectangle 18"/>
          <p:cNvSpPr/>
          <p:nvPr/>
        </p:nvSpPr>
        <p:spPr>
          <a:xfrm>
            <a:off x="457200" y="5063490"/>
            <a:ext cx="11247120" cy="12001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063490"/>
            <a:ext cx="960120" cy="1200149"/>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063490"/>
            <a:ext cx="960120" cy="1200149"/>
          </a:xfrm>
          <a:prstGeom prst="rect">
            <a:avLst/>
          </a:prstGeom>
          <a:noFill/>
        </p:spPr>
        <p:txBody>
          <a:bodyPr wrap="square" anchor="ctr" lIns="0" rIns="0" tIns="0" bIns="0">
            <a:spAutoFit/>
          </a:bodyPr>
          <a:lstStyle/>
          <a:p>
            <a:pPr algn="ctr"/>
            <a:r>
              <a:rPr sz="2600" b="1" i="0">
                <a:solidFill>
                  <a:srgbClr val="FFFFFF"/>
                </a:solidFill>
                <a:latin typeface="Geist Mono"/>
              </a:rPr>
              <a:t>04</a:t>
            </a:r>
          </a:p>
        </p:txBody>
      </p:sp>
      <p:sp>
        <p:nvSpPr>
          <p:cNvPr id="22" name="TextBox 21"/>
          <p:cNvSpPr txBox="1"/>
          <p:nvPr/>
        </p:nvSpPr>
        <p:spPr>
          <a:xfrm>
            <a:off x="1664208" y="5063490"/>
            <a:ext cx="9784080" cy="1200149"/>
          </a:xfrm>
          <a:prstGeom prst="rect">
            <a:avLst/>
          </a:prstGeom>
          <a:noFill/>
        </p:spPr>
        <p:txBody>
          <a:bodyPr wrap="square" anchor="ctr" lIns="0" rIns="0" tIns="0" bIns="0">
            <a:spAutoFit/>
          </a:bodyPr>
          <a:lstStyle/>
          <a:p>
            <a:pPr algn="l"/>
            <a:r>
              <a:rPr sz="1300" b="0" i="0">
                <a:solidFill>
                  <a:srgbClr val="14141C"/>
                </a:solidFill>
                <a:latin typeface="Geist"/>
              </a:rPr>
              <a:t>In medicine the same split holds: US approves most, EU regulates hardest, China deploys most. The deployed-AI bottleneck is institutional, not just technical.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References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Curtis Chambers  ·  Jinchi Wei  ·  CPH 200C · Computational Precision Health  ·  Three Governing Systems for AI  ·  2026-06-04</a:t>
            </a:r>
          </a:p>
        </p:txBody>
      </p:sp>
      <p:graphicFrame>
        <p:nvGraphicFramePr>
          <p:cNvPr id="7" name="Table 6"/>
          <p:cNvGraphicFramePr>
            <a:graphicFrameLocks noGrp="1"/>
          </p:cNvGraphicFramePr>
          <p:nvPr/>
        </p:nvGraphicFramePr>
        <p:xfrm>
          <a:off x="457200" y="1097280"/>
          <a:ext cx="11247120" cy="4800599"/>
        </p:xfrm>
        <a:graphic>
          <a:graphicData uri="http://schemas.openxmlformats.org/drawingml/2006/table">
            <a:tbl>
              <a:tblPr firstRow="1" bandRow="1">
                <a:tableStyleId>{5C22544A-7EE6-4342-B048-85BDC9FD1C3A}</a:tableStyleId>
              </a:tblPr>
              <a:tblGrid>
                <a:gridCol w="5623560"/>
                <a:gridCol w="5623560"/>
              </a:tblGrid>
              <a:tr h="436418">
                <a:tc>
                  <a:txBody>
                    <a:bodyPr wrap="square"/>
                    <a:lstStyle/>
                    <a:p>
                      <a:r>
                        <a:rPr sz="1200" b="1">
                          <a:solidFill>
                            <a:srgbClr val="FFFFFF"/>
                          </a:solidFill>
                          <a:latin typeface="Geist Mono"/>
                        </a:rPr>
                        <a:t>Topic</a:t>
                      </a:r>
                    </a:p>
                  </a:txBody>
                  <a:tcPr marL="60000" marR="60000" marT="30000" marB="30000">
                    <a:solidFill>
                      <a:srgbClr val="8A2BE2"/>
                    </a:solidFill>
                  </a:tcPr>
                </a:tc>
                <a:tc>
                  <a:txBody>
                    <a:bodyPr wrap="square"/>
                    <a:lstStyle/>
                    <a:p>
                      <a:r>
                        <a:rPr sz="1200" b="1">
                          <a:solidFill>
                            <a:srgbClr val="FFFFFF"/>
                          </a:solidFill>
                          <a:latin typeface="Geist Mono"/>
                        </a:rPr>
                        <a:t>Source</a:t>
                      </a:r>
                    </a:p>
                  </a:txBody>
                  <a:tcPr marL="60000" marR="60000" marT="30000" marB="30000">
                    <a:solidFill>
                      <a:srgbClr val="8A2BE2"/>
                    </a:solidFill>
                  </a:tcPr>
                </a:tc>
              </a:tr>
              <a:tr h="436418">
                <a:tc>
                  <a:txBody>
                    <a:bodyPr wrap="square"/>
                    <a:lstStyle/>
                    <a:p>
                      <a:r>
                        <a:rPr sz="1200" b="0">
                          <a:solidFill>
                            <a:srgbClr val="14141C"/>
                          </a:solidFill>
                          <a:latin typeface="Geist"/>
                        </a:rPr>
                        <a:t>US AI Action Plan; preemption EO</a:t>
                      </a:r>
                    </a:p>
                  </a:txBody>
                  <a:tcPr marL="60000" marR="60000" marT="30000" marB="30000">
                    <a:solidFill>
                      <a:srgbClr val="FFFFFF"/>
                    </a:solidFill>
                  </a:tcPr>
                </a:tc>
                <a:tc>
                  <a:txBody>
                    <a:bodyPr wrap="square"/>
                    <a:lstStyle/>
                    <a:p>
                      <a:r>
                        <a:rPr sz="1200" b="0">
                          <a:solidFill>
                            <a:srgbClr val="14141C"/>
                          </a:solidFill>
                          <a:latin typeface="Geist"/>
                        </a:rPr>
                        <a:t>White House (Jul 2025, Dec 2025)</a:t>
                      </a:r>
                    </a:p>
                  </a:txBody>
                  <a:tcPr marL="60000" marR="60000" marT="30000" marB="30000">
                    <a:solidFill>
                      <a:srgbClr val="FFFFFF"/>
                    </a:solidFill>
                  </a:tcPr>
                </a:tc>
              </a:tr>
              <a:tr h="436418">
                <a:tc>
                  <a:txBody>
                    <a:bodyPr wrap="square"/>
                    <a:lstStyle/>
                    <a:p>
                      <a:r>
                        <a:rPr sz="1200" b="0">
                          <a:solidFill>
                            <a:srgbClr val="14141C"/>
                          </a:solidFill>
                          <a:latin typeface="Geist"/>
                        </a:rPr>
                        <a:t>EU AI Act + Digital Omnibus</a:t>
                      </a:r>
                    </a:p>
                  </a:txBody>
                  <a:tcPr marL="60000" marR="60000" marT="30000" marB="30000">
                    <a:solidFill>
                      <a:srgbClr val="FAFAFC"/>
                    </a:solidFill>
                  </a:tcPr>
                </a:tc>
                <a:tc>
                  <a:txBody>
                    <a:bodyPr wrap="square"/>
                    <a:lstStyle/>
                    <a:p>
                      <a:r>
                        <a:rPr sz="1200" b="0">
                          <a:solidFill>
                            <a:srgbClr val="14141C"/>
                          </a:solidFill>
                          <a:latin typeface="Geist"/>
                        </a:rPr>
                        <a:t>White &amp; Case; European Parliament (2025-26)</a:t>
                      </a:r>
                    </a:p>
                  </a:txBody>
                  <a:tcPr marL="60000" marR="60000" marT="30000" marB="30000">
                    <a:solidFill>
                      <a:srgbClr val="FAFAFC"/>
                    </a:solidFill>
                  </a:tcPr>
                </a:tc>
              </a:tr>
              <a:tr h="436418">
                <a:tc>
                  <a:txBody>
                    <a:bodyPr wrap="square"/>
                    <a:lstStyle/>
                    <a:p>
                      <a:r>
                        <a:rPr sz="1200" b="0">
                          <a:solidFill>
                            <a:srgbClr val="14141C"/>
                          </a:solidFill>
                          <a:latin typeface="Geist"/>
                        </a:rPr>
                        <a:t>China GenAI + labeling rules</a:t>
                      </a:r>
                    </a:p>
                  </a:txBody>
                  <a:tcPr marL="60000" marR="60000" marT="30000" marB="30000">
                    <a:solidFill>
                      <a:srgbClr val="FFFFFF"/>
                    </a:solidFill>
                  </a:tcPr>
                </a:tc>
                <a:tc>
                  <a:txBody>
                    <a:bodyPr wrap="square"/>
                    <a:lstStyle/>
                    <a:p>
                      <a:r>
                        <a:rPr sz="1200" b="0">
                          <a:solidFill>
                            <a:srgbClr val="14141C"/>
                          </a:solidFill>
                          <a:latin typeface="Geist"/>
                        </a:rPr>
                        <a:t>China-Briefing; Loeb (2023-25)</a:t>
                      </a:r>
                    </a:p>
                  </a:txBody>
                  <a:tcPr marL="60000" marR="60000" marT="30000" marB="30000">
                    <a:solidFill>
                      <a:srgbClr val="FFFFFF"/>
                    </a:solidFill>
                  </a:tcPr>
                </a:tc>
              </a:tr>
              <a:tr h="436418">
                <a:tc>
                  <a:txBody>
                    <a:bodyPr wrap="square"/>
                    <a:lstStyle/>
                    <a:p>
                      <a:r>
                        <a:rPr sz="1200" b="0">
                          <a:solidFill>
                            <a:srgbClr val="14141C"/>
                          </a:solidFill>
                          <a:latin typeface="Geist"/>
                        </a:rPr>
                        <a:t>Chip controls; H20/H200; revenue-share</a:t>
                      </a:r>
                    </a:p>
                  </a:txBody>
                  <a:tcPr marL="60000" marR="60000" marT="30000" marB="30000">
                    <a:solidFill>
                      <a:srgbClr val="FAFAFC"/>
                    </a:solidFill>
                  </a:tcPr>
                </a:tc>
                <a:tc>
                  <a:txBody>
                    <a:bodyPr wrap="square"/>
                    <a:lstStyle/>
                    <a:p>
                      <a:r>
                        <a:rPr sz="1200" b="0">
                          <a:solidFill>
                            <a:srgbClr val="14141C"/>
                          </a:solidFill>
                          <a:latin typeface="Geist"/>
                        </a:rPr>
                        <a:t>BIS; PBS; Tom's Hardware (2022-26)</a:t>
                      </a:r>
                    </a:p>
                  </a:txBody>
                  <a:tcPr marL="60000" marR="60000" marT="30000" marB="30000">
                    <a:solidFill>
                      <a:srgbClr val="FAFAFC"/>
                    </a:solidFill>
                  </a:tcPr>
                </a:tc>
              </a:tr>
              <a:tr h="436418">
                <a:tc>
                  <a:txBody>
                    <a:bodyPr wrap="square"/>
                    <a:lstStyle/>
                    <a:p>
                      <a:r>
                        <a:rPr sz="1200" b="0">
                          <a:solidFill>
                            <a:srgbClr val="14141C"/>
                          </a:solidFill>
                          <a:latin typeface="Geist"/>
                        </a:rPr>
                        <a:t>China domestic chips; CloudMatrix</a:t>
                      </a:r>
                    </a:p>
                  </a:txBody>
                  <a:tcPr marL="60000" marR="60000" marT="30000" marB="30000">
                    <a:solidFill>
                      <a:srgbClr val="FFFFFF"/>
                    </a:solidFill>
                  </a:tcPr>
                </a:tc>
                <a:tc>
                  <a:txBody>
                    <a:bodyPr wrap="square"/>
                    <a:lstStyle/>
                    <a:p>
                      <a:r>
                        <a:rPr sz="1200" b="0">
                          <a:solidFill>
                            <a:srgbClr val="14141C"/>
                          </a:solidFill>
                          <a:latin typeface="Geist"/>
                        </a:rPr>
                        <a:t>SemiAnalysis; Tom's Hardware (2025-26)</a:t>
                      </a:r>
                    </a:p>
                  </a:txBody>
                  <a:tcPr marL="60000" marR="60000" marT="30000" marB="30000">
                    <a:solidFill>
                      <a:srgbClr val="FFFFFF"/>
                    </a:solidFill>
                  </a:tcPr>
                </a:tc>
              </a:tr>
              <a:tr h="436418">
                <a:tc>
                  <a:txBody>
                    <a:bodyPr wrap="square"/>
                    <a:lstStyle/>
                    <a:p>
                      <a:r>
                        <a:rPr sz="1200" b="0">
                          <a:solidFill>
                            <a:srgbClr val="14141C"/>
                          </a:solidFill>
                          <a:latin typeface="Geist"/>
                        </a:rPr>
                        <a:t>Adoption; ROI gap (95% pilots)</a:t>
                      </a:r>
                    </a:p>
                  </a:txBody>
                  <a:tcPr marL="60000" marR="60000" marT="30000" marB="30000">
                    <a:solidFill>
                      <a:srgbClr val="FAFAFC"/>
                    </a:solidFill>
                  </a:tcPr>
                </a:tc>
                <a:tc>
                  <a:txBody>
                    <a:bodyPr wrap="square"/>
                    <a:lstStyle/>
                    <a:p>
                      <a:r>
                        <a:rPr sz="1200" b="0">
                          <a:solidFill>
                            <a:srgbClr val="14141C"/>
                          </a:solidFill>
                          <a:latin typeface="Geist"/>
                        </a:rPr>
                        <a:t>McKinsey; Eurostat; MIT/Fortune (2025)</a:t>
                      </a:r>
                    </a:p>
                  </a:txBody>
                  <a:tcPr marL="60000" marR="60000" marT="30000" marB="30000">
                    <a:solidFill>
                      <a:srgbClr val="FAFAFC"/>
                    </a:solidFill>
                  </a:tcPr>
                </a:tc>
              </a:tr>
              <a:tr h="436418">
                <a:tc>
                  <a:txBody>
                    <a:bodyPr wrap="square"/>
                    <a:lstStyle/>
                    <a:p>
                      <a:r>
                        <a:rPr sz="1200" b="0">
                          <a:solidFill>
                            <a:srgbClr val="14141C"/>
                          </a:solidFill>
                          <a:latin typeface="Geist"/>
                        </a:rPr>
                        <a:t>Open-weight share; models; patents</a:t>
                      </a:r>
                    </a:p>
                  </a:txBody>
                  <a:tcPr marL="60000" marR="60000" marT="30000" marB="30000">
                    <a:solidFill>
                      <a:srgbClr val="FFFFFF"/>
                    </a:solidFill>
                  </a:tcPr>
                </a:tc>
                <a:tc>
                  <a:txBody>
                    <a:bodyPr wrap="square"/>
                    <a:lstStyle/>
                    <a:p>
                      <a:r>
                        <a:rPr sz="1200" b="0">
                          <a:solidFill>
                            <a:srgbClr val="14141C"/>
                          </a:solidFill>
                          <a:latin typeface="Geist"/>
                        </a:rPr>
                        <a:t>MIT Tech Review; Stanford HAI (2025-26)</a:t>
                      </a:r>
                    </a:p>
                  </a:txBody>
                  <a:tcPr marL="60000" marR="60000" marT="30000" marB="30000">
                    <a:solidFill>
                      <a:srgbClr val="FFFFFF"/>
                    </a:solidFill>
                  </a:tcPr>
                </a:tc>
              </a:tr>
              <a:tr h="436418">
                <a:tc>
                  <a:txBody>
                    <a:bodyPr wrap="square"/>
                    <a:lstStyle/>
                    <a:p>
                      <a:r>
                        <a:rPr sz="1200" b="0">
                          <a:solidFill>
                            <a:srgbClr val="14141C"/>
                          </a:solidFill>
                          <a:latin typeface="Geist"/>
                        </a:rPr>
                        <a:t>Investment; VC; valuations</a:t>
                      </a:r>
                    </a:p>
                  </a:txBody>
                  <a:tcPr marL="60000" marR="60000" marT="30000" marB="30000">
                    <a:solidFill>
                      <a:srgbClr val="FAFAFC"/>
                    </a:solidFill>
                  </a:tcPr>
                </a:tc>
                <a:tc>
                  <a:txBody>
                    <a:bodyPr wrap="square"/>
                    <a:lstStyle/>
                    <a:p>
                      <a:r>
                        <a:rPr sz="1200" b="0">
                          <a:solidFill>
                            <a:srgbClr val="14141C"/>
                          </a:solidFill>
                          <a:latin typeface="Geist"/>
                        </a:rPr>
                        <a:t>Stanford AI Index; PitchBook (2025-26)</a:t>
                      </a:r>
                    </a:p>
                  </a:txBody>
                  <a:tcPr marL="60000" marR="60000" marT="30000" marB="30000">
                    <a:solidFill>
                      <a:srgbClr val="FAFAFC"/>
                    </a:solidFill>
                  </a:tcPr>
                </a:tc>
              </a:tr>
              <a:tr h="436418">
                <a:tc>
                  <a:txBody>
                    <a:bodyPr wrap="square"/>
                    <a:lstStyle/>
                    <a:p>
                      <a:r>
                        <a:rPr sz="1200" b="0">
                          <a:solidFill>
                            <a:srgbClr val="14141C"/>
                          </a:solidFill>
                          <a:latin typeface="Geist"/>
                        </a:rPr>
                        <a:t>Talent: H-1B fee; China K-visa</a:t>
                      </a:r>
                    </a:p>
                  </a:txBody>
                  <a:tcPr marL="60000" marR="60000" marT="30000" marB="30000">
                    <a:solidFill>
                      <a:srgbClr val="FFFFFF"/>
                    </a:solidFill>
                  </a:tcPr>
                </a:tc>
                <a:tc>
                  <a:txBody>
                    <a:bodyPr wrap="square"/>
                    <a:lstStyle/>
                    <a:p>
                      <a:r>
                        <a:rPr sz="1200" b="0">
                          <a:solidFill>
                            <a:srgbClr val="14141C"/>
                          </a:solidFill>
                          <a:latin typeface="Geist"/>
                        </a:rPr>
                        <a:t>Bulletin of Atomic Scientists; C&amp;EN (2025)</a:t>
                      </a:r>
                    </a:p>
                  </a:txBody>
                  <a:tcPr marL="60000" marR="60000" marT="30000" marB="30000">
                    <a:solidFill>
                      <a:srgbClr val="FFFFFF"/>
                    </a:solidFill>
                  </a:tcPr>
                </a:tc>
              </a:tr>
              <a:tr h="436419">
                <a:tc>
                  <a:txBody>
                    <a:bodyPr wrap="square"/>
                    <a:lstStyle/>
                    <a:p>
                      <a:r>
                        <a:rPr sz="1200" b="0">
                          <a:solidFill>
                            <a:srgbClr val="14141C"/>
                          </a:solidFill>
                          <a:latin typeface="Geist"/>
                        </a:rPr>
                        <a:t>Clinical AI: FDA / EU / NMPA</a:t>
                      </a:r>
                    </a:p>
                  </a:txBody>
                  <a:tcPr marL="60000" marR="60000" marT="30000" marB="30000">
                    <a:solidFill>
                      <a:srgbClr val="FAFAFC"/>
                    </a:solidFill>
                  </a:tcPr>
                </a:tc>
                <a:tc>
                  <a:txBody>
                    <a:bodyPr wrap="square"/>
                    <a:lstStyle/>
                    <a:p>
                      <a:r>
                        <a:rPr sz="1200" b="0">
                          <a:solidFill>
                            <a:srgbClr val="14141C"/>
                          </a:solidFill>
                          <a:latin typeface="Geist"/>
                        </a:rPr>
                        <a:t>npj Digital Medicine; JMIR; Reed Smith (2025-26)</a:t>
                      </a:r>
                    </a:p>
                  </a:txBody>
                  <a:tcPr marL="60000" marR="60000" marT="30000" marB="30000">
                    <a:solidFill>
                      <a:srgbClr val="FAFAFC"/>
                    </a:solidFill>
                  </a:tcPr>
                </a:tc>
              </a:tr>
            </a:tbl>
          </a:graphicData>
        </a:graphic>
      </p:graphicFrame>
      <p:sp>
        <p:nvSpPr>
          <p:cNvPr id="8" name="TextBox 7"/>
          <p:cNvSpPr txBox="1"/>
          <p:nvPr/>
        </p:nvSpPr>
        <p:spPr>
          <a:xfrm>
            <a:off x="457200" y="5989320"/>
            <a:ext cx="11247120" cy="274320"/>
          </a:xfrm>
          <a:prstGeom prst="rect">
            <a:avLst/>
          </a:prstGeom>
          <a:noFill/>
        </p:spPr>
        <p:txBody>
          <a:bodyPr wrap="square" anchor="t" lIns="0" rIns="0" tIns="0" bIns="0">
            <a:spAutoFit/>
          </a:bodyPr>
          <a:lstStyle/>
          <a:p>
            <a:pPr algn="l"/>
            <a:r>
              <a:rPr sz="1100" b="0" i="0">
                <a:solidFill>
                  <a:srgbClr val="555560"/>
                </a:solidFill>
                <a:latin typeface="Geist"/>
              </a:rPr>
              <a:t>Full citations with URLs in the companion research.md.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417320"/>
            <a:ext cx="10058400" cy="1280160"/>
          </a:xfrm>
          <a:prstGeom prst="rect">
            <a:avLst/>
          </a:prstGeom>
          <a:noFill/>
        </p:spPr>
        <p:txBody>
          <a:bodyPr wrap="square" anchor="t" lIns="0" rIns="0" tIns="0" bIns="0">
            <a:spAutoFit/>
          </a:bodyPr>
          <a:lstStyle/>
          <a:p>
            <a:pPr algn="ctr"/>
            <a:r>
              <a:rPr sz="6000" b="1" i="0">
                <a:solidFill>
                  <a:srgbClr val="FF1493"/>
                </a:solidFill>
                <a:latin typeface="Geist Mono"/>
              </a:rPr>
              <a:t>Thank You</a:t>
            </a:r>
          </a:p>
        </p:txBody>
      </p:sp>
      <p:sp>
        <p:nvSpPr>
          <p:cNvPr id="6" name="TextBox 5"/>
          <p:cNvSpPr txBox="1"/>
          <p:nvPr/>
        </p:nvSpPr>
        <p:spPr>
          <a:xfrm>
            <a:off x="1188720" y="3246120"/>
            <a:ext cx="10058400" cy="457200"/>
          </a:xfrm>
          <a:prstGeom prst="rect">
            <a:avLst/>
          </a:prstGeom>
          <a:noFill/>
        </p:spPr>
        <p:txBody>
          <a:bodyPr wrap="square" anchor="t" lIns="0" rIns="0" tIns="0" bIns="0">
            <a:spAutoFit/>
          </a:bodyPr>
          <a:lstStyle/>
          <a:p>
            <a:pPr algn="ctr"/>
            <a:r>
              <a:rPr sz="2000" b="1">
                <a:solidFill>
                  <a:srgbClr val="FF7F50"/>
                </a:solidFill>
                <a:latin typeface="Geist Mono"/>
              </a:rPr>
              <a:t>Curtis Chambers</a:t>
            </a:r>
            <a:r>
              <a:rPr sz="2000" b="1">
                <a:solidFill>
                  <a:srgbClr val="40E0D0"/>
                </a:solidFill>
                <a:latin typeface="Geist Mono"/>
              </a:rPr>
              <a:t>  ·  Jinchi Wei</a:t>
            </a:r>
          </a:p>
        </p:txBody>
      </p:sp>
      <p:sp>
        <p:nvSpPr>
          <p:cNvPr id="7" name="TextBox 6"/>
          <p:cNvSpPr txBox="1"/>
          <p:nvPr/>
        </p:nvSpPr>
        <p:spPr>
          <a:xfrm>
            <a:off x="1188720" y="3721608"/>
            <a:ext cx="10058400" cy="365760"/>
          </a:xfrm>
          <a:prstGeom prst="rect">
            <a:avLst/>
          </a:prstGeom>
          <a:noFill/>
        </p:spPr>
        <p:txBody>
          <a:bodyPr wrap="square" anchor="t" lIns="0" rIns="0" tIns="0" bIns="0">
            <a:spAutoFit/>
          </a:bodyPr>
          <a:lstStyle/>
          <a:p>
            <a:pPr algn="ctr"/>
            <a:r>
              <a:rPr sz="1300" b="0" i="0">
                <a:solidFill>
                  <a:srgbClr val="FFFFFF"/>
                </a:solidFill>
                <a:latin typeface="Geist"/>
              </a:rPr>
              <a:t>CPH 200C · Computational Precision Health</a:t>
            </a:r>
          </a:p>
        </p:txBody>
      </p:sp>
      <p:pic>
        <p:nvPicPr>
          <p:cNvPr id="8" name="Picture 7" descr="meng.png"/>
          <p:cNvPicPr>
            <a:picLocks noChangeAspect="1"/>
          </p:cNvPicPr>
          <p:nvPr/>
        </p:nvPicPr>
        <p:blipFill>
          <a:blip r:embed="rId2"/>
          <a:stretch>
            <a:fillRect/>
          </a:stretch>
        </p:blipFill>
        <p:spPr>
          <a:xfrm>
            <a:off x="10086477" y="5486400"/>
            <a:ext cx="690906" cy="914400"/>
          </a:xfrm>
          <a:prstGeom prst="rect">
            <a:avLst/>
          </a:prstGeom>
        </p:spPr>
      </p:pic>
      <p:pic>
        <p:nvPicPr>
          <p:cNvPr id="9" name="Picture 8" descr="xiang.png"/>
          <p:cNvPicPr>
            <a:picLocks noChangeAspect="1"/>
          </p:cNvPicPr>
          <p:nvPr/>
        </p:nvPicPr>
        <p:blipFill>
          <a:blip r:embed="rId3"/>
          <a:stretch>
            <a:fillRect/>
          </a:stretch>
        </p:blipFill>
        <p:spPr>
          <a:xfrm>
            <a:off x="10978551" y="5486400"/>
            <a:ext cx="755944"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